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0" r:id="rId9"/>
    <p:sldId id="261" r:id="rId10"/>
    <p:sldId id="262" r:id="rId11"/>
    <p:sldId id="263" r:id="rId12"/>
    <p:sldId id="274" r:id="rId13"/>
    <p:sldId id="266" r:id="rId14"/>
    <p:sldId id="264" r:id="rId15"/>
    <p:sldId id="265" r:id="rId16"/>
    <p:sldId id="267" r:id="rId17"/>
    <p:sldId id="268" r:id="rId18"/>
    <p:sldId id="269" r:id="rId19"/>
    <p:sldId id="270" r:id="rId20"/>
    <p:sldId id="271" r:id="rId21"/>
    <p:sldId id="272" r:id="rId22"/>
    <p:sldId id="273"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DC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10"/>
  </p:normalViewPr>
  <p:slideViewPr>
    <p:cSldViewPr snapToGrid="0" snapToObjects="1">
      <p:cViewPr>
        <p:scale>
          <a:sx n="116" d="100"/>
          <a:sy n="116" d="100"/>
        </p:scale>
        <p:origin x="10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I'm presenting a two-part electric vehicle platform I built: a Vehicle Control Unit on an STM32F446RE that handles real-time motor control and sensor interfacing, and a companion Human-Machine Interface — a Qt/QML dashboard running on a Raspberry Pi 5 — that turns that telemetry into a driver- and engineer-facing display. I'll walk through the problem, the architecture, and what I learned building both sides of this signal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EV control units are black boxes — you can't open a Tesla's VCU and see the control loop. Most embedded coursework stops at reading one sensor or blinking an LED, which doesn't teach you how a real vehicle's software stack fits together. The problem I set out to solve was building a small but complete system: real sensors, real safety logic, real telemetry, and a real dashboard — so every layer of a production EV's signal path is represented and inspectable.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were five concrete objectives. On the firmware side: closed-loop pedal and gear control with a strict safety chain, thermal protection, and a Coulomb-counting battery model. On the HMI side: a live 10 Hz telemetry stream over UART, a reactive dashboard that updates without polling, and a hidden Engineer Mode for technician-level diagnostics. Each of these maps directly to a chapter in the two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splits cleanly across the UART boundary. On the vehicle side, an STM32F446RE running bare HAL firmware. On the dashboard side, Qt 6 with QML for the UI and C++17 for the backend, running on a Raspberry Pi 5 driving a 10.1-inch capacitive touchscreen. The two sides agree on one contract: a 115200-baud UART link carrying a simple key-value telemetry frame ten times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whole project. The STM32 emits telemetry over UART. SerialManager owns the physical serial port and hands raw lines to TelemetryParser, which tokenizes them and writes typed values into VehicleData — a single reactive C++ object. Every screen in the app, from the driver's speedometer to the engineer's fault log, binds to that same VehicleData instance, so there is exactly one source of truth and never a chance for two views to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everything radiates from or into VehicleData. TelemetryParser and SerialManager feed it from hardware; TelemetrySimulator feeds it identically from software, through a shared IDataSource interface — so the entire UI can be developed and demoed without any hardware attached. Media playback is deliberately kept out of VehicleData: LocalMusicPlayer, SpotifyAPIManager, and BluetoothManager each own exactly one transport, so vehicle state and music state never cross-contaminate.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primary driving view — the first screen shown at startup. It's laid out so the driver's eyes never have to sweep the panel: speed, RPM, and gear occupy the largest area on the left, everything else is peripheral. The speedometer arc and the digital readout are driven by the exact same bound property, so they can never disagree. Note the Drive Mode selector — in hardware mode it's read-only, reflecting physical buttons on the VCU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Music was built as a case study in the same reactive-property discipline as the vehicle data. Local files and Spotify sit behind an identical property contract, so the QML layer doesn't know or care which backend is serving a given track. The center lyrics panel is synchronized to playback position for a teleprompter effect, and the right-hand Media Hub folds in Bluetooth device status using the same card language as the rest of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Music was built as a case study in the same reactive-property discipline as the vehicle data. Local files and Spotify sit behind an identical property contract, so the QML layer doesn't know or care which backend is serving a given track. The center lyrics panel is synchronized to playback position for a teleprompter effect, and the right-hand Media Hub folds in Bluetooth device status using the same card language as the rest of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theming system is generative rather than hand-authored — twelve visual configurations come from just two hue anchors per theme and one shared lightness ramp, so a raised card looks exactly as elevated in every theme. Two colors — ECO green and SPORT amber — are hue-locked across all six themes so those indicators stay instantly recognizable no matter which theme is active. Every setting, from theme to language to units, takes effect within a single frame, with no apply button and no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Diagnostics answers one question for the driver: is everything OK? It deliberately does not expose raw fault codes or thresholds — that's reserved for Engineer Mode. The topology diagram gives an at-a-glance sense of where thermal load is concentrated, and the aggregate health score is computed by WarningManager evaluating every active flag against its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 Mode is the deep-diagnostics layer, modeled loosely on production automotive DTC tooling. It's reachable only by a long-press on the Diagnostics page to prevent accidental activation while driving. Importantly, it isn't a separate data pipeline — it's a more detailed view over the same VehicleData object, so anything added here for engineering purposes is automatically available if a later release wants to surface it to the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simulator converges on the exact same VehicleData interface as real telemetry, it functions as an informal integration test — every dashboard feature and every warning condition can be exercised and validated entirely in software. This was essential during development, since it let the entire UI and diagnostics stack be built and demoed without the STM32 or the traction motor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telemetry protocol is deliberately simple: comma-separated, tagged key=value tokens. Because every field is explicitly labeled, the parser can skip a malformed or unrecognized token without shifting every field after it — and either side of the link can add a new field without breaking the other. A one-second watchdog raises a communication fault if frames stop arriving, and every session's data — telemetry and fault events alike — is exported to timestamped CSVs for offline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design problems recurred across the project. Keeping the UI reactive without polling meant applying one disciplined setter pattern everywhere: store the value, emit a signal only if it actually changed. Keeping three different media backends interchangeable meant designing one shared property contract up front. And developing without constant hardware access is what motivated the IDataSource abstraction — probably the single most valuable architectural decision in the HMI. Not everything was solved: the telemetry protocol still has no checksum, which I'll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are speculative — each is grounded directly in the existing architecture. CAN Bus, for instance, would simply be a new IDataSource implementation sitting where SerialManager sits today, with zero changes required to VehicleData or any QML file. The same is true for cloud diagnostics, voice control, and OTA updates — the abstractions built into this version were chosen specifically to make these extensions additive rather than disruptive.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project delivers is a complete, working signal path from accelerator pedal to animated speedometer arc — not just a firmware demo or just a UI demo, but both sides validated together on the bench. The biggest engineering lesson wasn't any single algorithm — it was that consistent interface discipline, the IDataSource pattern on the HMI side and the ADC-ownership discipline on the firmware side, is what let each half of this system be built, tested, and demonstrated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now switch to a short recorded demo [or: live demo] showing a simulated drive cycle across all three drive modes, a forced thermal warning injected through Engineer Mode's simulator controls to show the fault pathway firing end to end, and a live theme and language switch to show the personalization system responding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I'm happy to take questions — whether on the firmware safety chain, the reactive UI architecture, or the roadmap toward CAN Bus and cloud diagnostics. Both full written reports are available if you'd like the complete pin maps, pseudo code, and design evaluation behind everything shown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2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28.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33.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37.png"/><Relationship Id="rId2" Type="http://schemas.openxmlformats.org/officeDocument/2006/relationships/image" Target="../media/image4.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Shape 0"/>
          <p:cNvSpPr/>
          <p:nvPr/>
        </p:nvSpPr>
        <p:spPr>
          <a:xfrm>
            <a:off x="10607040" y="548640"/>
            <a:ext cx="822960" cy="0"/>
          </a:xfrm>
          <a:prstGeom prst="line">
            <a:avLst/>
          </a:prstGeom>
          <a:noFill/>
          <a:ln w="15875">
            <a:solidFill>
              <a:srgbClr val="1F7A4C">
                <a:alpha val="45000"/>
              </a:srgbClr>
            </a:solidFill>
            <a:prstDash val="solid"/>
          </a:ln>
        </p:spPr>
      </p:sp>
      <p:sp>
        <p:nvSpPr>
          <p:cNvPr id="3" name="Shape 1"/>
          <p:cNvSpPr/>
          <p:nvPr/>
        </p:nvSpPr>
        <p:spPr>
          <a:xfrm>
            <a:off x="11430000" y="548640"/>
            <a:ext cx="0" cy="411480"/>
          </a:xfrm>
          <a:prstGeom prst="line">
            <a:avLst/>
          </a:prstGeom>
          <a:noFill/>
          <a:ln w="15875">
            <a:solidFill>
              <a:srgbClr val="1F7A4C">
                <a:alpha val="45000"/>
              </a:srgbClr>
            </a:solidFill>
            <a:prstDash val="solid"/>
          </a:ln>
        </p:spPr>
      </p:sp>
      <p:sp>
        <p:nvSpPr>
          <p:cNvPr id="4" name="Shape 2"/>
          <p:cNvSpPr/>
          <p:nvPr/>
        </p:nvSpPr>
        <p:spPr>
          <a:xfrm>
            <a:off x="11430000" y="960120"/>
            <a:ext cx="457200" cy="0"/>
          </a:xfrm>
          <a:prstGeom prst="line">
            <a:avLst/>
          </a:prstGeom>
          <a:noFill/>
          <a:ln w="15875">
            <a:solidFill>
              <a:srgbClr val="1F7A4C">
                <a:alpha val="45000"/>
              </a:srgbClr>
            </a:solidFill>
            <a:prstDash val="solid"/>
          </a:ln>
        </p:spPr>
      </p:sp>
      <p:sp>
        <p:nvSpPr>
          <p:cNvPr id="5" name="Shape 3"/>
          <p:cNvSpPr/>
          <p:nvPr/>
        </p:nvSpPr>
        <p:spPr>
          <a:xfrm>
            <a:off x="10561320" y="502920"/>
            <a:ext cx="91440" cy="91440"/>
          </a:xfrm>
          <a:prstGeom prst="ellipse">
            <a:avLst/>
          </a:prstGeom>
          <a:solidFill>
            <a:srgbClr val="3DDC84">
              <a:alpha val="45000"/>
            </a:srgbClr>
          </a:solidFill>
        </p:spPr>
      </p:sp>
      <p:sp>
        <p:nvSpPr>
          <p:cNvPr id="6" name="Shape 4"/>
          <p:cNvSpPr/>
          <p:nvPr/>
        </p:nvSpPr>
        <p:spPr>
          <a:xfrm>
            <a:off x="11795760" y="914400"/>
            <a:ext cx="91440" cy="91440"/>
          </a:xfrm>
          <a:prstGeom prst="ellipse">
            <a:avLst/>
          </a:prstGeom>
          <a:solidFill>
            <a:srgbClr val="3DDC84">
              <a:alpha val="45000"/>
            </a:srgbClr>
          </a:solidFill>
        </p:spPr>
      </p:sp>
      <p:sp>
        <p:nvSpPr>
          <p:cNvPr id="7" name="Shape 5"/>
          <p:cNvSpPr/>
          <p:nvPr/>
        </p:nvSpPr>
        <p:spPr>
          <a:xfrm>
            <a:off x="640080" y="5943600"/>
            <a:ext cx="905256" cy="0"/>
          </a:xfrm>
          <a:prstGeom prst="line">
            <a:avLst/>
          </a:prstGeom>
          <a:noFill/>
          <a:ln w="15875">
            <a:solidFill>
              <a:srgbClr val="1F7A4C">
                <a:alpha val="45000"/>
              </a:srgbClr>
            </a:solidFill>
            <a:prstDash val="solid"/>
          </a:ln>
        </p:spPr>
      </p:sp>
      <p:sp>
        <p:nvSpPr>
          <p:cNvPr id="8" name="Shape 6"/>
          <p:cNvSpPr/>
          <p:nvPr/>
        </p:nvSpPr>
        <p:spPr>
          <a:xfrm>
            <a:off x="1545336" y="5943600"/>
            <a:ext cx="0" cy="452628"/>
          </a:xfrm>
          <a:prstGeom prst="line">
            <a:avLst/>
          </a:prstGeom>
          <a:noFill/>
          <a:ln w="15875">
            <a:solidFill>
              <a:srgbClr val="1F7A4C">
                <a:alpha val="45000"/>
              </a:srgbClr>
            </a:solidFill>
            <a:prstDash val="solid"/>
          </a:ln>
        </p:spPr>
      </p:sp>
      <p:sp>
        <p:nvSpPr>
          <p:cNvPr id="9" name="Shape 7"/>
          <p:cNvSpPr/>
          <p:nvPr/>
        </p:nvSpPr>
        <p:spPr>
          <a:xfrm>
            <a:off x="1545336" y="6396228"/>
            <a:ext cx="502920" cy="0"/>
          </a:xfrm>
          <a:prstGeom prst="line">
            <a:avLst/>
          </a:prstGeom>
          <a:noFill/>
          <a:ln w="15875">
            <a:solidFill>
              <a:srgbClr val="1F7A4C">
                <a:alpha val="45000"/>
              </a:srgbClr>
            </a:solidFill>
            <a:prstDash val="solid"/>
          </a:ln>
        </p:spPr>
      </p:sp>
      <p:sp>
        <p:nvSpPr>
          <p:cNvPr id="10" name="Shape 8"/>
          <p:cNvSpPr/>
          <p:nvPr/>
        </p:nvSpPr>
        <p:spPr>
          <a:xfrm>
            <a:off x="594360" y="5897880"/>
            <a:ext cx="91440" cy="91440"/>
          </a:xfrm>
          <a:prstGeom prst="ellipse">
            <a:avLst/>
          </a:prstGeom>
          <a:solidFill>
            <a:srgbClr val="3DDC84">
              <a:alpha val="45000"/>
            </a:srgbClr>
          </a:solidFill>
        </p:spPr>
      </p:sp>
      <p:sp>
        <p:nvSpPr>
          <p:cNvPr id="11" name="Shape 9"/>
          <p:cNvSpPr/>
          <p:nvPr/>
        </p:nvSpPr>
        <p:spPr>
          <a:xfrm>
            <a:off x="1952244" y="6350508"/>
            <a:ext cx="91440" cy="91440"/>
          </a:xfrm>
          <a:prstGeom prst="ellipse">
            <a:avLst/>
          </a:prstGeom>
          <a:solidFill>
            <a:srgbClr val="3DDC84">
              <a:alpha val="45000"/>
            </a:srgbClr>
          </a:solidFill>
        </p:spPr>
      </p:sp>
      <p:sp>
        <p:nvSpPr>
          <p:cNvPr id="12" name="Text 10"/>
          <p:cNvSpPr/>
          <p:nvPr/>
        </p:nvSpPr>
        <p:spPr>
          <a:xfrm>
            <a:off x="822960" y="1965960"/>
            <a:ext cx="10515600" cy="320040"/>
          </a:xfrm>
          <a:prstGeom prst="rect">
            <a:avLst/>
          </a:prstGeom>
          <a:noFill/>
        </p:spPr>
        <p:txBody>
          <a:bodyPr wrap="square" lIns="0" tIns="0" rIns="0" bIns="0" rtlCol="0" anchor="t"/>
          <a:lstStyle/>
          <a:p>
            <a:pPr marL="0" indent="0" algn="ctr">
              <a:buNone/>
            </a:pPr>
            <a:r>
              <a:rPr lang="en-US" sz="1300" b="1" dirty="0">
                <a:solidFill>
                  <a:srgbClr val="3DDC84"/>
                </a:solidFill>
                <a:latin typeface="Calibri" panose="020F0502020204030204" pitchFamily="34" charset="0"/>
                <a:ea typeface="Calibri" panose="020F0502020204030204" pitchFamily="34" charset="-122"/>
                <a:cs typeface="Calibri" panose="020F0502020204030204" pitchFamily="34" charset="-120"/>
              </a:rPr>
              <a:t>BENCH-SCALE HARDWARE-IN-THE-LOOP EV PLATFORM</a:t>
            </a:r>
            <a:endParaRPr lang="en-US" sz="1300" dirty="0"/>
          </a:p>
        </p:txBody>
      </p:sp>
      <p:sp>
        <p:nvSpPr>
          <p:cNvPr id="13" name="Text 11"/>
          <p:cNvSpPr/>
          <p:nvPr/>
        </p:nvSpPr>
        <p:spPr>
          <a:xfrm>
            <a:off x="822960" y="2331720"/>
            <a:ext cx="10515600" cy="1554480"/>
          </a:xfrm>
          <a:prstGeom prst="rect">
            <a:avLst/>
          </a:prstGeom>
          <a:noFill/>
        </p:spPr>
        <p:txBody>
          <a:bodyPr wrap="square" lIns="0" tIns="0" rIns="0" bIns="0" rtlCol="0" anchor="t"/>
          <a:lstStyle/>
          <a:p>
            <a:pPr marL="0" indent="0" algn="ctr">
              <a:lnSpc>
                <a:spcPct val="105000"/>
              </a:lnSpc>
              <a:buNone/>
            </a:pPr>
            <a:r>
              <a:rPr lang="en-US" sz="4200" b="1" dirty="0">
                <a:solidFill>
                  <a:srgbClr val="EAF2ED"/>
                </a:solidFill>
                <a:latin typeface="Calibri" panose="020F0502020204030204" pitchFamily="34" charset="0"/>
                <a:ea typeface="Calibri" panose="020F0502020204030204" pitchFamily="34" charset="-122"/>
                <a:cs typeface="Calibri" panose="020F0502020204030204" pitchFamily="34" charset="-120"/>
              </a:rPr>
              <a:t>EV Vehicle Control Unit</a:t>
            </a:r>
            <a:endParaRPr lang="en-US" sz="4200" dirty="0"/>
          </a:p>
          <a:p>
            <a:pPr marL="0" indent="0" algn="ctr">
              <a:lnSpc>
                <a:spcPct val="105000"/>
              </a:lnSpc>
              <a:buNone/>
            </a:pPr>
            <a:r>
              <a:rPr lang="en-US" sz="4200" b="1" dirty="0">
                <a:solidFill>
                  <a:srgbClr val="EAF2ED"/>
                </a:solidFill>
                <a:latin typeface="Calibri" panose="020F0502020204030204" pitchFamily="34" charset="0"/>
                <a:ea typeface="Calibri" panose="020F0502020204030204" pitchFamily="34" charset="-122"/>
                <a:cs typeface="Calibri" panose="020F0502020204030204" pitchFamily="34" charset="-120"/>
              </a:rPr>
              <a:t>&amp; Human-Machine Interface</a:t>
            </a:r>
            <a:endParaRPr lang="en-US" sz="4200" dirty="0"/>
          </a:p>
        </p:txBody>
      </p:sp>
      <p:sp>
        <p:nvSpPr>
          <p:cNvPr id="14" name="Text 12"/>
          <p:cNvSpPr/>
          <p:nvPr/>
        </p:nvSpPr>
        <p:spPr>
          <a:xfrm>
            <a:off x="822960" y="3977640"/>
            <a:ext cx="10515600" cy="365760"/>
          </a:xfrm>
          <a:prstGeom prst="rect">
            <a:avLst/>
          </a:prstGeom>
          <a:noFill/>
        </p:spPr>
        <p:txBody>
          <a:bodyPr wrap="square" lIns="0" tIns="0" rIns="0" bIns="0" rtlCol="0" anchor="ctr"/>
          <a:lstStyle/>
          <a:p>
            <a:pPr marL="0" indent="0" algn="ctr">
              <a:buNone/>
            </a:pPr>
            <a:r>
              <a:rPr lang="en-US" sz="1600" dirty="0">
                <a:solidFill>
                  <a:srgbClr val="8CA69A"/>
                </a:solidFill>
                <a:latin typeface="Calibri" panose="020F0502020204030204" pitchFamily="34" charset="0"/>
                <a:ea typeface="Calibri" panose="020F0502020204030204" pitchFamily="34" charset="-122"/>
                <a:cs typeface="Calibri" panose="020F0502020204030204" pitchFamily="34" charset="-120"/>
              </a:rPr>
              <a:t>STM32F446RE VCU  •  Qt/QML Dashboard on Raspberry Pi 5</a:t>
            </a:r>
            <a:endParaRPr lang="en-US" sz="1600" dirty="0"/>
          </a:p>
        </p:txBody>
      </p:sp>
      <p:sp>
        <p:nvSpPr>
          <p:cNvPr id="15" name="Shape 13"/>
          <p:cNvSpPr/>
          <p:nvPr/>
        </p:nvSpPr>
        <p:spPr>
          <a:xfrm>
            <a:off x="5410048" y="4617720"/>
            <a:ext cx="1371600" cy="1371600"/>
          </a:xfrm>
          <a:prstGeom prst="ellipse">
            <a:avLst/>
          </a:prstGeom>
          <a:solidFill>
            <a:srgbClr val="1A2420"/>
          </a:solidFill>
          <a:ln w="12700">
            <a:solidFill>
              <a:srgbClr val="1F7A4C"/>
            </a:solidFill>
            <a:prstDash val="solid"/>
          </a:ln>
        </p:spPr>
      </p:sp>
      <p:pic>
        <p:nvPicPr>
          <p:cNvPr id="16" name="Image 0" descr="preencoded.png"/>
          <p:cNvPicPr>
            <a:picLocks noChangeAspect="1"/>
          </p:cNvPicPr>
          <p:nvPr/>
        </p:nvPicPr>
        <p:blipFill>
          <a:blip r:embed="rId1"/>
          <a:stretch>
            <a:fillRect/>
          </a:stretch>
        </p:blipFill>
        <p:spPr>
          <a:xfrm>
            <a:off x="5588356" y="4729341"/>
            <a:ext cx="1014984" cy="1014984"/>
          </a:xfrm>
          <a:prstGeom prst="rect">
            <a:avLst/>
          </a:prstGeom>
        </p:spPr>
      </p:pic>
      <p:sp>
        <p:nvSpPr>
          <p:cNvPr id="17" name="Text 14"/>
          <p:cNvSpPr/>
          <p:nvPr/>
        </p:nvSpPr>
        <p:spPr>
          <a:xfrm>
            <a:off x="822960" y="6263640"/>
            <a:ext cx="10515600" cy="320040"/>
          </a:xfrm>
          <a:prstGeom prst="rect">
            <a:avLst/>
          </a:prstGeom>
          <a:noFill/>
        </p:spPr>
        <p:txBody>
          <a:bodyPr wrap="square" lIns="0" tIns="0" rIns="0" bIns="0" rtlCol="0" anchor="ctr"/>
          <a:lstStyle/>
          <a:p>
            <a:pPr marL="0" indent="0" algn="ctr">
              <a:buNone/>
            </a:pPr>
            <a:r>
              <a:rPr lang="en-US" sz="1200" dirty="0">
                <a:solidFill>
                  <a:srgbClr val="8CA69A"/>
                </a:solidFill>
                <a:latin typeface="Calibri" panose="020F0502020204030204" pitchFamily="34" charset="0"/>
                <a:ea typeface="Calibri" panose="020F0502020204030204" pitchFamily="34" charset="-122"/>
                <a:cs typeface="Calibri" panose="020F0502020204030204" pitchFamily="34" charset="-120"/>
              </a:rPr>
              <a:t>Aditya Pant, Pulkit Dhingra, Rohan Bhide   •   Group No. 11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MOTIVATION</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3200" dirty="0"/>
          </a:p>
        </p:txBody>
      </p:sp>
      <p:sp>
        <p:nvSpPr>
          <p:cNvPr id="4" name="Text 2"/>
          <p:cNvSpPr/>
          <p:nvPr/>
        </p:nvSpPr>
        <p:spPr>
          <a:xfrm>
            <a:off x="640080" y="1685925"/>
            <a:ext cx="5455920" cy="4206240"/>
          </a:xfrm>
          <a:prstGeom prst="rect">
            <a:avLst/>
          </a:prstGeom>
          <a:noFill/>
        </p:spPr>
        <p:txBody>
          <a:bodyPr wrap="square" lIns="0" tIns="0" rIns="0" bIns="0" rtlCol="0" anchor="t"/>
          <a:lstStyle/>
          <a:p>
            <a:pPr marL="342900" indent="-342900">
              <a:lnSpc>
                <a:spcPct val="108000"/>
              </a:lnSpc>
              <a:spcAft>
                <a:spcPts val="1800"/>
              </a:spcAft>
              <a:buSzPct val="100000"/>
              <a:buChar char="▪"/>
            </a:pPr>
            <a:r>
              <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rPr>
              <a:t>Commercial EV platforms employ proprietary architectures that restrict visibility into their embedded control and communication systems.</a:t>
            </a:r>
            <a:endPar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08000"/>
              </a:lnSpc>
              <a:spcAft>
                <a:spcPts val="1800"/>
              </a:spcAft>
              <a:buSzPct val="100000"/>
              <a:buChar char="▪"/>
            </a:pPr>
            <a:r>
              <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rPr>
              <a:t>Academic implementations typically focus on individual subsystems rather than integrated vehicle architectures.</a:t>
            </a:r>
            <a:endPar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08000"/>
              </a:lnSpc>
              <a:spcAft>
                <a:spcPts val="1800"/>
              </a:spcAft>
              <a:buSzPct val="100000"/>
              <a:buChar char="▪"/>
            </a:pPr>
            <a:r>
              <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rPr>
              <a:t>As a result, the interaction between embedded firmware, telemetry, diagnostics, and HMIs is seldom demonstrated within a single platform.</a:t>
            </a:r>
            <a:endPar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08000"/>
              </a:lnSpc>
              <a:spcAft>
                <a:spcPts val="1800"/>
              </a:spcAft>
              <a:buSzPct val="100000"/>
              <a:buChar char="▪"/>
            </a:pPr>
            <a:r>
              <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rPr>
              <a:t>This creates a gap in system-level understanding and practical validation of modern EV software architectures.</a:t>
            </a:r>
            <a:endPar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5"/>
          <p:cNvSpPr/>
          <p:nvPr/>
        </p:nvSpPr>
        <p:spPr>
          <a:xfrm>
            <a:off x="6949440" y="3063240"/>
            <a:ext cx="1965960" cy="640080"/>
          </a:xfrm>
          <a:prstGeom prst="rect">
            <a:avLst/>
          </a:prstGeom>
          <a:noFill/>
        </p:spPr>
        <p:txBody>
          <a:bodyPr wrap="square" lIns="0" tIns="0" rIns="0" bIns="0" rtlCol="0" anchor="t"/>
          <a:lstStyle/>
          <a:p>
            <a:pPr marL="0" indent="0" algn="ctr">
              <a:buNone/>
            </a:pPr>
            <a:endParaRPr lang="en-US" sz="1200" dirty="0"/>
          </a:p>
        </p:txBody>
      </p:sp>
      <p:sp>
        <p:nvSpPr>
          <p:cNvPr id="9" name="Text 6"/>
          <p:cNvSpPr/>
          <p:nvPr/>
        </p:nvSpPr>
        <p:spPr>
          <a:xfrm>
            <a:off x="6949440" y="4480560"/>
            <a:ext cx="1965960" cy="914400"/>
          </a:xfrm>
          <a:prstGeom prst="rect">
            <a:avLst/>
          </a:prstGeom>
          <a:noFill/>
        </p:spPr>
        <p:txBody>
          <a:bodyPr wrap="square" lIns="0" tIns="0" rIns="0" bIns="0" rtlCol="0" anchor="t"/>
          <a:lstStyle/>
          <a:p>
            <a:pPr marL="0" indent="0" algn="ctr">
              <a:buNone/>
            </a:pPr>
            <a:endParaRPr lang="en-US" sz="1000" dirty="0"/>
          </a:p>
        </p:txBody>
      </p:sp>
      <p:sp>
        <p:nvSpPr>
          <p:cNvPr id="16" name="Text 11"/>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02</a:t>
            </a:r>
            <a:endParaRPr lang="en-US" sz="1000" dirty="0"/>
          </a:p>
        </p:txBody>
      </p:sp>
      <p:sp>
        <p:nvSpPr>
          <p:cNvPr id="17" name="Shape 3"/>
          <p:cNvSpPr/>
          <p:nvPr/>
        </p:nvSpPr>
        <p:spPr>
          <a:xfrm>
            <a:off x="7143115" y="1711960"/>
            <a:ext cx="4378325" cy="3434080"/>
          </a:xfrm>
          <a:prstGeom prst="roundRect">
            <a:avLst>
              <a:gd name="adj" fmla="val 3404"/>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19" name="Text 0"/>
          <p:cNvSpPr/>
          <p:nvPr/>
        </p:nvSpPr>
        <p:spPr>
          <a:xfrm>
            <a:off x="7420610" y="1880235"/>
            <a:ext cx="3840480" cy="600075"/>
          </a:xfrm>
          <a:prstGeom prst="rect">
            <a:avLst/>
          </a:prstGeom>
          <a:noFill/>
        </p:spPr>
        <p:txBody>
          <a:bodyPr wrap="square" lIns="0" tIns="0" rIns="0" bIns="0" rtlCol="0" anchor="ctr"/>
          <a:lstStyle/>
          <a:p>
            <a:pPr marL="0" indent="0">
              <a:buNone/>
            </a:pPr>
            <a:r>
              <a:rPr lang="en-IN" altLang="en-US" sz="24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PROBLEM STATEMENT</a:t>
            </a:r>
            <a:endParaRPr lang="en-IN" altLang="en-US" sz="24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2"/>
          <p:cNvSpPr/>
          <p:nvPr/>
        </p:nvSpPr>
        <p:spPr>
          <a:xfrm>
            <a:off x="7420610" y="2580005"/>
            <a:ext cx="3716655" cy="2423795"/>
          </a:xfrm>
          <a:prstGeom prst="rect">
            <a:avLst/>
          </a:prstGeom>
          <a:noFill/>
        </p:spPr>
        <p:txBody>
          <a:bodyPr wrap="square" lIns="0" tIns="0" rIns="0" bIns="0" rtlCol="0" anchor="t"/>
          <a:lstStyle/>
          <a:p>
            <a:pPr indent="0" algn="just">
              <a:lnSpc>
                <a:spcPct val="108000"/>
              </a:lnSpc>
              <a:spcAft>
                <a:spcPts val="1800"/>
              </a:spcAft>
              <a:buSzPct val="100000"/>
              <a:buNone/>
            </a:pPr>
            <a:r>
              <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rPr>
              <a:t>There is a </a:t>
            </a:r>
            <a:r>
              <a:rPr lang="en-US" altLang="en-US" sz="1600" b="1" dirty="0">
                <a:solidFill>
                  <a:srgbClr val="EAF2ED"/>
                </a:solidFill>
                <a:latin typeface="Calibri" panose="020F0502020204030204" pitchFamily="34" charset="0"/>
                <a:ea typeface="Calibri" panose="020F0502020204030204" pitchFamily="34" charset="-122"/>
                <a:cs typeface="Calibri" panose="020F0502020204030204" pitchFamily="34" charset="-120"/>
              </a:rPr>
              <a:t>need </a:t>
            </a:r>
            <a:r>
              <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rPr>
              <a:t>to develop a modular EV platform that integrates embedded control, communication, diagnostics, and a production-inspired HMI, </a:t>
            </a:r>
            <a:r>
              <a:rPr lang="en-US" altLang="en-US" sz="1600" b="1" dirty="0">
                <a:solidFill>
                  <a:srgbClr val="EAF2ED"/>
                </a:solidFill>
                <a:latin typeface="Calibri" panose="020F0502020204030204" pitchFamily="34" charset="0"/>
                <a:ea typeface="Calibri" panose="020F0502020204030204" pitchFamily="34" charset="-122"/>
                <a:cs typeface="Calibri" panose="020F0502020204030204" pitchFamily="34" charset="-120"/>
              </a:rPr>
              <a:t>because </a:t>
            </a:r>
            <a:r>
              <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rPr>
              <a:t>existing educational platforms provide limited exposure to complete vehicle system integration.</a:t>
            </a:r>
            <a:endParaRPr lang="en-US" altLang="en-US" sz="1600" dirty="0">
              <a:solidFill>
                <a:srgbClr val="EAF2ED"/>
              </a:solidFill>
              <a:latin typeface="Calibri" panose="020F0502020204030204" pitchFamily="34" charset="0"/>
              <a:ea typeface="Calibri" panose="020F0502020204030204" pitchFamily="34" charset="-122"/>
              <a:cs typeface="Calibri" panose="020F0502020204030204" pitchFamily="34" charset="-120"/>
            </a:endParaRPr>
          </a:p>
        </p:txBody>
      </p:sp>
      <p:cxnSp>
        <p:nvCxnSpPr>
          <p:cNvPr id="22" name="Straight Connector 21"/>
          <p:cNvCxnSpPr/>
          <p:nvPr/>
        </p:nvCxnSpPr>
        <p:spPr>
          <a:xfrm>
            <a:off x="6445885" y="974725"/>
            <a:ext cx="0" cy="4917440"/>
          </a:xfrm>
          <a:prstGeom prst="line">
            <a:avLst/>
          </a:prstGeom>
          <a:ln>
            <a:solidFill>
              <a:srgbClr val="3DDC84"/>
            </a:solidFill>
          </a:ln>
          <a:effectLst>
            <a:glow rad="139700">
              <a:schemeClr val="accent6">
                <a:satMod val="175000"/>
                <a:alpha val="40000"/>
              </a:schemeClr>
            </a:glow>
          </a:effectLst>
        </p:spPr>
        <p:style>
          <a:lnRef idx="3">
            <a:schemeClr val="accent1"/>
          </a:lnRef>
          <a:fillRef idx="0">
            <a:srgbClr val="FFFFFF"/>
          </a:fillRef>
          <a:effectRef idx="0">
            <a:srgbClr val="FFFFFF"/>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GOALS</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Objectives</a:t>
            </a:r>
            <a:endParaRPr lang="en-US" sz="3200" dirty="0"/>
          </a:p>
        </p:txBody>
      </p:sp>
      <p:sp>
        <p:nvSpPr>
          <p:cNvPr id="4" name="Shape 2"/>
          <p:cNvSpPr/>
          <p:nvPr/>
        </p:nvSpPr>
        <p:spPr>
          <a:xfrm>
            <a:off x="640080" y="1691640"/>
            <a:ext cx="502920" cy="502920"/>
          </a:xfrm>
          <a:prstGeom prst="ellipse">
            <a:avLst/>
          </a:prstGeom>
          <a:solidFill>
            <a:srgbClr val="16231C"/>
          </a:solidFill>
          <a:ln w="12700">
            <a:solidFill>
              <a:srgbClr val="1F7A4C"/>
            </a:solidFill>
            <a:prstDash val="solid"/>
          </a:ln>
        </p:spPr>
      </p:sp>
      <p:pic>
        <p:nvPicPr>
          <p:cNvPr id="5" name="Image 0" descr="preencoded.png"/>
          <p:cNvPicPr>
            <a:picLocks noChangeAspect="1"/>
          </p:cNvPicPr>
          <p:nvPr/>
        </p:nvPicPr>
        <p:blipFill>
          <a:blip r:embed="rId1"/>
          <a:stretch>
            <a:fillRect/>
          </a:stretch>
        </p:blipFill>
        <p:spPr>
          <a:xfrm>
            <a:off x="705460" y="1757020"/>
            <a:ext cx="372161" cy="372161"/>
          </a:xfrm>
          <a:prstGeom prst="rect">
            <a:avLst/>
          </a:prstGeom>
        </p:spPr>
      </p:pic>
      <p:sp>
        <p:nvSpPr>
          <p:cNvPr id="6" name="Text 3"/>
          <p:cNvSpPr/>
          <p:nvPr/>
        </p:nvSpPr>
        <p:spPr>
          <a:xfrm>
            <a:off x="1325880" y="1709928"/>
            <a:ext cx="548640" cy="274320"/>
          </a:xfrm>
          <a:prstGeom prst="rect">
            <a:avLst/>
          </a:prstGeom>
          <a:noFill/>
        </p:spPr>
        <p:txBody>
          <a:bodyPr wrap="square" lIns="0" tIns="0" rIns="0" bIns="0" rtlCol="0" anchor="t"/>
          <a:lstStyle/>
          <a:p>
            <a:pPr marL="0" indent="0" algn="l">
              <a:buNone/>
            </a:pPr>
            <a:r>
              <a:rPr lang="en-US" sz="1200" b="1" dirty="0">
                <a:solidFill>
                  <a:srgbClr val="3DDC84"/>
                </a:solidFill>
                <a:latin typeface="Calibri" panose="020F0502020204030204" pitchFamily="34" charset="0"/>
                <a:ea typeface="Calibri" panose="020F0502020204030204" pitchFamily="34" charset="-122"/>
                <a:cs typeface="Calibri" panose="020F0502020204030204" pitchFamily="34" charset="-120"/>
              </a:rPr>
              <a:t>01</a:t>
            </a:r>
            <a:endParaRPr lang="en-US" sz="1200" dirty="0"/>
          </a:p>
        </p:txBody>
      </p:sp>
      <p:sp>
        <p:nvSpPr>
          <p:cNvPr id="7" name="Text 4"/>
          <p:cNvSpPr/>
          <p:nvPr/>
        </p:nvSpPr>
        <p:spPr>
          <a:xfrm>
            <a:off x="1325880" y="1892808"/>
            <a:ext cx="9692640" cy="502920"/>
          </a:xfrm>
          <a:prstGeom prst="rect">
            <a:avLst/>
          </a:prstGeom>
          <a:noFill/>
        </p:spPr>
        <p:txBody>
          <a:bodyPr wrap="square" lIns="0" tIns="0" rIns="0" bIns="0" rtlCol="0" anchor="t"/>
          <a:lstStyle/>
          <a:p>
            <a:pPr marL="0" indent="0">
              <a:buNone/>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Implement closed-loop throttle, braking, and PRND gear control on STM32</a:t>
            </a:r>
            <a:endParaRPr lang="en-US" sz="1550" dirty="0"/>
          </a:p>
        </p:txBody>
      </p:sp>
      <p:sp>
        <p:nvSpPr>
          <p:cNvPr id="8" name="Shape 5"/>
          <p:cNvSpPr/>
          <p:nvPr/>
        </p:nvSpPr>
        <p:spPr>
          <a:xfrm>
            <a:off x="640080" y="2532888"/>
            <a:ext cx="502920" cy="502920"/>
          </a:xfrm>
          <a:prstGeom prst="ellipse">
            <a:avLst/>
          </a:prstGeom>
          <a:solidFill>
            <a:srgbClr val="16231C"/>
          </a:solidFill>
          <a:ln w="12700">
            <a:solidFill>
              <a:srgbClr val="1F7A4C"/>
            </a:solidFill>
            <a:prstDash val="solid"/>
          </a:ln>
        </p:spPr>
      </p:sp>
      <p:pic>
        <p:nvPicPr>
          <p:cNvPr id="9" name="Image 1" descr="preencoded.png"/>
          <p:cNvPicPr>
            <a:picLocks noChangeAspect="1"/>
          </p:cNvPicPr>
          <p:nvPr/>
        </p:nvPicPr>
        <p:blipFill>
          <a:blip r:embed="rId2"/>
          <a:stretch>
            <a:fillRect/>
          </a:stretch>
        </p:blipFill>
        <p:spPr>
          <a:xfrm>
            <a:off x="705460" y="2598268"/>
            <a:ext cx="372161" cy="372161"/>
          </a:xfrm>
          <a:prstGeom prst="rect">
            <a:avLst/>
          </a:prstGeom>
        </p:spPr>
      </p:pic>
      <p:sp>
        <p:nvSpPr>
          <p:cNvPr id="10" name="Text 6"/>
          <p:cNvSpPr/>
          <p:nvPr/>
        </p:nvSpPr>
        <p:spPr>
          <a:xfrm>
            <a:off x="1325880" y="2551176"/>
            <a:ext cx="548640" cy="274320"/>
          </a:xfrm>
          <a:prstGeom prst="rect">
            <a:avLst/>
          </a:prstGeom>
          <a:noFill/>
        </p:spPr>
        <p:txBody>
          <a:bodyPr wrap="square" lIns="0" tIns="0" rIns="0" bIns="0" rtlCol="0" anchor="t"/>
          <a:lstStyle/>
          <a:p>
            <a:pPr marL="0" indent="0" algn="l">
              <a:buNone/>
            </a:pPr>
            <a:r>
              <a:rPr lang="en-US" sz="1200" b="1" dirty="0">
                <a:solidFill>
                  <a:srgbClr val="3DDC84"/>
                </a:solidFill>
                <a:latin typeface="Calibri" panose="020F0502020204030204" pitchFamily="34" charset="0"/>
                <a:ea typeface="Calibri" panose="020F0502020204030204" pitchFamily="34" charset="-122"/>
                <a:cs typeface="Calibri" panose="020F0502020204030204" pitchFamily="34" charset="-120"/>
              </a:rPr>
              <a:t>02</a:t>
            </a:r>
            <a:endParaRPr lang="en-US" sz="1200" dirty="0"/>
          </a:p>
        </p:txBody>
      </p:sp>
      <p:sp>
        <p:nvSpPr>
          <p:cNvPr id="11" name="Text 7"/>
          <p:cNvSpPr/>
          <p:nvPr/>
        </p:nvSpPr>
        <p:spPr>
          <a:xfrm>
            <a:off x="1325880" y="2734056"/>
            <a:ext cx="9692640" cy="502920"/>
          </a:xfrm>
          <a:prstGeom prst="rect">
            <a:avLst/>
          </a:prstGeom>
          <a:noFill/>
        </p:spPr>
        <p:txBody>
          <a:bodyPr wrap="square" lIns="0" tIns="0" rIns="0" bIns="0" rtlCol="0" anchor="t"/>
          <a:lstStyle/>
          <a:p>
            <a:pPr marL="0" indent="0">
              <a:buNone/>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Add thermal protection and Coulomb-counting state-of-charge estimation</a:t>
            </a:r>
            <a:endParaRPr lang="en-US" sz="1550" dirty="0"/>
          </a:p>
        </p:txBody>
      </p:sp>
      <p:sp>
        <p:nvSpPr>
          <p:cNvPr id="12" name="Shape 8"/>
          <p:cNvSpPr/>
          <p:nvPr/>
        </p:nvSpPr>
        <p:spPr>
          <a:xfrm>
            <a:off x="640080" y="3374136"/>
            <a:ext cx="502920" cy="502920"/>
          </a:xfrm>
          <a:prstGeom prst="ellipse">
            <a:avLst/>
          </a:prstGeom>
          <a:solidFill>
            <a:srgbClr val="16231C"/>
          </a:solidFill>
          <a:ln w="12700">
            <a:solidFill>
              <a:srgbClr val="1F7A4C"/>
            </a:solidFill>
            <a:prstDash val="solid"/>
          </a:ln>
        </p:spPr>
      </p:sp>
      <p:pic>
        <p:nvPicPr>
          <p:cNvPr id="13" name="Image 2" descr="preencoded.png"/>
          <p:cNvPicPr>
            <a:picLocks noChangeAspect="1"/>
          </p:cNvPicPr>
          <p:nvPr/>
        </p:nvPicPr>
        <p:blipFill>
          <a:blip r:embed="rId3"/>
          <a:stretch>
            <a:fillRect/>
          </a:stretch>
        </p:blipFill>
        <p:spPr>
          <a:xfrm>
            <a:off x="705460" y="3439516"/>
            <a:ext cx="372161" cy="372161"/>
          </a:xfrm>
          <a:prstGeom prst="rect">
            <a:avLst/>
          </a:prstGeom>
        </p:spPr>
      </p:pic>
      <p:sp>
        <p:nvSpPr>
          <p:cNvPr id="14" name="Text 9"/>
          <p:cNvSpPr/>
          <p:nvPr/>
        </p:nvSpPr>
        <p:spPr>
          <a:xfrm>
            <a:off x="1325880" y="3392424"/>
            <a:ext cx="548640" cy="274320"/>
          </a:xfrm>
          <a:prstGeom prst="rect">
            <a:avLst/>
          </a:prstGeom>
          <a:noFill/>
        </p:spPr>
        <p:txBody>
          <a:bodyPr wrap="square" lIns="0" tIns="0" rIns="0" bIns="0" rtlCol="0" anchor="t"/>
          <a:lstStyle/>
          <a:p>
            <a:pPr marL="0" indent="0" algn="l">
              <a:buNone/>
            </a:pPr>
            <a:r>
              <a:rPr lang="en-US" sz="1200" b="1" dirty="0">
                <a:solidFill>
                  <a:srgbClr val="3DDC84"/>
                </a:solidFill>
                <a:latin typeface="Calibri" panose="020F0502020204030204" pitchFamily="34" charset="0"/>
                <a:ea typeface="Calibri" panose="020F0502020204030204" pitchFamily="34" charset="-122"/>
                <a:cs typeface="Calibri" panose="020F0502020204030204" pitchFamily="34" charset="-120"/>
              </a:rPr>
              <a:t>03</a:t>
            </a:r>
            <a:endParaRPr lang="en-US" sz="1200" dirty="0"/>
          </a:p>
        </p:txBody>
      </p:sp>
      <p:sp>
        <p:nvSpPr>
          <p:cNvPr id="15" name="Text 10"/>
          <p:cNvSpPr/>
          <p:nvPr/>
        </p:nvSpPr>
        <p:spPr>
          <a:xfrm>
            <a:off x="1325880" y="3575304"/>
            <a:ext cx="9692640" cy="502920"/>
          </a:xfrm>
          <a:prstGeom prst="rect">
            <a:avLst/>
          </a:prstGeom>
          <a:noFill/>
        </p:spPr>
        <p:txBody>
          <a:bodyPr wrap="square" lIns="0" tIns="0" rIns="0" bIns="0" rtlCol="0" anchor="t"/>
          <a:lstStyle/>
          <a:p>
            <a:pPr marL="0" indent="0">
              <a:buNone/>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Stream live telemetry over UART at 10 Hz</a:t>
            </a:r>
            <a:endParaRPr lang="en-US" sz="1550" dirty="0"/>
          </a:p>
        </p:txBody>
      </p:sp>
      <p:sp>
        <p:nvSpPr>
          <p:cNvPr id="16" name="Shape 11"/>
          <p:cNvSpPr/>
          <p:nvPr/>
        </p:nvSpPr>
        <p:spPr>
          <a:xfrm>
            <a:off x="640080" y="4215384"/>
            <a:ext cx="502920" cy="502920"/>
          </a:xfrm>
          <a:prstGeom prst="ellipse">
            <a:avLst/>
          </a:prstGeom>
          <a:solidFill>
            <a:srgbClr val="16231C"/>
          </a:solidFill>
          <a:ln w="12700">
            <a:solidFill>
              <a:srgbClr val="1F7A4C"/>
            </a:solidFill>
            <a:prstDash val="solid"/>
          </a:ln>
        </p:spPr>
      </p:sp>
      <p:pic>
        <p:nvPicPr>
          <p:cNvPr id="17" name="Image 3" descr="preencoded.png"/>
          <p:cNvPicPr>
            <a:picLocks noChangeAspect="1"/>
          </p:cNvPicPr>
          <p:nvPr/>
        </p:nvPicPr>
        <p:blipFill>
          <a:blip r:embed="rId4"/>
          <a:stretch>
            <a:fillRect/>
          </a:stretch>
        </p:blipFill>
        <p:spPr>
          <a:xfrm>
            <a:off x="705460" y="4280764"/>
            <a:ext cx="372161" cy="372161"/>
          </a:xfrm>
          <a:prstGeom prst="rect">
            <a:avLst/>
          </a:prstGeom>
        </p:spPr>
      </p:pic>
      <p:sp>
        <p:nvSpPr>
          <p:cNvPr id="18" name="Text 12"/>
          <p:cNvSpPr/>
          <p:nvPr/>
        </p:nvSpPr>
        <p:spPr>
          <a:xfrm>
            <a:off x="1325880" y="4233672"/>
            <a:ext cx="548640" cy="274320"/>
          </a:xfrm>
          <a:prstGeom prst="rect">
            <a:avLst/>
          </a:prstGeom>
          <a:noFill/>
        </p:spPr>
        <p:txBody>
          <a:bodyPr wrap="square" lIns="0" tIns="0" rIns="0" bIns="0" rtlCol="0" anchor="t"/>
          <a:lstStyle/>
          <a:p>
            <a:pPr marL="0" indent="0" algn="l">
              <a:buNone/>
            </a:pPr>
            <a:r>
              <a:rPr lang="en-US" sz="1200" b="1" dirty="0">
                <a:solidFill>
                  <a:srgbClr val="3DDC84"/>
                </a:solidFill>
                <a:latin typeface="Calibri" panose="020F0502020204030204" pitchFamily="34" charset="0"/>
                <a:ea typeface="Calibri" panose="020F0502020204030204" pitchFamily="34" charset="-122"/>
                <a:cs typeface="Calibri" panose="020F0502020204030204" pitchFamily="34" charset="-120"/>
              </a:rPr>
              <a:t>04</a:t>
            </a:r>
            <a:endParaRPr lang="en-US" sz="1200" dirty="0"/>
          </a:p>
        </p:txBody>
      </p:sp>
      <p:sp>
        <p:nvSpPr>
          <p:cNvPr id="19" name="Text 13"/>
          <p:cNvSpPr/>
          <p:nvPr/>
        </p:nvSpPr>
        <p:spPr>
          <a:xfrm>
            <a:off x="1325880" y="4416552"/>
            <a:ext cx="9692640" cy="502920"/>
          </a:xfrm>
          <a:prstGeom prst="rect">
            <a:avLst/>
          </a:prstGeom>
          <a:noFill/>
        </p:spPr>
        <p:txBody>
          <a:bodyPr wrap="square" lIns="0" tIns="0" rIns="0" bIns="0" rtlCol="0" anchor="t"/>
          <a:lstStyle/>
          <a:p>
            <a:pPr marL="0" indent="0">
              <a:buNone/>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Build a reactive Qt/QML dashboard consuming that telemetry in real time</a:t>
            </a:r>
            <a:endParaRPr lang="en-US" sz="1550" dirty="0"/>
          </a:p>
        </p:txBody>
      </p:sp>
      <p:sp>
        <p:nvSpPr>
          <p:cNvPr id="20" name="Shape 14"/>
          <p:cNvSpPr/>
          <p:nvPr/>
        </p:nvSpPr>
        <p:spPr>
          <a:xfrm>
            <a:off x="640080" y="5056632"/>
            <a:ext cx="502920" cy="502920"/>
          </a:xfrm>
          <a:prstGeom prst="ellipse">
            <a:avLst/>
          </a:prstGeom>
          <a:solidFill>
            <a:srgbClr val="16231C"/>
          </a:solidFill>
          <a:ln w="12700">
            <a:solidFill>
              <a:srgbClr val="1F7A4C"/>
            </a:solidFill>
            <a:prstDash val="solid"/>
          </a:ln>
        </p:spPr>
      </p:sp>
      <p:pic>
        <p:nvPicPr>
          <p:cNvPr id="21" name="Image 4" descr="preencoded.png"/>
          <p:cNvPicPr>
            <a:picLocks noChangeAspect="1"/>
          </p:cNvPicPr>
          <p:nvPr/>
        </p:nvPicPr>
        <p:blipFill>
          <a:blip r:embed="rId5"/>
          <a:stretch>
            <a:fillRect/>
          </a:stretch>
        </p:blipFill>
        <p:spPr>
          <a:xfrm>
            <a:off x="705460" y="5122012"/>
            <a:ext cx="372161" cy="372161"/>
          </a:xfrm>
          <a:prstGeom prst="rect">
            <a:avLst/>
          </a:prstGeom>
        </p:spPr>
      </p:pic>
      <p:sp>
        <p:nvSpPr>
          <p:cNvPr id="22" name="Text 15"/>
          <p:cNvSpPr/>
          <p:nvPr/>
        </p:nvSpPr>
        <p:spPr>
          <a:xfrm>
            <a:off x="1325880" y="5074920"/>
            <a:ext cx="548640" cy="274320"/>
          </a:xfrm>
          <a:prstGeom prst="rect">
            <a:avLst/>
          </a:prstGeom>
          <a:noFill/>
        </p:spPr>
        <p:txBody>
          <a:bodyPr wrap="square" lIns="0" tIns="0" rIns="0" bIns="0" rtlCol="0" anchor="t"/>
          <a:lstStyle/>
          <a:p>
            <a:pPr marL="0" indent="0" algn="l">
              <a:buNone/>
            </a:pPr>
            <a:r>
              <a:rPr lang="en-US" sz="1200" b="1" dirty="0">
                <a:solidFill>
                  <a:srgbClr val="3DDC84"/>
                </a:solidFill>
                <a:latin typeface="Calibri" panose="020F0502020204030204" pitchFamily="34" charset="0"/>
                <a:ea typeface="Calibri" panose="020F0502020204030204" pitchFamily="34" charset="-122"/>
                <a:cs typeface="Calibri" panose="020F0502020204030204" pitchFamily="34" charset="-120"/>
              </a:rPr>
              <a:t>05</a:t>
            </a:r>
            <a:endParaRPr lang="en-US" sz="1200" dirty="0"/>
          </a:p>
        </p:txBody>
      </p:sp>
      <p:sp>
        <p:nvSpPr>
          <p:cNvPr id="23" name="Text 16"/>
          <p:cNvSpPr/>
          <p:nvPr/>
        </p:nvSpPr>
        <p:spPr>
          <a:xfrm>
            <a:off x="1325880" y="5257800"/>
            <a:ext cx="9692640" cy="502920"/>
          </a:xfrm>
          <a:prstGeom prst="rect">
            <a:avLst/>
          </a:prstGeom>
          <a:noFill/>
        </p:spPr>
        <p:txBody>
          <a:bodyPr wrap="square" lIns="0" tIns="0" rIns="0" bIns="0" rtlCol="0" anchor="t"/>
          <a:lstStyle/>
          <a:p>
            <a:pPr marL="0" indent="0">
              <a:buNone/>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Provide a hidden Engineer Mode for deep diagnostics</a:t>
            </a:r>
            <a:endParaRPr lang="en-US" sz="1550" dirty="0"/>
          </a:p>
        </p:txBody>
      </p:sp>
      <p:sp>
        <p:nvSpPr>
          <p:cNvPr id="24" name="Text 17"/>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STACK</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Technology Stack</a:t>
            </a:r>
            <a:endParaRPr lang="en-US" sz="3200" dirty="0"/>
          </a:p>
        </p:txBody>
      </p:sp>
      <p:sp>
        <p:nvSpPr>
          <p:cNvPr id="4" name="Text 2"/>
          <p:cNvSpPr/>
          <p:nvPr/>
        </p:nvSpPr>
        <p:spPr>
          <a:xfrm>
            <a:off x="640080" y="1600200"/>
            <a:ext cx="10881360" cy="1920240"/>
          </a:xfrm>
          <a:prstGeom prst="rect">
            <a:avLst/>
          </a:prstGeom>
          <a:noFill/>
        </p:spPr>
        <p:txBody>
          <a:bodyPr wrap="square" lIns="0" tIns="0" rIns="0" bIns="0" rtlCol="0" anchor="t"/>
          <a:lstStyle/>
          <a:p>
            <a:pPr marL="342900" indent="-342900">
              <a:lnSpc>
                <a:spcPct val="108000"/>
              </a:lnSpc>
              <a:spcAft>
                <a:spcPts val="1000"/>
              </a:spcAft>
              <a:buSzPct val="100000"/>
              <a:buChar char="▪"/>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Firmware: STM32F446RE (Cortex-M4F), STM32CubeIDE, HAL</a:t>
            </a:r>
            <a:endParaRPr lang="en-US" sz="1550" dirty="0"/>
          </a:p>
          <a:p>
            <a:pPr marL="342900" indent="-342900">
              <a:lnSpc>
                <a:spcPct val="108000"/>
              </a:lnSpc>
              <a:spcAft>
                <a:spcPts val="1000"/>
              </a:spcAft>
              <a:buSzPct val="100000"/>
              <a:buChar char="▪"/>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HMI Application: Qt 6 / Qt Quick (QML), C++17</a:t>
            </a:r>
            <a:endParaRPr lang="en-US" sz="1550" dirty="0"/>
          </a:p>
          <a:p>
            <a:pPr marL="342900" indent="-342900">
              <a:lnSpc>
                <a:spcPct val="108000"/>
              </a:lnSpc>
              <a:spcAft>
                <a:spcPts val="1000"/>
              </a:spcAft>
              <a:buSzPct val="100000"/>
              <a:buChar char="▪"/>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Host: Raspberry Pi 5 + 10.1" capacitive touchscreen</a:t>
            </a:r>
            <a:endParaRPr lang="en-US" sz="1550" dirty="0"/>
          </a:p>
          <a:p>
            <a:pPr marL="342900" indent="-342900">
              <a:lnSpc>
                <a:spcPct val="108000"/>
              </a:lnSpc>
              <a:spcAft>
                <a:spcPts val="1000"/>
              </a:spcAft>
              <a:buSzPct val="100000"/>
              <a:buChar char="▪"/>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Link: UART @ 115200 baud, key=value telemetry frames</a:t>
            </a:r>
            <a:endParaRPr lang="en-US" sz="1550" dirty="0"/>
          </a:p>
          <a:p>
            <a:pPr marL="342900" indent="-342900">
              <a:lnSpc>
                <a:spcPct val="108000"/>
              </a:lnSpc>
              <a:spcAft>
                <a:spcPts val="1000"/>
              </a:spcAft>
              <a:buSzPct val="100000"/>
              <a:buChar char="▪"/>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Tooling: </a:t>
            </a:r>
            <a:r>
              <a:rPr lang="en-US" sz="1550" dirty="0" err="1">
                <a:solidFill>
                  <a:srgbClr val="EAF2ED"/>
                </a:solidFill>
                <a:latin typeface="Calibri" panose="020F0502020204030204" pitchFamily="34" charset="0"/>
                <a:ea typeface="Calibri" panose="020F0502020204030204" pitchFamily="34" charset="-122"/>
                <a:cs typeface="Calibri" panose="020F0502020204030204" pitchFamily="34" charset="-120"/>
              </a:rPr>
              <a:t>CMake</a:t>
            </a:r>
            <a:endParaRPr lang="en-US" sz="1550" dirty="0"/>
          </a:p>
        </p:txBody>
      </p:sp>
      <p:sp>
        <p:nvSpPr>
          <p:cNvPr id="5" name="Shape 3"/>
          <p:cNvSpPr/>
          <p:nvPr/>
        </p:nvSpPr>
        <p:spPr>
          <a:xfrm>
            <a:off x="518008" y="4160520"/>
            <a:ext cx="1691640" cy="1371600"/>
          </a:xfrm>
          <a:prstGeom prst="roundRect">
            <a:avLst>
              <a:gd name="adj" fmla="val 5333"/>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6" name="Shape 4"/>
          <p:cNvSpPr/>
          <p:nvPr/>
        </p:nvSpPr>
        <p:spPr>
          <a:xfrm>
            <a:off x="1089508" y="4416552"/>
            <a:ext cx="548640" cy="548640"/>
          </a:xfrm>
          <a:prstGeom prst="ellipse">
            <a:avLst/>
          </a:prstGeom>
          <a:solidFill>
            <a:srgbClr val="16231C"/>
          </a:solidFill>
          <a:ln w="12700">
            <a:solidFill>
              <a:srgbClr val="1F7A4C"/>
            </a:solidFill>
            <a:prstDash val="solid"/>
          </a:ln>
        </p:spPr>
      </p:sp>
      <p:pic>
        <p:nvPicPr>
          <p:cNvPr id="7" name="Image 0" descr="preencoded.png"/>
          <p:cNvPicPr>
            <a:picLocks noChangeAspect="1"/>
          </p:cNvPicPr>
          <p:nvPr/>
        </p:nvPicPr>
        <p:blipFill>
          <a:blip r:embed="rId1"/>
          <a:stretch>
            <a:fillRect/>
          </a:stretch>
        </p:blipFill>
        <p:spPr>
          <a:xfrm>
            <a:off x="1160831" y="4487875"/>
            <a:ext cx="405994" cy="405994"/>
          </a:xfrm>
          <a:prstGeom prst="rect">
            <a:avLst/>
          </a:prstGeom>
        </p:spPr>
      </p:pic>
      <p:sp>
        <p:nvSpPr>
          <p:cNvPr id="8" name="Text 5"/>
          <p:cNvSpPr/>
          <p:nvPr/>
        </p:nvSpPr>
        <p:spPr>
          <a:xfrm>
            <a:off x="591160" y="5093208"/>
            <a:ext cx="1545336" cy="365760"/>
          </a:xfrm>
          <a:prstGeom prst="rect">
            <a:avLst/>
          </a:prstGeom>
          <a:noFill/>
        </p:spPr>
        <p:txBody>
          <a:bodyPr wrap="square" lIns="0" tIns="0" rIns="0" bIns="0" rtlCol="0" anchor="t"/>
          <a:lstStyle/>
          <a:p>
            <a:pPr marL="0" indent="0" algn="ctr">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Qt / QML</a:t>
            </a:r>
            <a:endParaRPr lang="en-US" sz="1100" dirty="0"/>
          </a:p>
        </p:txBody>
      </p:sp>
      <p:sp>
        <p:nvSpPr>
          <p:cNvPr id="9" name="Shape 6"/>
          <p:cNvSpPr/>
          <p:nvPr/>
        </p:nvSpPr>
        <p:spPr>
          <a:xfrm>
            <a:off x="2410816" y="4160520"/>
            <a:ext cx="1691640" cy="1371600"/>
          </a:xfrm>
          <a:prstGeom prst="roundRect">
            <a:avLst>
              <a:gd name="adj" fmla="val 5333"/>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10" name="Shape 7"/>
          <p:cNvSpPr/>
          <p:nvPr/>
        </p:nvSpPr>
        <p:spPr>
          <a:xfrm>
            <a:off x="2982316" y="4416552"/>
            <a:ext cx="548640" cy="548640"/>
          </a:xfrm>
          <a:prstGeom prst="ellipse">
            <a:avLst/>
          </a:prstGeom>
          <a:solidFill>
            <a:srgbClr val="16231C"/>
          </a:solidFill>
          <a:ln w="12700">
            <a:solidFill>
              <a:srgbClr val="1F7A4C"/>
            </a:solidFill>
            <a:prstDash val="solid"/>
          </a:ln>
        </p:spPr>
      </p:sp>
      <p:pic>
        <p:nvPicPr>
          <p:cNvPr id="11" name="Image 1" descr="preencoded.png"/>
          <p:cNvPicPr>
            <a:picLocks noChangeAspect="1"/>
          </p:cNvPicPr>
          <p:nvPr/>
        </p:nvPicPr>
        <p:blipFill>
          <a:blip r:embed="rId1"/>
          <a:stretch>
            <a:fillRect/>
          </a:stretch>
        </p:blipFill>
        <p:spPr>
          <a:xfrm>
            <a:off x="3053639" y="4487875"/>
            <a:ext cx="405994" cy="405994"/>
          </a:xfrm>
          <a:prstGeom prst="rect">
            <a:avLst/>
          </a:prstGeom>
        </p:spPr>
      </p:pic>
      <p:sp>
        <p:nvSpPr>
          <p:cNvPr id="12" name="Text 8"/>
          <p:cNvSpPr/>
          <p:nvPr/>
        </p:nvSpPr>
        <p:spPr>
          <a:xfrm>
            <a:off x="2483968" y="5093208"/>
            <a:ext cx="1545336" cy="365760"/>
          </a:xfrm>
          <a:prstGeom prst="rect">
            <a:avLst/>
          </a:prstGeom>
          <a:noFill/>
        </p:spPr>
        <p:txBody>
          <a:bodyPr wrap="square" lIns="0" tIns="0" rIns="0" bIns="0" rtlCol="0" anchor="t"/>
          <a:lstStyle/>
          <a:p>
            <a:pPr marL="0" indent="0" algn="ctr">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C++17</a:t>
            </a:r>
            <a:endParaRPr lang="en-US" sz="1100" dirty="0"/>
          </a:p>
        </p:txBody>
      </p:sp>
      <p:sp>
        <p:nvSpPr>
          <p:cNvPr id="13" name="Shape 9"/>
          <p:cNvSpPr/>
          <p:nvPr/>
        </p:nvSpPr>
        <p:spPr>
          <a:xfrm>
            <a:off x="4303624" y="4160520"/>
            <a:ext cx="1691640" cy="1371600"/>
          </a:xfrm>
          <a:prstGeom prst="roundRect">
            <a:avLst>
              <a:gd name="adj" fmla="val 5333"/>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14" name="Shape 10"/>
          <p:cNvSpPr/>
          <p:nvPr/>
        </p:nvSpPr>
        <p:spPr>
          <a:xfrm>
            <a:off x="4875124" y="4416552"/>
            <a:ext cx="548640" cy="548640"/>
          </a:xfrm>
          <a:prstGeom prst="ellipse">
            <a:avLst/>
          </a:prstGeom>
          <a:solidFill>
            <a:srgbClr val="16231C"/>
          </a:solidFill>
          <a:ln w="12700">
            <a:solidFill>
              <a:srgbClr val="1F7A4C"/>
            </a:solidFill>
            <a:prstDash val="solid"/>
          </a:ln>
        </p:spPr>
      </p:sp>
      <p:pic>
        <p:nvPicPr>
          <p:cNvPr id="15" name="Image 2" descr="preencoded.png"/>
          <p:cNvPicPr>
            <a:picLocks noChangeAspect="1"/>
          </p:cNvPicPr>
          <p:nvPr/>
        </p:nvPicPr>
        <p:blipFill>
          <a:blip r:embed="rId2"/>
          <a:stretch>
            <a:fillRect/>
          </a:stretch>
        </p:blipFill>
        <p:spPr>
          <a:xfrm>
            <a:off x="4946447" y="4487875"/>
            <a:ext cx="405994" cy="405994"/>
          </a:xfrm>
          <a:prstGeom prst="rect">
            <a:avLst/>
          </a:prstGeom>
        </p:spPr>
      </p:pic>
      <p:sp>
        <p:nvSpPr>
          <p:cNvPr id="16" name="Text 11"/>
          <p:cNvSpPr/>
          <p:nvPr/>
        </p:nvSpPr>
        <p:spPr>
          <a:xfrm>
            <a:off x="4376776" y="5093208"/>
            <a:ext cx="1545336" cy="365760"/>
          </a:xfrm>
          <a:prstGeom prst="rect">
            <a:avLst/>
          </a:prstGeom>
          <a:noFill/>
        </p:spPr>
        <p:txBody>
          <a:bodyPr wrap="square" lIns="0" tIns="0" rIns="0" bIns="0" rtlCol="0" anchor="t"/>
          <a:lstStyle/>
          <a:p>
            <a:pPr marL="0" indent="0" algn="ctr">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Raspberry Pi 5</a:t>
            </a:r>
            <a:endParaRPr lang="en-US" sz="1100" dirty="0"/>
          </a:p>
        </p:txBody>
      </p:sp>
      <p:sp>
        <p:nvSpPr>
          <p:cNvPr id="17" name="Shape 12"/>
          <p:cNvSpPr/>
          <p:nvPr/>
        </p:nvSpPr>
        <p:spPr>
          <a:xfrm>
            <a:off x="6196432" y="4160520"/>
            <a:ext cx="1691640" cy="1371600"/>
          </a:xfrm>
          <a:prstGeom prst="roundRect">
            <a:avLst>
              <a:gd name="adj" fmla="val 5333"/>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18" name="Shape 13"/>
          <p:cNvSpPr/>
          <p:nvPr/>
        </p:nvSpPr>
        <p:spPr>
          <a:xfrm>
            <a:off x="6767932" y="4416552"/>
            <a:ext cx="548640" cy="548640"/>
          </a:xfrm>
          <a:prstGeom prst="ellipse">
            <a:avLst/>
          </a:prstGeom>
          <a:solidFill>
            <a:srgbClr val="16231C"/>
          </a:solidFill>
          <a:ln w="12700">
            <a:solidFill>
              <a:srgbClr val="1F7A4C"/>
            </a:solidFill>
            <a:prstDash val="solid"/>
          </a:ln>
        </p:spPr>
      </p:sp>
      <p:pic>
        <p:nvPicPr>
          <p:cNvPr id="19" name="Image 3" descr="preencoded.png"/>
          <p:cNvPicPr>
            <a:picLocks noChangeAspect="1"/>
          </p:cNvPicPr>
          <p:nvPr/>
        </p:nvPicPr>
        <p:blipFill>
          <a:blip r:embed="rId3"/>
          <a:stretch>
            <a:fillRect/>
          </a:stretch>
        </p:blipFill>
        <p:spPr>
          <a:xfrm>
            <a:off x="6839255" y="4487875"/>
            <a:ext cx="405994" cy="405994"/>
          </a:xfrm>
          <a:prstGeom prst="rect">
            <a:avLst/>
          </a:prstGeom>
        </p:spPr>
      </p:pic>
      <p:sp>
        <p:nvSpPr>
          <p:cNvPr id="20" name="Text 14"/>
          <p:cNvSpPr/>
          <p:nvPr/>
        </p:nvSpPr>
        <p:spPr>
          <a:xfrm>
            <a:off x="6269584" y="5093208"/>
            <a:ext cx="1545336" cy="365760"/>
          </a:xfrm>
          <a:prstGeom prst="rect">
            <a:avLst/>
          </a:prstGeom>
          <a:noFill/>
        </p:spPr>
        <p:txBody>
          <a:bodyPr wrap="square" lIns="0" tIns="0" rIns="0" bIns="0" rtlCol="0" anchor="t"/>
          <a:lstStyle/>
          <a:p>
            <a:pPr marL="0" indent="0" algn="ctr">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STM32F446RE</a:t>
            </a:r>
            <a:endParaRPr lang="en-US" sz="1100" dirty="0"/>
          </a:p>
        </p:txBody>
      </p:sp>
      <p:sp>
        <p:nvSpPr>
          <p:cNvPr id="21" name="Shape 15"/>
          <p:cNvSpPr/>
          <p:nvPr/>
        </p:nvSpPr>
        <p:spPr>
          <a:xfrm>
            <a:off x="8089240" y="4160520"/>
            <a:ext cx="1691640" cy="1371600"/>
          </a:xfrm>
          <a:prstGeom prst="roundRect">
            <a:avLst>
              <a:gd name="adj" fmla="val 5333"/>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22" name="Shape 16"/>
          <p:cNvSpPr/>
          <p:nvPr/>
        </p:nvSpPr>
        <p:spPr>
          <a:xfrm>
            <a:off x="8660740" y="4416552"/>
            <a:ext cx="548640" cy="548640"/>
          </a:xfrm>
          <a:prstGeom prst="ellipse">
            <a:avLst/>
          </a:prstGeom>
          <a:solidFill>
            <a:srgbClr val="16231C"/>
          </a:solidFill>
          <a:ln w="12700">
            <a:solidFill>
              <a:srgbClr val="1F7A4C"/>
            </a:solidFill>
            <a:prstDash val="solid"/>
          </a:ln>
        </p:spPr>
      </p:sp>
      <p:pic>
        <p:nvPicPr>
          <p:cNvPr id="23" name="Image 4" descr="preencoded.png"/>
          <p:cNvPicPr>
            <a:picLocks noChangeAspect="1"/>
          </p:cNvPicPr>
          <p:nvPr/>
        </p:nvPicPr>
        <p:blipFill>
          <a:blip r:embed="rId4"/>
          <a:stretch>
            <a:fillRect/>
          </a:stretch>
        </p:blipFill>
        <p:spPr>
          <a:xfrm>
            <a:off x="8732063" y="4487875"/>
            <a:ext cx="405994" cy="405994"/>
          </a:xfrm>
          <a:prstGeom prst="rect">
            <a:avLst/>
          </a:prstGeom>
        </p:spPr>
      </p:pic>
      <p:sp>
        <p:nvSpPr>
          <p:cNvPr id="24" name="Text 17"/>
          <p:cNvSpPr/>
          <p:nvPr/>
        </p:nvSpPr>
        <p:spPr>
          <a:xfrm>
            <a:off x="8162392" y="5093208"/>
            <a:ext cx="1545336" cy="365760"/>
          </a:xfrm>
          <a:prstGeom prst="rect">
            <a:avLst/>
          </a:prstGeom>
          <a:noFill/>
        </p:spPr>
        <p:txBody>
          <a:bodyPr wrap="square" lIns="0" tIns="0" rIns="0" bIns="0" rtlCol="0" anchor="t"/>
          <a:lstStyle/>
          <a:p>
            <a:pPr marL="0" indent="0" algn="ctr">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UART 115200</a:t>
            </a:r>
            <a:endParaRPr lang="en-US" sz="1100" dirty="0"/>
          </a:p>
        </p:txBody>
      </p:sp>
      <p:sp>
        <p:nvSpPr>
          <p:cNvPr id="25" name="Shape 18"/>
          <p:cNvSpPr/>
          <p:nvPr/>
        </p:nvSpPr>
        <p:spPr>
          <a:xfrm>
            <a:off x="9982048" y="4160520"/>
            <a:ext cx="1691640" cy="1371600"/>
          </a:xfrm>
          <a:prstGeom prst="roundRect">
            <a:avLst>
              <a:gd name="adj" fmla="val 5333"/>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26" name="Shape 19"/>
          <p:cNvSpPr/>
          <p:nvPr/>
        </p:nvSpPr>
        <p:spPr>
          <a:xfrm>
            <a:off x="10553548" y="4416552"/>
            <a:ext cx="548640" cy="548640"/>
          </a:xfrm>
          <a:prstGeom prst="ellipse">
            <a:avLst/>
          </a:prstGeom>
          <a:solidFill>
            <a:srgbClr val="16231C"/>
          </a:solidFill>
          <a:ln w="12700">
            <a:solidFill>
              <a:srgbClr val="1F7A4C"/>
            </a:solidFill>
            <a:prstDash val="solid"/>
          </a:ln>
        </p:spPr>
      </p:sp>
      <p:pic>
        <p:nvPicPr>
          <p:cNvPr id="27" name="Image 5" descr="preencoded.png"/>
          <p:cNvPicPr>
            <a:picLocks noChangeAspect="1"/>
          </p:cNvPicPr>
          <p:nvPr/>
        </p:nvPicPr>
        <p:blipFill>
          <a:blip r:embed="rId5"/>
          <a:stretch>
            <a:fillRect/>
          </a:stretch>
        </p:blipFill>
        <p:spPr>
          <a:xfrm>
            <a:off x="10624871" y="4487875"/>
            <a:ext cx="405994" cy="405994"/>
          </a:xfrm>
          <a:prstGeom prst="rect">
            <a:avLst/>
          </a:prstGeom>
        </p:spPr>
      </p:pic>
      <p:sp>
        <p:nvSpPr>
          <p:cNvPr id="28" name="Text 20"/>
          <p:cNvSpPr/>
          <p:nvPr/>
        </p:nvSpPr>
        <p:spPr>
          <a:xfrm>
            <a:off x="10055200" y="5093208"/>
            <a:ext cx="1545336" cy="365760"/>
          </a:xfrm>
          <a:prstGeom prst="rect">
            <a:avLst/>
          </a:prstGeom>
          <a:noFill/>
        </p:spPr>
        <p:txBody>
          <a:bodyPr wrap="square" lIns="0" tIns="0" rIns="0" bIns="0" rtlCol="0" anchor="t"/>
          <a:lstStyle/>
          <a:p>
            <a:pPr marL="0" indent="0" algn="ctr">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CubeMX / CMake</a:t>
            </a:r>
            <a:endParaRPr lang="en-US" sz="1100" dirty="0"/>
          </a:p>
        </p:txBody>
      </p:sp>
      <p:sp>
        <p:nvSpPr>
          <p:cNvPr id="29" name="Text 21"/>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ARCHITECTURE</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Overall System Architecture</a:t>
            </a:r>
            <a:endParaRPr lang="en-US" sz="3200" dirty="0"/>
          </a:p>
        </p:txBody>
      </p:sp>
      <p:sp>
        <p:nvSpPr>
          <p:cNvPr id="4" name="Shape 2"/>
          <p:cNvSpPr/>
          <p:nvPr/>
        </p:nvSpPr>
        <p:spPr>
          <a:xfrm>
            <a:off x="2255368" y="1554480"/>
            <a:ext cx="7680960" cy="713232"/>
          </a:xfrm>
          <a:prstGeom prst="roundRect">
            <a:avLst>
              <a:gd name="adj" fmla="val 10256"/>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5" name="Shape 3"/>
          <p:cNvSpPr/>
          <p:nvPr/>
        </p:nvSpPr>
        <p:spPr>
          <a:xfrm>
            <a:off x="2419960" y="1655064"/>
            <a:ext cx="512064" cy="512064"/>
          </a:xfrm>
          <a:prstGeom prst="ellipse">
            <a:avLst/>
          </a:prstGeom>
          <a:solidFill>
            <a:srgbClr val="16231C"/>
          </a:solidFill>
          <a:ln w="12700">
            <a:solidFill>
              <a:srgbClr val="1F7A4C"/>
            </a:solidFill>
            <a:prstDash val="solid"/>
          </a:ln>
        </p:spPr>
      </p:sp>
      <p:pic>
        <p:nvPicPr>
          <p:cNvPr id="6" name="Image 0" descr="preencoded.png"/>
          <p:cNvPicPr>
            <a:picLocks noChangeAspect="1"/>
          </p:cNvPicPr>
          <p:nvPr/>
        </p:nvPicPr>
        <p:blipFill>
          <a:blip r:embed="rId1"/>
          <a:stretch>
            <a:fillRect/>
          </a:stretch>
        </p:blipFill>
        <p:spPr>
          <a:xfrm>
            <a:off x="2486528" y="1721632"/>
            <a:ext cx="378927" cy="378927"/>
          </a:xfrm>
          <a:prstGeom prst="rect">
            <a:avLst/>
          </a:prstGeom>
        </p:spPr>
      </p:pic>
      <p:sp>
        <p:nvSpPr>
          <p:cNvPr id="7" name="Text 4"/>
          <p:cNvSpPr/>
          <p:nvPr/>
        </p:nvSpPr>
        <p:spPr>
          <a:xfrm>
            <a:off x="3078328" y="1609344"/>
            <a:ext cx="4754880" cy="320040"/>
          </a:xfrm>
          <a:prstGeom prst="rect">
            <a:avLst/>
          </a:prstGeom>
          <a:noFill/>
        </p:spPr>
        <p:txBody>
          <a:bodyPr wrap="square" lIns="0" tIns="0" rIns="0" bIns="0" rtlCol="0" anchor="ctr"/>
          <a:lstStyle/>
          <a:p>
            <a:pPr marL="0" indent="0">
              <a:buNone/>
            </a:pPr>
            <a:r>
              <a:rPr lang="en-US" sz="1500" b="1" dirty="0">
                <a:solidFill>
                  <a:srgbClr val="EAF2ED"/>
                </a:solidFill>
                <a:latin typeface="Calibri" panose="020F0502020204030204" pitchFamily="34" charset="0"/>
                <a:ea typeface="Calibri" panose="020F0502020204030204" pitchFamily="34" charset="-122"/>
                <a:cs typeface="Calibri" panose="020F0502020204030204" pitchFamily="34" charset="-120"/>
              </a:rPr>
              <a:t>STM32 VCU</a:t>
            </a:r>
            <a:endParaRPr lang="en-US" sz="1500" dirty="0"/>
          </a:p>
        </p:txBody>
      </p:sp>
      <p:sp>
        <p:nvSpPr>
          <p:cNvPr id="8" name="Text 5"/>
          <p:cNvSpPr/>
          <p:nvPr/>
        </p:nvSpPr>
        <p:spPr>
          <a:xfrm>
            <a:off x="3078328" y="1920240"/>
            <a:ext cx="6675120" cy="274320"/>
          </a:xfrm>
          <a:prstGeom prst="rect">
            <a:avLst/>
          </a:prstGeom>
          <a:noFill/>
        </p:spPr>
        <p:txBody>
          <a:bodyPr wrap="square" lIns="0" tIns="0" rIns="0" bIns="0" rtlCol="0" anchor="ctr"/>
          <a:lstStyle/>
          <a:p>
            <a:pPr marL="0" indent="0">
              <a:buNone/>
            </a:pPr>
            <a:r>
              <a:rPr lang="en-US" sz="1100" dirty="0">
                <a:solidFill>
                  <a:srgbClr val="8CA69A"/>
                </a:solidFill>
                <a:latin typeface="Calibri" panose="020F0502020204030204" pitchFamily="34" charset="0"/>
                <a:ea typeface="Calibri" panose="020F0502020204030204" pitchFamily="34" charset="-122"/>
                <a:cs typeface="Calibri" panose="020F0502020204030204" pitchFamily="34" charset="-120"/>
              </a:rPr>
              <a:t>Sensors · PRND · Drive Modes</a:t>
            </a:r>
            <a:endParaRPr lang="en-US" sz="1100" dirty="0"/>
          </a:p>
        </p:txBody>
      </p:sp>
      <p:sp>
        <p:nvSpPr>
          <p:cNvPr id="9" name="Shape 6"/>
          <p:cNvSpPr/>
          <p:nvPr/>
        </p:nvSpPr>
        <p:spPr>
          <a:xfrm>
            <a:off x="6095848" y="2267712"/>
            <a:ext cx="0" cy="256032"/>
          </a:xfrm>
          <a:prstGeom prst="line">
            <a:avLst/>
          </a:prstGeom>
          <a:noFill/>
          <a:ln w="25400">
            <a:solidFill>
              <a:srgbClr val="1F7A4C"/>
            </a:solidFill>
            <a:prstDash val="solid"/>
            <a:tailEnd type="triangle"/>
          </a:ln>
        </p:spPr>
      </p:sp>
      <p:sp>
        <p:nvSpPr>
          <p:cNvPr id="10" name="Shape 7"/>
          <p:cNvSpPr/>
          <p:nvPr/>
        </p:nvSpPr>
        <p:spPr>
          <a:xfrm>
            <a:off x="2255368" y="2523744"/>
            <a:ext cx="7680960" cy="713232"/>
          </a:xfrm>
          <a:prstGeom prst="roundRect">
            <a:avLst>
              <a:gd name="adj" fmla="val 10256"/>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11" name="Shape 8"/>
          <p:cNvSpPr/>
          <p:nvPr/>
        </p:nvSpPr>
        <p:spPr>
          <a:xfrm>
            <a:off x="2419960" y="2624328"/>
            <a:ext cx="512064" cy="512064"/>
          </a:xfrm>
          <a:prstGeom prst="ellipse">
            <a:avLst/>
          </a:prstGeom>
          <a:solidFill>
            <a:srgbClr val="16231C"/>
          </a:solidFill>
          <a:ln w="12700">
            <a:solidFill>
              <a:srgbClr val="1F7A4C"/>
            </a:solidFill>
            <a:prstDash val="solid"/>
          </a:ln>
        </p:spPr>
      </p:sp>
      <p:pic>
        <p:nvPicPr>
          <p:cNvPr id="12" name="Image 1" descr="preencoded.png"/>
          <p:cNvPicPr>
            <a:picLocks noChangeAspect="1"/>
          </p:cNvPicPr>
          <p:nvPr/>
        </p:nvPicPr>
        <p:blipFill>
          <a:blip r:embed="rId2"/>
          <a:stretch>
            <a:fillRect/>
          </a:stretch>
        </p:blipFill>
        <p:spPr>
          <a:xfrm>
            <a:off x="2486528" y="2690896"/>
            <a:ext cx="378927" cy="378927"/>
          </a:xfrm>
          <a:prstGeom prst="rect">
            <a:avLst/>
          </a:prstGeom>
        </p:spPr>
      </p:pic>
      <p:sp>
        <p:nvSpPr>
          <p:cNvPr id="13" name="Text 9"/>
          <p:cNvSpPr/>
          <p:nvPr/>
        </p:nvSpPr>
        <p:spPr>
          <a:xfrm>
            <a:off x="3078328" y="2578608"/>
            <a:ext cx="4754880" cy="320040"/>
          </a:xfrm>
          <a:prstGeom prst="rect">
            <a:avLst/>
          </a:prstGeom>
          <a:noFill/>
        </p:spPr>
        <p:txBody>
          <a:bodyPr wrap="square" lIns="0" tIns="0" rIns="0" bIns="0" rtlCol="0" anchor="ctr"/>
          <a:lstStyle/>
          <a:p>
            <a:pPr marL="0" indent="0">
              <a:buNone/>
            </a:pPr>
            <a:r>
              <a:rPr lang="en-US" sz="1500" b="1" dirty="0">
                <a:solidFill>
                  <a:srgbClr val="EAF2ED"/>
                </a:solidFill>
                <a:latin typeface="Calibri" panose="020F0502020204030204" pitchFamily="34" charset="0"/>
                <a:ea typeface="Calibri" panose="020F0502020204030204" pitchFamily="34" charset="-122"/>
                <a:cs typeface="Calibri" panose="020F0502020204030204" pitchFamily="34" charset="-120"/>
              </a:rPr>
              <a:t>UART / SerialManager</a:t>
            </a:r>
            <a:endParaRPr lang="en-US" sz="1500" dirty="0"/>
          </a:p>
        </p:txBody>
      </p:sp>
      <p:sp>
        <p:nvSpPr>
          <p:cNvPr id="14" name="Text 10"/>
          <p:cNvSpPr/>
          <p:nvPr/>
        </p:nvSpPr>
        <p:spPr>
          <a:xfrm>
            <a:off x="3078328" y="2889504"/>
            <a:ext cx="6675120" cy="274320"/>
          </a:xfrm>
          <a:prstGeom prst="rect">
            <a:avLst/>
          </a:prstGeom>
          <a:noFill/>
        </p:spPr>
        <p:txBody>
          <a:bodyPr wrap="square" lIns="0" tIns="0" rIns="0" bIns="0" rtlCol="0" anchor="ctr"/>
          <a:lstStyle/>
          <a:p>
            <a:pPr marL="0" indent="0">
              <a:buNone/>
            </a:pPr>
            <a:r>
              <a:rPr lang="en-US" sz="1100" dirty="0">
                <a:solidFill>
                  <a:srgbClr val="8CA69A"/>
                </a:solidFill>
                <a:latin typeface="Calibri" panose="020F0502020204030204" pitchFamily="34" charset="0"/>
                <a:ea typeface="Calibri" panose="020F0502020204030204" pitchFamily="34" charset="-122"/>
                <a:cs typeface="Calibri" panose="020F0502020204030204" pitchFamily="34" charset="-120"/>
              </a:rPr>
              <a:t>115200 baud, QSerialPort</a:t>
            </a:r>
            <a:endParaRPr lang="en-US" sz="1100" dirty="0"/>
          </a:p>
        </p:txBody>
      </p:sp>
      <p:sp>
        <p:nvSpPr>
          <p:cNvPr id="15" name="Shape 11"/>
          <p:cNvSpPr/>
          <p:nvPr/>
        </p:nvSpPr>
        <p:spPr>
          <a:xfrm>
            <a:off x="6095848" y="3236976"/>
            <a:ext cx="0" cy="256032"/>
          </a:xfrm>
          <a:prstGeom prst="line">
            <a:avLst/>
          </a:prstGeom>
          <a:noFill/>
          <a:ln w="25400">
            <a:solidFill>
              <a:srgbClr val="1F7A4C"/>
            </a:solidFill>
            <a:prstDash val="solid"/>
            <a:tailEnd type="triangle"/>
          </a:ln>
        </p:spPr>
      </p:sp>
      <p:sp>
        <p:nvSpPr>
          <p:cNvPr id="16" name="Shape 12"/>
          <p:cNvSpPr/>
          <p:nvPr/>
        </p:nvSpPr>
        <p:spPr>
          <a:xfrm>
            <a:off x="2255368" y="3493008"/>
            <a:ext cx="7680960" cy="713232"/>
          </a:xfrm>
          <a:prstGeom prst="roundRect">
            <a:avLst>
              <a:gd name="adj" fmla="val 10256"/>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17" name="Shape 13"/>
          <p:cNvSpPr/>
          <p:nvPr/>
        </p:nvSpPr>
        <p:spPr>
          <a:xfrm>
            <a:off x="2419960" y="3593592"/>
            <a:ext cx="512064" cy="512064"/>
          </a:xfrm>
          <a:prstGeom prst="ellipse">
            <a:avLst/>
          </a:prstGeom>
          <a:solidFill>
            <a:srgbClr val="16231C"/>
          </a:solidFill>
          <a:ln w="12700">
            <a:solidFill>
              <a:srgbClr val="1F7A4C"/>
            </a:solidFill>
            <a:prstDash val="solid"/>
          </a:ln>
        </p:spPr>
      </p:sp>
      <p:pic>
        <p:nvPicPr>
          <p:cNvPr id="18" name="Image 2" descr="preencoded.png"/>
          <p:cNvPicPr>
            <a:picLocks noChangeAspect="1"/>
          </p:cNvPicPr>
          <p:nvPr/>
        </p:nvPicPr>
        <p:blipFill>
          <a:blip r:embed="rId3"/>
          <a:stretch>
            <a:fillRect/>
          </a:stretch>
        </p:blipFill>
        <p:spPr>
          <a:xfrm>
            <a:off x="2486528" y="3660160"/>
            <a:ext cx="378927" cy="378927"/>
          </a:xfrm>
          <a:prstGeom prst="rect">
            <a:avLst/>
          </a:prstGeom>
        </p:spPr>
      </p:pic>
      <p:sp>
        <p:nvSpPr>
          <p:cNvPr id="19" name="Text 14"/>
          <p:cNvSpPr/>
          <p:nvPr/>
        </p:nvSpPr>
        <p:spPr>
          <a:xfrm>
            <a:off x="3078328" y="3547872"/>
            <a:ext cx="4754880" cy="320040"/>
          </a:xfrm>
          <a:prstGeom prst="rect">
            <a:avLst/>
          </a:prstGeom>
          <a:noFill/>
        </p:spPr>
        <p:txBody>
          <a:bodyPr wrap="square" lIns="0" tIns="0" rIns="0" bIns="0" rtlCol="0" anchor="ctr"/>
          <a:lstStyle/>
          <a:p>
            <a:pPr marL="0" indent="0">
              <a:buNone/>
            </a:pPr>
            <a:r>
              <a:rPr lang="en-US" sz="1500" b="1" dirty="0">
                <a:solidFill>
                  <a:srgbClr val="EAF2ED"/>
                </a:solidFill>
                <a:latin typeface="Calibri" panose="020F0502020204030204" pitchFamily="34" charset="0"/>
                <a:ea typeface="Calibri" panose="020F0502020204030204" pitchFamily="34" charset="-122"/>
                <a:cs typeface="Calibri" panose="020F0502020204030204" pitchFamily="34" charset="-120"/>
              </a:rPr>
              <a:t>TelemetryParser</a:t>
            </a:r>
            <a:endParaRPr lang="en-US" sz="1500" dirty="0"/>
          </a:p>
        </p:txBody>
      </p:sp>
      <p:sp>
        <p:nvSpPr>
          <p:cNvPr id="20" name="Text 15"/>
          <p:cNvSpPr/>
          <p:nvPr/>
        </p:nvSpPr>
        <p:spPr>
          <a:xfrm>
            <a:off x="3078328" y="3858768"/>
            <a:ext cx="6675120" cy="274320"/>
          </a:xfrm>
          <a:prstGeom prst="rect">
            <a:avLst/>
          </a:prstGeom>
          <a:noFill/>
        </p:spPr>
        <p:txBody>
          <a:bodyPr wrap="square" lIns="0" tIns="0" rIns="0" bIns="0" rtlCol="0" anchor="ctr"/>
          <a:lstStyle/>
          <a:p>
            <a:pPr marL="0" indent="0">
              <a:buNone/>
            </a:pPr>
            <a:r>
              <a:rPr lang="en-US" sz="1100" dirty="0">
                <a:solidFill>
                  <a:srgbClr val="8CA69A"/>
                </a:solidFill>
                <a:latin typeface="Calibri" panose="020F0502020204030204" pitchFamily="34" charset="0"/>
                <a:ea typeface="Calibri" panose="020F0502020204030204" pitchFamily="34" charset="-122"/>
                <a:cs typeface="Calibri" panose="020F0502020204030204" pitchFamily="34" charset="-120"/>
              </a:rPr>
              <a:t>key=value tokenizer</a:t>
            </a:r>
            <a:endParaRPr lang="en-US" sz="1100" dirty="0"/>
          </a:p>
        </p:txBody>
      </p:sp>
      <p:sp>
        <p:nvSpPr>
          <p:cNvPr id="21" name="Shape 16"/>
          <p:cNvSpPr/>
          <p:nvPr/>
        </p:nvSpPr>
        <p:spPr>
          <a:xfrm>
            <a:off x="6095848" y="4206240"/>
            <a:ext cx="0" cy="256032"/>
          </a:xfrm>
          <a:prstGeom prst="line">
            <a:avLst/>
          </a:prstGeom>
          <a:noFill/>
          <a:ln w="25400">
            <a:solidFill>
              <a:srgbClr val="1F7A4C"/>
            </a:solidFill>
            <a:prstDash val="solid"/>
            <a:tailEnd type="triangle"/>
          </a:ln>
        </p:spPr>
      </p:sp>
      <p:sp>
        <p:nvSpPr>
          <p:cNvPr id="22" name="Shape 17"/>
          <p:cNvSpPr/>
          <p:nvPr/>
        </p:nvSpPr>
        <p:spPr>
          <a:xfrm>
            <a:off x="2255368" y="4462272"/>
            <a:ext cx="7680960" cy="713232"/>
          </a:xfrm>
          <a:prstGeom prst="roundRect">
            <a:avLst>
              <a:gd name="adj" fmla="val 10256"/>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23" name="Shape 18"/>
          <p:cNvSpPr/>
          <p:nvPr/>
        </p:nvSpPr>
        <p:spPr>
          <a:xfrm>
            <a:off x="2419960" y="4562856"/>
            <a:ext cx="512064" cy="512064"/>
          </a:xfrm>
          <a:prstGeom prst="ellipse">
            <a:avLst/>
          </a:prstGeom>
          <a:solidFill>
            <a:srgbClr val="16231C"/>
          </a:solidFill>
          <a:ln w="12700">
            <a:solidFill>
              <a:srgbClr val="1F7A4C"/>
            </a:solidFill>
            <a:prstDash val="solid"/>
          </a:ln>
        </p:spPr>
      </p:sp>
      <p:pic>
        <p:nvPicPr>
          <p:cNvPr id="24" name="Image 3" descr="preencoded.png"/>
          <p:cNvPicPr>
            <a:picLocks noChangeAspect="1"/>
          </p:cNvPicPr>
          <p:nvPr/>
        </p:nvPicPr>
        <p:blipFill>
          <a:blip r:embed="rId4"/>
          <a:stretch>
            <a:fillRect/>
          </a:stretch>
        </p:blipFill>
        <p:spPr>
          <a:xfrm>
            <a:off x="2486528" y="4629424"/>
            <a:ext cx="378927" cy="378927"/>
          </a:xfrm>
          <a:prstGeom prst="rect">
            <a:avLst/>
          </a:prstGeom>
        </p:spPr>
      </p:pic>
      <p:sp>
        <p:nvSpPr>
          <p:cNvPr id="25" name="Text 19"/>
          <p:cNvSpPr/>
          <p:nvPr/>
        </p:nvSpPr>
        <p:spPr>
          <a:xfrm>
            <a:off x="3078328" y="4517136"/>
            <a:ext cx="4754880" cy="320040"/>
          </a:xfrm>
          <a:prstGeom prst="rect">
            <a:avLst/>
          </a:prstGeom>
          <a:noFill/>
        </p:spPr>
        <p:txBody>
          <a:bodyPr wrap="square" lIns="0" tIns="0" rIns="0" bIns="0" rtlCol="0" anchor="ctr"/>
          <a:lstStyle/>
          <a:p>
            <a:pPr marL="0" indent="0">
              <a:buNone/>
            </a:pPr>
            <a:r>
              <a:rPr lang="en-US" sz="1500" b="1" dirty="0">
                <a:solidFill>
                  <a:srgbClr val="EAF2ED"/>
                </a:solidFill>
                <a:latin typeface="Calibri" panose="020F0502020204030204" pitchFamily="34" charset="0"/>
                <a:ea typeface="Calibri" panose="020F0502020204030204" pitchFamily="34" charset="-122"/>
                <a:cs typeface="Calibri" panose="020F0502020204030204" pitchFamily="34" charset="-120"/>
              </a:rPr>
              <a:t>VehicleData</a:t>
            </a:r>
            <a:endParaRPr lang="en-US" sz="1500" dirty="0"/>
          </a:p>
        </p:txBody>
      </p:sp>
      <p:sp>
        <p:nvSpPr>
          <p:cNvPr id="26" name="Text 20"/>
          <p:cNvSpPr/>
          <p:nvPr/>
        </p:nvSpPr>
        <p:spPr>
          <a:xfrm>
            <a:off x="3078328" y="4828032"/>
            <a:ext cx="6675120" cy="274320"/>
          </a:xfrm>
          <a:prstGeom prst="rect">
            <a:avLst/>
          </a:prstGeom>
          <a:noFill/>
        </p:spPr>
        <p:txBody>
          <a:bodyPr wrap="square" lIns="0" tIns="0" rIns="0" bIns="0" rtlCol="0" anchor="ctr"/>
          <a:lstStyle/>
          <a:p>
            <a:pPr marL="0" indent="0">
              <a:buNone/>
            </a:pPr>
            <a:r>
              <a:rPr lang="en-US" sz="1100" dirty="0">
                <a:solidFill>
                  <a:srgbClr val="8CA69A"/>
                </a:solidFill>
                <a:latin typeface="Calibri" panose="020F0502020204030204" pitchFamily="34" charset="0"/>
                <a:ea typeface="Calibri" panose="020F0502020204030204" pitchFamily="34" charset="-122"/>
                <a:cs typeface="Calibri" panose="020F0502020204030204" pitchFamily="34" charset="-120"/>
              </a:rPr>
              <a:t>Q_PROPERTY reactive model</a:t>
            </a:r>
            <a:endParaRPr lang="en-US" sz="1100" dirty="0"/>
          </a:p>
        </p:txBody>
      </p:sp>
      <p:sp>
        <p:nvSpPr>
          <p:cNvPr id="27" name="Shape 21"/>
          <p:cNvSpPr/>
          <p:nvPr/>
        </p:nvSpPr>
        <p:spPr>
          <a:xfrm>
            <a:off x="6095848" y="5175504"/>
            <a:ext cx="0" cy="256032"/>
          </a:xfrm>
          <a:prstGeom prst="line">
            <a:avLst/>
          </a:prstGeom>
          <a:noFill/>
          <a:ln w="25400">
            <a:solidFill>
              <a:srgbClr val="1F7A4C"/>
            </a:solidFill>
            <a:prstDash val="solid"/>
            <a:tailEnd type="triangle"/>
          </a:ln>
        </p:spPr>
      </p:sp>
      <p:sp>
        <p:nvSpPr>
          <p:cNvPr id="28" name="Shape 22"/>
          <p:cNvSpPr/>
          <p:nvPr/>
        </p:nvSpPr>
        <p:spPr>
          <a:xfrm>
            <a:off x="2255368" y="5431536"/>
            <a:ext cx="7680960" cy="713232"/>
          </a:xfrm>
          <a:prstGeom prst="roundRect">
            <a:avLst>
              <a:gd name="adj" fmla="val 10256"/>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29" name="Shape 23"/>
          <p:cNvSpPr/>
          <p:nvPr/>
        </p:nvSpPr>
        <p:spPr>
          <a:xfrm>
            <a:off x="2419960" y="5532120"/>
            <a:ext cx="512064" cy="512064"/>
          </a:xfrm>
          <a:prstGeom prst="ellipse">
            <a:avLst/>
          </a:prstGeom>
          <a:solidFill>
            <a:srgbClr val="16231C"/>
          </a:solidFill>
          <a:ln w="12700">
            <a:solidFill>
              <a:srgbClr val="1F7A4C"/>
            </a:solidFill>
            <a:prstDash val="solid"/>
          </a:ln>
        </p:spPr>
      </p:sp>
      <p:pic>
        <p:nvPicPr>
          <p:cNvPr id="30" name="Image 4" descr="preencoded.png"/>
          <p:cNvPicPr>
            <a:picLocks noChangeAspect="1"/>
          </p:cNvPicPr>
          <p:nvPr/>
        </p:nvPicPr>
        <p:blipFill>
          <a:blip r:embed="rId5"/>
          <a:stretch>
            <a:fillRect/>
          </a:stretch>
        </p:blipFill>
        <p:spPr>
          <a:xfrm>
            <a:off x="2486528" y="5598688"/>
            <a:ext cx="378927" cy="378927"/>
          </a:xfrm>
          <a:prstGeom prst="rect">
            <a:avLst/>
          </a:prstGeom>
        </p:spPr>
      </p:pic>
      <p:sp>
        <p:nvSpPr>
          <p:cNvPr id="31" name="Text 24"/>
          <p:cNvSpPr/>
          <p:nvPr/>
        </p:nvSpPr>
        <p:spPr>
          <a:xfrm>
            <a:off x="3078328" y="5486400"/>
            <a:ext cx="4754880" cy="320040"/>
          </a:xfrm>
          <a:prstGeom prst="rect">
            <a:avLst/>
          </a:prstGeom>
          <a:noFill/>
        </p:spPr>
        <p:txBody>
          <a:bodyPr wrap="square" lIns="0" tIns="0" rIns="0" bIns="0" rtlCol="0" anchor="ctr"/>
          <a:lstStyle/>
          <a:p>
            <a:pPr marL="0" indent="0">
              <a:buNone/>
            </a:pPr>
            <a:r>
              <a:rPr lang="en-US" sz="1500" b="1" dirty="0">
                <a:solidFill>
                  <a:srgbClr val="EAF2ED"/>
                </a:solidFill>
                <a:latin typeface="Calibri" panose="020F0502020204030204" pitchFamily="34" charset="0"/>
                <a:ea typeface="Calibri" panose="020F0502020204030204" pitchFamily="34" charset="-122"/>
                <a:cs typeface="Calibri" panose="020F0502020204030204" pitchFamily="34" charset="-120"/>
              </a:rPr>
              <a:t>Qt / QML UI</a:t>
            </a:r>
            <a:endParaRPr lang="en-US" sz="1500" dirty="0"/>
          </a:p>
        </p:txBody>
      </p:sp>
      <p:sp>
        <p:nvSpPr>
          <p:cNvPr id="32" name="Text 25"/>
          <p:cNvSpPr/>
          <p:nvPr/>
        </p:nvSpPr>
        <p:spPr>
          <a:xfrm>
            <a:off x="3078328" y="5797296"/>
            <a:ext cx="6675120" cy="274320"/>
          </a:xfrm>
          <a:prstGeom prst="rect">
            <a:avLst/>
          </a:prstGeom>
          <a:noFill/>
        </p:spPr>
        <p:txBody>
          <a:bodyPr wrap="square" lIns="0" tIns="0" rIns="0" bIns="0" rtlCol="0" anchor="ctr"/>
          <a:lstStyle/>
          <a:p>
            <a:pPr marL="0" indent="0">
              <a:buNone/>
            </a:pPr>
            <a:r>
              <a:rPr lang="en-US" sz="1100" dirty="0">
                <a:solidFill>
                  <a:srgbClr val="8CA69A"/>
                </a:solidFill>
                <a:latin typeface="Calibri" panose="020F0502020204030204" pitchFamily="34" charset="0"/>
                <a:ea typeface="Calibri" panose="020F0502020204030204" pitchFamily="34" charset="-122"/>
                <a:cs typeface="Calibri" panose="020F0502020204030204" pitchFamily="34" charset="-120"/>
              </a:rPr>
              <a:t>Home · Diagnostics · Engineer Mode</a:t>
            </a:r>
            <a:endParaRPr lang="en-US" sz="1100" dirty="0"/>
          </a:p>
        </p:txBody>
      </p:sp>
      <p:sp>
        <p:nvSpPr>
          <p:cNvPr id="33" name="Text 26"/>
          <p:cNvSpPr/>
          <p:nvPr/>
        </p:nvSpPr>
        <p:spPr>
          <a:xfrm>
            <a:off x="640080" y="6446520"/>
            <a:ext cx="10881360" cy="365760"/>
          </a:xfrm>
          <a:prstGeom prst="rect">
            <a:avLst/>
          </a:prstGeom>
          <a:noFill/>
        </p:spPr>
        <p:txBody>
          <a:bodyPr wrap="square" lIns="0" tIns="0" rIns="0" bIns="0" rtlCol="0" anchor="t"/>
          <a:lstStyle/>
          <a:p>
            <a:pPr marL="0" indent="0" algn="ctr">
              <a:buNone/>
            </a:pPr>
            <a:r>
              <a:rPr lang="en-US" sz="1250" dirty="0">
                <a:solidFill>
                  <a:srgbClr val="3DDC84"/>
                </a:solidFill>
                <a:latin typeface="Calibri" panose="020F0502020204030204" pitchFamily="34" charset="0"/>
                <a:ea typeface="Calibri" panose="020F0502020204030204" pitchFamily="34" charset="-122"/>
                <a:cs typeface="Calibri" panose="020F0502020204030204" pitchFamily="34" charset="-120"/>
              </a:rPr>
              <a:t>One reactive model feeds every screen — no polling, no duplication.</a:t>
            </a:r>
            <a:endParaRPr lang="en-US" sz="1250" dirty="0"/>
          </a:p>
        </p:txBody>
      </p:sp>
      <p:sp>
        <p:nvSpPr>
          <p:cNvPr id="34" name="Text 27"/>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ARCHITECTURE</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Software Architecture (HMI)</a:t>
            </a:r>
            <a:endParaRPr lang="en-US" sz="3200" dirty="0"/>
          </a:p>
        </p:txBody>
      </p:sp>
      <p:sp>
        <p:nvSpPr>
          <p:cNvPr id="4" name="Text 2"/>
          <p:cNvSpPr/>
          <p:nvPr/>
        </p:nvSpPr>
        <p:spPr>
          <a:xfrm>
            <a:off x="640080" y="1600200"/>
            <a:ext cx="5394960" cy="4206240"/>
          </a:xfrm>
          <a:prstGeom prst="rect">
            <a:avLst/>
          </a:prstGeom>
          <a:noFill/>
        </p:spPr>
        <p:txBody>
          <a:bodyPr wrap="square" lIns="0" tIns="0" rIns="0" bIns="0" rtlCol="0" anchor="t"/>
          <a:lstStyle/>
          <a:p>
            <a:pPr marL="342900" indent="-342900">
              <a:lnSpc>
                <a:spcPct val="108000"/>
              </a:lnSpc>
              <a:spcAft>
                <a:spcPts val="15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VehicleData — reactive Q_PROPERTY model, single source of truth</a:t>
            </a:r>
            <a:endParaRPr lang="en-US" sz="1500" dirty="0"/>
          </a:p>
          <a:p>
            <a:pPr marL="342900" indent="-342900">
              <a:lnSpc>
                <a:spcPct val="108000"/>
              </a:lnSpc>
              <a:spcAft>
                <a:spcPts val="15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TelemetryParser / SerialManager — decode + own the UART link</a:t>
            </a:r>
            <a:endParaRPr lang="en-US" sz="1500" dirty="0"/>
          </a:p>
          <a:p>
            <a:pPr marL="342900" indent="-342900">
              <a:lnSpc>
                <a:spcPct val="108000"/>
              </a:lnSpc>
              <a:spcAft>
                <a:spcPts val="15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TelemetrySimulator — swaps in for hardware via IDataSource</a:t>
            </a:r>
            <a:endParaRPr lang="en-US" sz="1500" dirty="0"/>
          </a:p>
          <a:p>
            <a:pPr marL="342900" indent="-342900">
              <a:lnSpc>
                <a:spcPct val="108000"/>
              </a:lnSpc>
              <a:spcAft>
                <a:spcPts val="15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LocalMusicPlayer / SpotifyAPIManager / BluetoothManager — media</a:t>
            </a:r>
            <a:endParaRPr lang="en-US" sz="1500" dirty="0"/>
          </a:p>
          <a:p>
            <a:pPr marL="342900" indent="-342900">
              <a:lnSpc>
                <a:spcPct val="108000"/>
              </a:lnSpc>
              <a:spcAft>
                <a:spcPts val="15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Theme Engine (Colors/Typography/Theme.qml) — six-theme personalization</a:t>
            </a:r>
            <a:endParaRPr lang="en-US" sz="1500" dirty="0"/>
          </a:p>
        </p:txBody>
      </p:sp>
      <p:sp>
        <p:nvSpPr>
          <p:cNvPr id="5" name="Shape 3"/>
          <p:cNvSpPr/>
          <p:nvPr/>
        </p:nvSpPr>
        <p:spPr>
          <a:xfrm>
            <a:off x="8869680" y="2541118"/>
            <a:ext cx="0" cy="1162202"/>
          </a:xfrm>
          <a:prstGeom prst="line">
            <a:avLst/>
          </a:prstGeom>
          <a:noFill/>
          <a:ln w="15875">
            <a:solidFill>
              <a:srgbClr val="1F7A4C"/>
            </a:solidFill>
            <a:prstDash val="solid"/>
          </a:ln>
        </p:spPr>
      </p:sp>
      <p:sp>
        <p:nvSpPr>
          <p:cNvPr id="6" name="Shape 4"/>
          <p:cNvSpPr/>
          <p:nvPr/>
        </p:nvSpPr>
        <p:spPr>
          <a:xfrm flipV="1">
            <a:off x="9180332" y="3410711"/>
            <a:ext cx="823692" cy="287131"/>
          </a:xfrm>
          <a:prstGeom prst="line">
            <a:avLst/>
          </a:prstGeom>
          <a:noFill/>
          <a:ln w="15875">
            <a:solidFill>
              <a:srgbClr val="1F7A4C"/>
            </a:solidFill>
            <a:prstDash val="solid"/>
          </a:ln>
        </p:spPr>
      </p:sp>
      <p:sp>
        <p:nvSpPr>
          <p:cNvPr id="7" name="Shape 5"/>
          <p:cNvSpPr/>
          <p:nvPr/>
        </p:nvSpPr>
        <p:spPr>
          <a:xfrm>
            <a:off x="8869680" y="3703320"/>
            <a:ext cx="833080" cy="940241"/>
          </a:xfrm>
          <a:prstGeom prst="line">
            <a:avLst/>
          </a:prstGeom>
          <a:noFill/>
          <a:ln w="15875">
            <a:solidFill>
              <a:srgbClr val="1F7A4C"/>
            </a:solidFill>
            <a:prstDash val="solid"/>
          </a:ln>
        </p:spPr>
      </p:sp>
      <p:sp>
        <p:nvSpPr>
          <p:cNvPr id="8" name="Shape 6"/>
          <p:cNvSpPr/>
          <p:nvPr/>
        </p:nvSpPr>
        <p:spPr>
          <a:xfrm flipH="1">
            <a:off x="8256304" y="4088301"/>
            <a:ext cx="312113" cy="351550"/>
          </a:xfrm>
          <a:prstGeom prst="line">
            <a:avLst/>
          </a:prstGeom>
          <a:noFill/>
          <a:ln w="15875">
            <a:solidFill>
              <a:srgbClr val="1F7A4C"/>
            </a:solidFill>
            <a:prstDash val="solid"/>
          </a:ln>
        </p:spPr>
      </p:sp>
      <p:sp>
        <p:nvSpPr>
          <p:cNvPr id="9" name="Shape 7"/>
          <p:cNvSpPr/>
          <p:nvPr/>
        </p:nvSpPr>
        <p:spPr>
          <a:xfrm>
            <a:off x="7521729" y="3344180"/>
            <a:ext cx="1347951" cy="359140"/>
          </a:xfrm>
          <a:prstGeom prst="line">
            <a:avLst/>
          </a:prstGeom>
          <a:noFill/>
          <a:ln w="15875">
            <a:solidFill>
              <a:srgbClr val="1F7A4C"/>
            </a:solidFill>
            <a:prstDash val="solid"/>
          </a:ln>
        </p:spPr>
      </p:sp>
      <p:sp>
        <p:nvSpPr>
          <p:cNvPr id="10" name="Shape 8"/>
          <p:cNvSpPr/>
          <p:nvPr/>
        </p:nvSpPr>
        <p:spPr>
          <a:xfrm>
            <a:off x="8366760" y="3200400"/>
            <a:ext cx="1005840" cy="1005840"/>
          </a:xfrm>
          <a:prstGeom prst="ellipse">
            <a:avLst/>
          </a:prstGeom>
          <a:solidFill>
            <a:srgbClr val="1A2420"/>
          </a:solidFill>
          <a:ln w="12700">
            <a:solidFill>
              <a:srgbClr val="3DDC84"/>
            </a:solidFill>
            <a:prstDash val="solid"/>
          </a:ln>
        </p:spPr>
      </p:sp>
      <p:pic>
        <p:nvPicPr>
          <p:cNvPr id="11" name="Image 0" descr="preencoded.png"/>
          <p:cNvPicPr>
            <a:picLocks noChangeAspect="1"/>
          </p:cNvPicPr>
          <p:nvPr/>
        </p:nvPicPr>
        <p:blipFill>
          <a:blip r:embed="rId1"/>
          <a:stretch>
            <a:fillRect/>
          </a:stretch>
        </p:blipFill>
        <p:spPr>
          <a:xfrm>
            <a:off x="8546438" y="3385557"/>
            <a:ext cx="646481" cy="646481"/>
          </a:xfrm>
          <a:prstGeom prst="rect">
            <a:avLst/>
          </a:prstGeom>
        </p:spPr>
      </p:pic>
      <p:sp>
        <p:nvSpPr>
          <p:cNvPr id="12" name="Text 9"/>
          <p:cNvSpPr/>
          <p:nvPr/>
        </p:nvSpPr>
        <p:spPr>
          <a:xfrm>
            <a:off x="8183880" y="4270248"/>
            <a:ext cx="1371600" cy="274320"/>
          </a:xfrm>
          <a:prstGeom prst="rect">
            <a:avLst/>
          </a:prstGeom>
          <a:noFill/>
        </p:spPr>
        <p:txBody>
          <a:bodyPr wrap="square" lIns="0" tIns="0" rIns="0" bIns="0" rtlCol="0" anchor="t"/>
          <a:lstStyle/>
          <a:p>
            <a:pPr marL="0" indent="0" algn="ctr">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VehicleData</a:t>
            </a:r>
            <a:endParaRPr lang="en-US" sz="1100" dirty="0"/>
          </a:p>
        </p:txBody>
      </p:sp>
      <p:sp>
        <p:nvSpPr>
          <p:cNvPr id="13" name="Shape 10"/>
          <p:cNvSpPr/>
          <p:nvPr/>
        </p:nvSpPr>
        <p:spPr>
          <a:xfrm>
            <a:off x="8577072" y="2248510"/>
            <a:ext cx="585216" cy="585216"/>
          </a:xfrm>
          <a:prstGeom prst="ellipse">
            <a:avLst/>
          </a:prstGeom>
          <a:solidFill>
            <a:srgbClr val="16231C"/>
          </a:solidFill>
          <a:ln w="12700">
            <a:solidFill>
              <a:srgbClr val="1F7A4C"/>
            </a:solidFill>
            <a:prstDash val="solid"/>
          </a:ln>
        </p:spPr>
      </p:sp>
      <p:pic>
        <p:nvPicPr>
          <p:cNvPr id="14" name="Image 1" descr="preencoded.png"/>
          <p:cNvPicPr>
            <a:picLocks noChangeAspect="1"/>
          </p:cNvPicPr>
          <p:nvPr/>
        </p:nvPicPr>
        <p:blipFill>
          <a:blip r:embed="rId2"/>
          <a:stretch>
            <a:fillRect/>
          </a:stretch>
        </p:blipFill>
        <p:spPr>
          <a:xfrm>
            <a:off x="8653150" y="2324588"/>
            <a:ext cx="433060" cy="433060"/>
          </a:xfrm>
          <a:prstGeom prst="rect">
            <a:avLst/>
          </a:prstGeom>
        </p:spPr>
      </p:pic>
      <p:sp>
        <p:nvSpPr>
          <p:cNvPr id="15" name="Text 11"/>
          <p:cNvSpPr/>
          <p:nvPr/>
        </p:nvSpPr>
        <p:spPr>
          <a:xfrm>
            <a:off x="8183880" y="2057748"/>
            <a:ext cx="1371600" cy="274320"/>
          </a:xfrm>
          <a:prstGeom prst="rect">
            <a:avLst/>
          </a:prstGeom>
          <a:noFill/>
        </p:spPr>
        <p:txBody>
          <a:bodyPr wrap="square" lIns="0" tIns="0" rIns="0" bIns="0" rtlCol="0" anchor="t"/>
          <a:lstStyle/>
          <a:p>
            <a:pPr marL="0" indent="0" algn="ctr">
              <a:buNone/>
            </a:pPr>
            <a:r>
              <a:rPr lang="en-US" sz="950" dirty="0">
                <a:solidFill>
                  <a:srgbClr val="8CA69A"/>
                </a:solidFill>
                <a:latin typeface="Calibri" panose="020F0502020204030204" pitchFamily="34" charset="0"/>
                <a:ea typeface="Calibri" panose="020F0502020204030204" pitchFamily="34" charset="-122"/>
                <a:cs typeface="Calibri" panose="020F0502020204030204" pitchFamily="34" charset="-120"/>
              </a:rPr>
              <a:t>Parser / Serial</a:t>
            </a:r>
            <a:endParaRPr lang="en-US" sz="950" dirty="0"/>
          </a:p>
        </p:txBody>
      </p:sp>
      <p:sp>
        <p:nvSpPr>
          <p:cNvPr id="16" name="Shape 12"/>
          <p:cNvSpPr/>
          <p:nvPr/>
        </p:nvSpPr>
        <p:spPr>
          <a:xfrm>
            <a:off x="9948671" y="3047320"/>
            <a:ext cx="585216" cy="585216"/>
          </a:xfrm>
          <a:prstGeom prst="ellipse">
            <a:avLst/>
          </a:prstGeom>
          <a:solidFill>
            <a:srgbClr val="16231C"/>
          </a:solidFill>
          <a:ln w="12700">
            <a:solidFill>
              <a:srgbClr val="1F7A4C"/>
            </a:solidFill>
            <a:prstDash val="solid"/>
          </a:ln>
        </p:spPr>
      </p:sp>
      <p:pic>
        <p:nvPicPr>
          <p:cNvPr id="17" name="Image 2" descr="preencoded.png"/>
          <p:cNvPicPr>
            <a:picLocks noChangeAspect="1"/>
          </p:cNvPicPr>
          <p:nvPr/>
        </p:nvPicPr>
        <p:blipFill>
          <a:blip r:embed="rId3"/>
          <a:stretch>
            <a:fillRect/>
          </a:stretch>
        </p:blipFill>
        <p:spPr>
          <a:xfrm>
            <a:off x="10024750" y="3123398"/>
            <a:ext cx="433060" cy="433060"/>
          </a:xfrm>
          <a:prstGeom prst="rect">
            <a:avLst/>
          </a:prstGeom>
        </p:spPr>
      </p:pic>
      <p:sp>
        <p:nvSpPr>
          <p:cNvPr id="18" name="Text 13"/>
          <p:cNvSpPr/>
          <p:nvPr/>
        </p:nvSpPr>
        <p:spPr>
          <a:xfrm>
            <a:off x="9583156" y="3691652"/>
            <a:ext cx="1371600" cy="274320"/>
          </a:xfrm>
          <a:prstGeom prst="rect">
            <a:avLst/>
          </a:prstGeom>
          <a:noFill/>
        </p:spPr>
        <p:txBody>
          <a:bodyPr wrap="square" lIns="0" tIns="0" rIns="0" bIns="0" rtlCol="0" anchor="t"/>
          <a:lstStyle/>
          <a:p>
            <a:pPr marL="0" indent="0" algn="ctr">
              <a:buNone/>
            </a:pPr>
            <a:r>
              <a:rPr lang="en-US" sz="950" dirty="0">
                <a:solidFill>
                  <a:srgbClr val="8CA69A"/>
                </a:solidFill>
                <a:latin typeface="Calibri" panose="020F0502020204030204" pitchFamily="34" charset="0"/>
                <a:ea typeface="Calibri" panose="020F0502020204030204" pitchFamily="34" charset="-122"/>
                <a:cs typeface="Calibri" panose="020F0502020204030204" pitchFamily="34" charset="-120"/>
              </a:rPr>
              <a:t>Simulator</a:t>
            </a:r>
            <a:endParaRPr lang="en-US" sz="950" dirty="0"/>
          </a:p>
        </p:txBody>
      </p:sp>
      <p:sp>
        <p:nvSpPr>
          <p:cNvPr id="19" name="Shape 14"/>
          <p:cNvSpPr/>
          <p:nvPr/>
        </p:nvSpPr>
        <p:spPr>
          <a:xfrm>
            <a:off x="9410152" y="4350953"/>
            <a:ext cx="585216" cy="585216"/>
          </a:xfrm>
          <a:prstGeom prst="ellipse">
            <a:avLst/>
          </a:prstGeom>
          <a:solidFill>
            <a:srgbClr val="16231C"/>
          </a:solidFill>
          <a:ln w="12700">
            <a:solidFill>
              <a:srgbClr val="1F7A4C"/>
            </a:solidFill>
            <a:prstDash val="solid"/>
          </a:ln>
        </p:spPr>
      </p:sp>
      <p:pic>
        <p:nvPicPr>
          <p:cNvPr id="20" name="Image 3" descr="preencoded.png"/>
          <p:cNvPicPr>
            <a:picLocks noChangeAspect="1"/>
          </p:cNvPicPr>
          <p:nvPr/>
        </p:nvPicPr>
        <p:blipFill>
          <a:blip r:embed="rId4"/>
          <a:stretch>
            <a:fillRect/>
          </a:stretch>
        </p:blipFill>
        <p:spPr>
          <a:xfrm>
            <a:off x="9486230" y="4432690"/>
            <a:ext cx="370513" cy="370513"/>
          </a:xfrm>
          <a:prstGeom prst="rect">
            <a:avLst/>
          </a:prstGeom>
        </p:spPr>
      </p:pic>
      <p:sp>
        <p:nvSpPr>
          <p:cNvPr id="21" name="Text 15"/>
          <p:cNvSpPr/>
          <p:nvPr/>
        </p:nvSpPr>
        <p:spPr>
          <a:xfrm>
            <a:off x="9016960" y="4991033"/>
            <a:ext cx="1371600" cy="274320"/>
          </a:xfrm>
          <a:prstGeom prst="rect">
            <a:avLst/>
          </a:prstGeom>
          <a:noFill/>
        </p:spPr>
        <p:txBody>
          <a:bodyPr wrap="square" lIns="0" tIns="0" rIns="0" bIns="0" rtlCol="0" anchor="t"/>
          <a:lstStyle/>
          <a:p>
            <a:pPr marL="0" indent="0" algn="ctr">
              <a:buNone/>
            </a:pPr>
            <a:r>
              <a:rPr lang="en-US" sz="950" dirty="0">
                <a:solidFill>
                  <a:srgbClr val="8CA69A"/>
                </a:solidFill>
                <a:latin typeface="Calibri" panose="020F0502020204030204" pitchFamily="34" charset="0"/>
                <a:ea typeface="Calibri" panose="020F0502020204030204" pitchFamily="34" charset="-122"/>
                <a:cs typeface="Calibri" panose="020F0502020204030204" pitchFamily="34" charset="-120"/>
              </a:rPr>
              <a:t>Music</a:t>
            </a:r>
            <a:endParaRPr lang="en-US" sz="950" dirty="0"/>
          </a:p>
        </p:txBody>
      </p:sp>
      <p:sp>
        <p:nvSpPr>
          <p:cNvPr id="22" name="Shape 16"/>
          <p:cNvSpPr/>
          <p:nvPr/>
        </p:nvSpPr>
        <p:spPr>
          <a:xfrm>
            <a:off x="7743992" y="4350953"/>
            <a:ext cx="585216" cy="585216"/>
          </a:xfrm>
          <a:prstGeom prst="ellipse">
            <a:avLst/>
          </a:prstGeom>
          <a:solidFill>
            <a:srgbClr val="16231C"/>
          </a:solidFill>
          <a:ln w="12700">
            <a:solidFill>
              <a:srgbClr val="1F7A4C"/>
            </a:solidFill>
            <a:prstDash val="solid"/>
          </a:ln>
        </p:spPr>
      </p:sp>
      <p:pic>
        <p:nvPicPr>
          <p:cNvPr id="23" name="Image 4" descr="preencoded.png"/>
          <p:cNvPicPr>
            <a:picLocks noChangeAspect="1"/>
          </p:cNvPicPr>
          <p:nvPr/>
        </p:nvPicPr>
        <p:blipFill>
          <a:blip r:embed="rId5"/>
          <a:stretch>
            <a:fillRect/>
          </a:stretch>
        </p:blipFill>
        <p:spPr>
          <a:xfrm>
            <a:off x="7820070" y="4427032"/>
            <a:ext cx="433060" cy="433060"/>
          </a:xfrm>
          <a:prstGeom prst="rect">
            <a:avLst/>
          </a:prstGeom>
        </p:spPr>
      </p:pic>
      <p:sp>
        <p:nvSpPr>
          <p:cNvPr id="24" name="Text 17"/>
          <p:cNvSpPr/>
          <p:nvPr/>
        </p:nvSpPr>
        <p:spPr>
          <a:xfrm>
            <a:off x="7350800" y="4991033"/>
            <a:ext cx="1371600" cy="274320"/>
          </a:xfrm>
          <a:prstGeom prst="rect">
            <a:avLst/>
          </a:prstGeom>
          <a:noFill/>
        </p:spPr>
        <p:txBody>
          <a:bodyPr wrap="square" lIns="0" tIns="0" rIns="0" bIns="0" rtlCol="0" anchor="t"/>
          <a:lstStyle/>
          <a:p>
            <a:pPr marL="0" indent="0" algn="ctr">
              <a:buNone/>
            </a:pPr>
            <a:r>
              <a:rPr lang="en-US" sz="950" dirty="0">
                <a:solidFill>
                  <a:srgbClr val="8CA69A"/>
                </a:solidFill>
                <a:latin typeface="Calibri" panose="020F0502020204030204" pitchFamily="34" charset="0"/>
                <a:ea typeface="Calibri" panose="020F0502020204030204" pitchFamily="34" charset="-122"/>
                <a:cs typeface="Calibri" panose="020F0502020204030204" pitchFamily="34" charset="-120"/>
              </a:rPr>
              <a:t>Bluetooth</a:t>
            </a:r>
            <a:endParaRPr lang="en-US" sz="950" dirty="0"/>
          </a:p>
        </p:txBody>
      </p:sp>
      <p:sp>
        <p:nvSpPr>
          <p:cNvPr id="25" name="Shape 18"/>
          <p:cNvSpPr/>
          <p:nvPr/>
        </p:nvSpPr>
        <p:spPr>
          <a:xfrm>
            <a:off x="7229121" y="3051572"/>
            <a:ext cx="585216" cy="585216"/>
          </a:xfrm>
          <a:prstGeom prst="ellipse">
            <a:avLst/>
          </a:prstGeom>
          <a:solidFill>
            <a:srgbClr val="16231C"/>
          </a:solidFill>
          <a:ln w="12700">
            <a:solidFill>
              <a:srgbClr val="1F7A4C"/>
            </a:solidFill>
            <a:prstDash val="solid"/>
          </a:ln>
        </p:spPr>
      </p:sp>
      <p:pic>
        <p:nvPicPr>
          <p:cNvPr id="26" name="Image 5" descr="preencoded.png"/>
          <p:cNvPicPr>
            <a:picLocks noChangeAspect="1"/>
          </p:cNvPicPr>
          <p:nvPr/>
        </p:nvPicPr>
        <p:blipFill>
          <a:blip r:embed="rId6"/>
          <a:stretch>
            <a:fillRect/>
          </a:stretch>
        </p:blipFill>
        <p:spPr>
          <a:xfrm>
            <a:off x="7305199" y="3127650"/>
            <a:ext cx="433060" cy="433060"/>
          </a:xfrm>
          <a:prstGeom prst="rect">
            <a:avLst/>
          </a:prstGeom>
        </p:spPr>
      </p:pic>
      <p:sp>
        <p:nvSpPr>
          <p:cNvPr id="27" name="Text 19"/>
          <p:cNvSpPr/>
          <p:nvPr/>
        </p:nvSpPr>
        <p:spPr>
          <a:xfrm>
            <a:off x="6835929" y="3691652"/>
            <a:ext cx="1371600" cy="274320"/>
          </a:xfrm>
          <a:prstGeom prst="rect">
            <a:avLst/>
          </a:prstGeom>
          <a:noFill/>
        </p:spPr>
        <p:txBody>
          <a:bodyPr wrap="square" lIns="0" tIns="0" rIns="0" bIns="0" rtlCol="0" anchor="t"/>
          <a:lstStyle/>
          <a:p>
            <a:pPr marL="0" indent="0" algn="ctr">
              <a:buNone/>
            </a:pPr>
            <a:r>
              <a:rPr lang="en-US" sz="950" dirty="0">
                <a:solidFill>
                  <a:srgbClr val="8CA69A"/>
                </a:solidFill>
                <a:latin typeface="Calibri" panose="020F0502020204030204" pitchFamily="34" charset="0"/>
                <a:ea typeface="Calibri" panose="020F0502020204030204" pitchFamily="34" charset="-122"/>
                <a:cs typeface="Calibri" panose="020F0502020204030204" pitchFamily="34" charset="-120"/>
              </a:rPr>
              <a:t>Theme Engine</a:t>
            </a:r>
            <a:endParaRPr lang="en-US" sz="950" dirty="0"/>
          </a:p>
        </p:txBody>
      </p:sp>
      <p:sp>
        <p:nvSpPr>
          <p:cNvPr id="28" name="Text 20"/>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DRIVER VIEW</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Dashboard Features — Home</a:t>
            </a:r>
            <a:endParaRPr lang="en-US" sz="3200" dirty="0"/>
          </a:p>
        </p:txBody>
      </p:sp>
      <p:sp>
        <p:nvSpPr>
          <p:cNvPr id="4" name="Shape 2"/>
          <p:cNvSpPr/>
          <p:nvPr/>
        </p:nvSpPr>
        <p:spPr>
          <a:xfrm>
            <a:off x="640080" y="1600200"/>
            <a:ext cx="6492240" cy="4434840"/>
          </a:xfrm>
          <a:prstGeom prst="roundRect">
            <a:avLst>
              <a:gd name="adj" fmla="val 1649"/>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8" name="Text 5"/>
          <p:cNvSpPr/>
          <p:nvPr/>
        </p:nvSpPr>
        <p:spPr>
          <a:xfrm>
            <a:off x="914400" y="4229100"/>
            <a:ext cx="5943600" cy="365760"/>
          </a:xfrm>
          <a:prstGeom prst="rect">
            <a:avLst/>
          </a:prstGeom>
          <a:noFill/>
        </p:spPr>
        <p:txBody>
          <a:bodyPr wrap="square" lIns="0" tIns="0" rIns="0" bIns="0" rtlCol="0" anchor="t"/>
          <a:lstStyle/>
          <a:p>
            <a:pPr marL="0" indent="0" algn="ctr">
              <a:buNone/>
            </a:pPr>
            <a:endParaRPr lang="en-US" sz="1100" dirty="0"/>
          </a:p>
        </p:txBody>
      </p:sp>
      <p:sp>
        <p:nvSpPr>
          <p:cNvPr id="9" name="Shape 6"/>
          <p:cNvSpPr/>
          <p:nvPr/>
        </p:nvSpPr>
        <p:spPr>
          <a:xfrm>
            <a:off x="7452360" y="1645920"/>
            <a:ext cx="502920" cy="502920"/>
          </a:xfrm>
          <a:prstGeom prst="ellipse">
            <a:avLst/>
          </a:prstGeom>
          <a:solidFill>
            <a:srgbClr val="16231C"/>
          </a:solidFill>
          <a:ln w="12700">
            <a:solidFill>
              <a:srgbClr val="1F7A4C"/>
            </a:solidFill>
            <a:prstDash val="solid"/>
          </a:ln>
        </p:spPr>
      </p:sp>
      <p:pic>
        <p:nvPicPr>
          <p:cNvPr id="10" name="Image 1" descr="preencoded.png"/>
          <p:cNvPicPr>
            <a:picLocks noChangeAspect="1"/>
          </p:cNvPicPr>
          <p:nvPr/>
        </p:nvPicPr>
        <p:blipFill>
          <a:blip r:embed="rId1"/>
          <a:stretch>
            <a:fillRect/>
          </a:stretch>
        </p:blipFill>
        <p:spPr>
          <a:xfrm>
            <a:off x="7517740" y="1711300"/>
            <a:ext cx="372161" cy="372161"/>
          </a:xfrm>
          <a:prstGeom prst="rect">
            <a:avLst/>
          </a:prstGeom>
        </p:spPr>
      </p:pic>
      <p:sp>
        <p:nvSpPr>
          <p:cNvPr id="11" name="Text 7"/>
          <p:cNvSpPr/>
          <p:nvPr/>
        </p:nvSpPr>
        <p:spPr>
          <a:xfrm>
            <a:off x="8092440" y="162763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Speedometer</a:t>
            </a:r>
            <a:endParaRPr lang="en-US" sz="1400" dirty="0"/>
          </a:p>
        </p:txBody>
      </p:sp>
      <p:sp>
        <p:nvSpPr>
          <p:cNvPr id="12" name="Text 8"/>
          <p:cNvSpPr/>
          <p:nvPr/>
        </p:nvSpPr>
        <p:spPr>
          <a:xfrm>
            <a:off x="8092440" y="190195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Analog arc + digital RPM, one bound property</a:t>
            </a:r>
            <a:endParaRPr lang="en-US" sz="1050" dirty="0"/>
          </a:p>
        </p:txBody>
      </p:sp>
      <p:sp>
        <p:nvSpPr>
          <p:cNvPr id="13" name="Shape 9"/>
          <p:cNvSpPr/>
          <p:nvPr/>
        </p:nvSpPr>
        <p:spPr>
          <a:xfrm>
            <a:off x="7452360" y="2697480"/>
            <a:ext cx="502920" cy="502920"/>
          </a:xfrm>
          <a:prstGeom prst="ellipse">
            <a:avLst/>
          </a:prstGeom>
          <a:solidFill>
            <a:srgbClr val="16231C"/>
          </a:solidFill>
          <a:ln w="12700">
            <a:solidFill>
              <a:srgbClr val="1F7A4C"/>
            </a:solidFill>
            <a:prstDash val="solid"/>
          </a:ln>
        </p:spPr>
      </p:sp>
      <p:pic>
        <p:nvPicPr>
          <p:cNvPr id="14" name="Image 2" descr="preencoded.png"/>
          <p:cNvPicPr>
            <a:picLocks noChangeAspect="1"/>
          </p:cNvPicPr>
          <p:nvPr/>
        </p:nvPicPr>
        <p:blipFill>
          <a:blip r:embed="rId2"/>
          <a:stretch>
            <a:fillRect/>
          </a:stretch>
        </p:blipFill>
        <p:spPr>
          <a:xfrm>
            <a:off x="7517740" y="2762860"/>
            <a:ext cx="372161" cy="372161"/>
          </a:xfrm>
          <a:prstGeom prst="rect">
            <a:avLst/>
          </a:prstGeom>
        </p:spPr>
      </p:pic>
      <p:sp>
        <p:nvSpPr>
          <p:cNvPr id="15" name="Text 10"/>
          <p:cNvSpPr/>
          <p:nvPr/>
        </p:nvSpPr>
        <p:spPr>
          <a:xfrm>
            <a:off x="8092440" y="267919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Battery</a:t>
            </a:r>
            <a:endParaRPr lang="en-US" sz="1400" dirty="0"/>
          </a:p>
        </p:txBody>
      </p:sp>
      <p:sp>
        <p:nvSpPr>
          <p:cNvPr id="16" name="Text 11"/>
          <p:cNvSpPr/>
          <p:nvPr/>
        </p:nvSpPr>
        <p:spPr>
          <a:xfrm>
            <a:off x="8092440" y="295351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SoC, range, temperature panel</a:t>
            </a:r>
            <a:endParaRPr lang="en-US" sz="1050" dirty="0"/>
          </a:p>
        </p:txBody>
      </p:sp>
      <p:sp>
        <p:nvSpPr>
          <p:cNvPr id="17" name="Shape 12"/>
          <p:cNvSpPr/>
          <p:nvPr/>
        </p:nvSpPr>
        <p:spPr>
          <a:xfrm>
            <a:off x="7452360" y="3749040"/>
            <a:ext cx="502920" cy="502920"/>
          </a:xfrm>
          <a:prstGeom prst="ellipse">
            <a:avLst/>
          </a:prstGeom>
          <a:solidFill>
            <a:srgbClr val="16231C"/>
          </a:solidFill>
          <a:ln w="12700">
            <a:solidFill>
              <a:srgbClr val="1F7A4C"/>
            </a:solidFill>
            <a:prstDash val="solid"/>
          </a:ln>
        </p:spPr>
      </p:sp>
      <p:pic>
        <p:nvPicPr>
          <p:cNvPr id="18" name="Image 3" descr="preencoded.png"/>
          <p:cNvPicPr>
            <a:picLocks noChangeAspect="1"/>
          </p:cNvPicPr>
          <p:nvPr/>
        </p:nvPicPr>
        <p:blipFill>
          <a:blip r:embed="rId3"/>
          <a:stretch>
            <a:fillRect/>
          </a:stretch>
        </p:blipFill>
        <p:spPr>
          <a:xfrm>
            <a:off x="7517740" y="3814420"/>
            <a:ext cx="372161" cy="372161"/>
          </a:xfrm>
          <a:prstGeom prst="rect">
            <a:avLst/>
          </a:prstGeom>
        </p:spPr>
      </p:pic>
      <p:sp>
        <p:nvSpPr>
          <p:cNvPr id="19" name="Text 13"/>
          <p:cNvSpPr/>
          <p:nvPr/>
        </p:nvSpPr>
        <p:spPr>
          <a:xfrm>
            <a:off x="8092440" y="373075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Drive Mode</a:t>
            </a:r>
            <a:endParaRPr lang="en-US" sz="1400" dirty="0"/>
          </a:p>
        </p:txBody>
      </p:sp>
      <p:sp>
        <p:nvSpPr>
          <p:cNvPr id="20" name="Text 14"/>
          <p:cNvSpPr/>
          <p:nvPr/>
        </p:nvSpPr>
        <p:spPr>
          <a:xfrm>
            <a:off x="8092440" y="400507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ECO / CITY / SPORT selector</a:t>
            </a:r>
            <a:endParaRPr lang="en-US" sz="1050" dirty="0"/>
          </a:p>
        </p:txBody>
      </p:sp>
      <p:sp>
        <p:nvSpPr>
          <p:cNvPr id="21" name="Shape 15"/>
          <p:cNvSpPr/>
          <p:nvPr/>
        </p:nvSpPr>
        <p:spPr>
          <a:xfrm>
            <a:off x="7452360" y="4800600"/>
            <a:ext cx="502920" cy="502920"/>
          </a:xfrm>
          <a:prstGeom prst="ellipse">
            <a:avLst/>
          </a:prstGeom>
          <a:solidFill>
            <a:srgbClr val="16231C"/>
          </a:solidFill>
          <a:ln w="12700">
            <a:solidFill>
              <a:srgbClr val="1F7A4C"/>
            </a:solidFill>
            <a:prstDash val="solid"/>
          </a:ln>
        </p:spPr>
      </p:sp>
      <p:pic>
        <p:nvPicPr>
          <p:cNvPr id="22" name="Image 4" descr="preencoded.png"/>
          <p:cNvPicPr>
            <a:picLocks noChangeAspect="1"/>
          </p:cNvPicPr>
          <p:nvPr/>
        </p:nvPicPr>
        <p:blipFill>
          <a:blip r:embed="rId4"/>
          <a:stretch>
            <a:fillRect/>
          </a:stretch>
        </p:blipFill>
        <p:spPr>
          <a:xfrm>
            <a:off x="7517740" y="4865980"/>
            <a:ext cx="372161" cy="372161"/>
          </a:xfrm>
          <a:prstGeom prst="rect">
            <a:avLst/>
          </a:prstGeom>
        </p:spPr>
      </p:pic>
      <p:sp>
        <p:nvSpPr>
          <p:cNvPr id="23" name="Text 16"/>
          <p:cNvSpPr/>
          <p:nvPr/>
        </p:nvSpPr>
        <p:spPr>
          <a:xfrm>
            <a:off x="8092440" y="478231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Indicators</a:t>
            </a:r>
            <a:endParaRPr lang="en-US" sz="1400" dirty="0"/>
          </a:p>
        </p:txBody>
      </p:sp>
      <p:sp>
        <p:nvSpPr>
          <p:cNvPr id="24" name="Text 17"/>
          <p:cNvSpPr/>
          <p:nvPr/>
        </p:nvSpPr>
        <p:spPr>
          <a:xfrm>
            <a:off x="8092440" y="505663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PRND · turn signals · hazards · brake</a:t>
            </a:r>
            <a:endParaRPr lang="en-US" sz="1050" dirty="0"/>
          </a:p>
        </p:txBody>
      </p:sp>
      <p:sp>
        <p:nvSpPr>
          <p:cNvPr id="25" name="Text 18"/>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07</a:t>
            </a:r>
            <a:endParaRPr lang="en-US" sz="1000" dirty="0"/>
          </a:p>
        </p:txBody>
      </p:sp>
      <p:pic>
        <p:nvPicPr>
          <p:cNvPr id="27" name="Picture 26"/>
          <p:cNvPicPr>
            <a:picLocks noChangeAspect="1"/>
          </p:cNvPicPr>
          <p:nvPr/>
        </p:nvPicPr>
        <p:blipFill>
          <a:blip r:embed="rId5"/>
          <a:srcRect l="153"/>
          <a:stretch>
            <a:fillRect/>
          </a:stretch>
        </p:blipFill>
        <p:spPr>
          <a:xfrm>
            <a:off x="788670" y="1734185"/>
            <a:ext cx="6203950" cy="4160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DRIVER VIEW</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Music System</a:t>
            </a:r>
            <a:endParaRPr lang="en-US" sz="3200" dirty="0"/>
          </a:p>
        </p:txBody>
      </p:sp>
      <p:sp>
        <p:nvSpPr>
          <p:cNvPr id="4" name="Shape 2"/>
          <p:cNvSpPr/>
          <p:nvPr/>
        </p:nvSpPr>
        <p:spPr>
          <a:xfrm>
            <a:off x="640080" y="1600200"/>
            <a:ext cx="6492240" cy="4434840"/>
          </a:xfrm>
          <a:prstGeom prst="roundRect">
            <a:avLst>
              <a:gd name="adj" fmla="val 1649"/>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8" name="Text 5"/>
          <p:cNvSpPr/>
          <p:nvPr/>
        </p:nvSpPr>
        <p:spPr>
          <a:xfrm>
            <a:off x="914400" y="4229100"/>
            <a:ext cx="5943600" cy="365760"/>
          </a:xfrm>
          <a:prstGeom prst="rect">
            <a:avLst/>
          </a:prstGeom>
          <a:noFill/>
        </p:spPr>
        <p:txBody>
          <a:bodyPr wrap="square" lIns="0" tIns="0" rIns="0" bIns="0" rtlCol="0" anchor="t"/>
          <a:lstStyle/>
          <a:p>
            <a:pPr marL="0" indent="0" algn="ctr">
              <a:buNone/>
            </a:pPr>
            <a:endParaRPr lang="en-US" sz="1100" dirty="0"/>
          </a:p>
        </p:txBody>
      </p:sp>
      <p:sp>
        <p:nvSpPr>
          <p:cNvPr id="9" name="Shape 6"/>
          <p:cNvSpPr/>
          <p:nvPr/>
        </p:nvSpPr>
        <p:spPr>
          <a:xfrm>
            <a:off x="7452360" y="1645920"/>
            <a:ext cx="502920" cy="502920"/>
          </a:xfrm>
          <a:prstGeom prst="ellipse">
            <a:avLst/>
          </a:prstGeom>
          <a:solidFill>
            <a:srgbClr val="16231C"/>
          </a:solidFill>
          <a:ln w="12700">
            <a:solidFill>
              <a:srgbClr val="1F7A4C"/>
            </a:solidFill>
            <a:prstDash val="solid"/>
          </a:ln>
        </p:spPr>
      </p:sp>
      <p:pic>
        <p:nvPicPr>
          <p:cNvPr id="10" name="Image 1" descr="preencoded.png"/>
          <p:cNvPicPr>
            <a:picLocks noChangeAspect="1"/>
          </p:cNvPicPr>
          <p:nvPr/>
        </p:nvPicPr>
        <p:blipFill>
          <a:blip r:embed="rId1"/>
          <a:stretch>
            <a:fillRect/>
          </a:stretch>
        </p:blipFill>
        <p:spPr>
          <a:xfrm>
            <a:off x="7517740" y="1711300"/>
            <a:ext cx="372161" cy="372161"/>
          </a:xfrm>
          <a:prstGeom prst="rect">
            <a:avLst/>
          </a:prstGeom>
        </p:spPr>
      </p:pic>
      <p:sp>
        <p:nvSpPr>
          <p:cNvPr id="11" name="Text 7"/>
          <p:cNvSpPr/>
          <p:nvPr/>
        </p:nvSpPr>
        <p:spPr>
          <a:xfrm>
            <a:off x="8092440" y="162763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Spotify + Local</a:t>
            </a:r>
            <a:endParaRPr lang="en-US" sz="1400" dirty="0"/>
          </a:p>
        </p:txBody>
      </p:sp>
      <p:sp>
        <p:nvSpPr>
          <p:cNvPr id="12" name="Text 8"/>
          <p:cNvSpPr/>
          <p:nvPr/>
        </p:nvSpPr>
        <p:spPr>
          <a:xfrm>
            <a:off x="8092440" y="190195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Tabbed interface, one shared property contract</a:t>
            </a:r>
            <a:endParaRPr lang="en-US" sz="1050" dirty="0"/>
          </a:p>
        </p:txBody>
      </p:sp>
      <p:sp>
        <p:nvSpPr>
          <p:cNvPr id="13" name="Shape 9"/>
          <p:cNvSpPr/>
          <p:nvPr/>
        </p:nvSpPr>
        <p:spPr>
          <a:xfrm>
            <a:off x="7452360" y="2697480"/>
            <a:ext cx="502920" cy="502920"/>
          </a:xfrm>
          <a:prstGeom prst="ellipse">
            <a:avLst/>
          </a:prstGeom>
          <a:solidFill>
            <a:srgbClr val="16231C"/>
          </a:solidFill>
          <a:ln w="12700">
            <a:solidFill>
              <a:srgbClr val="1F7A4C"/>
            </a:solidFill>
            <a:prstDash val="solid"/>
          </a:ln>
        </p:spPr>
      </p:sp>
      <p:pic>
        <p:nvPicPr>
          <p:cNvPr id="14" name="Image 2" descr="preencoded.png"/>
          <p:cNvPicPr>
            <a:picLocks noChangeAspect="1"/>
          </p:cNvPicPr>
          <p:nvPr/>
        </p:nvPicPr>
        <p:blipFill>
          <a:blip r:embed="rId2"/>
          <a:stretch>
            <a:fillRect/>
          </a:stretch>
        </p:blipFill>
        <p:spPr>
          <a:xfrm>
            <a:off x="7517740" y="2762860"/>
            <a:ext cx="372161" cy="372161"/>
          </a:xfrm>
          <a:prstGeom prst="rect">
            <a:avLst/>
          </a:prstGeom>
        </p:spPr>
      </p:pic>
      <p:sp>
        <p:nvSpPr>
          <p:cNvPr id="15" name="Text 10"/>
          <p:cNvSpPr/>
          <p:nvPr/>
        </p:nvSpPr>
        <p:spPr>
          <a:xfrm>
            <a:off x="8092440" y="267919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Synced Lyrics</a:t>
            </a:r>
            <a:endParaRPr lang="en-US" sz="1400" dirty="0"/>
          </a:p>
        </p:txBody>
      </p:sp>
      <p:sp>
        <p:nvSpPr>
          <p:cNvPr id="16" name="Text 11"/>
          <p:cNvSpPr/>
          <p:nvPr/>
        </p:nvSpPr>
        <p:spPr>
          <a:xfrm>
            <a:off x="8092440" y="295351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Teleprompter-style, centered highlight line</a:t>
            </a:r>
            <a:endParaRPr lang="en-US" sz="1050" dirty="0"/>
          </a:p>
        </p:txBody>
      </p:sp>
      <p:sp>
        <p:nvSpPr>
          <p:cNvPr id="17" name="Shape 12"/>
          <p:cNvSpPr/>
          <p:nvPr/>
        </p:nvSpPr>
        <p:spPr>
          <a:xfrm>
            <a:off x="7452360" y="3749040"/>
            <a:ext cx="502920" cy="502920"/>
          </a:xfrm>
          <a:prstGeom prst="ellipse">
            <a:avLst/>
          </a:prstGeom>
          <a:solidFill>
            <a:srgbClr val="16231C"/>
          </a:solidFill>
          <a:ln w="12700">
            <a:solidFill>
              <a:srgbClr val="1F7A4C"/>
            </a:solidFill>
            <a:prstDash val="solid"/>
          </a:ln>
        </p:spPr>
      </p:sp>
      <p:pic>
        <p:nvPicPr>
          <p:cNvPr id="18" name="Image 3" descr="preencoded.png"/>
          <p:cNvPicPr>
            <a:picLocks noChangeAspect="1"/>
          </p:cNvPicPr>
          <p:nvPr/>
        </p:nvPicPr>
        <p:blipFill>
          <a:blip r:embed="rId3"/>
          <a:stretch>
            <a:fillRect/>
          </a:stretch>
        </p:blipFill>
        <p:spPr>
          <a:xfrm>
            <a:off x="7517740" y="3814420"/>
            <a:ext cx="372161" cy="372161"/>
          </a:xfrm>
          <a:prstGeom prst="rect">
            <a:avLst/>
          </a:prstGeom>
        </p:spPr>
      </p:pic>
      <p:sp>
        <p:nvSpPr>
          <p:cNvPr id="19" name="Text 13"/>
          <p:cNvSpPr/>
          <p:nvPr/>
        </p:nvSpPr>
        <p:spPr>
          <a:xfrm>
            <a:off x="8092440" y="373075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Bluetooth</a:t>
            </a:r>
            <a:endParaRPr lang="en-US" sz="1400" dirty="0"/>
          </a:p>
        </p:txBody>
      </p:sp>
      <p:sp>
        <p:nvSpPr>
          <p:cNvPr id="20" name="Text 14"/>
          <p:cNvSpPr/>
          <p:nvPr/>
        </p:nvSpPr>
        <p:spPr>
          <a:xfrm>
            <a:off x="8092440" y="400507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Pairing, device + battery status</a:t>
            </a:r>
            <a:endParaRPr lang="en-US" sz="1050" dirty="0"/>
          </a:p>
        </p:txBody>
      </p:sp>
      <p:sp>
        <p:nvSpPr>
          <p:cNvPr id="21" name="Shape 15"/>
          <p:cNvSpPr/>
          <p:nvPr/>
        </p:nvSpPr>
        <p:spPr>
          <a:xfrm>
            <a:off x="7452360" y="4800600"/>
            <a:ext cx="502920" cy="502920"/>
          </a:xfrm>
          <a:prstGeom prst="ellipse">
            <a:avLst/>
          </a:prstGeom>
          <a:solidFill>
            <a:srgbClr val="16231C"/>
          </a:solidFill>
          <a:ln w="12700">
            <a:solidFill>
              <a:srgbClr val="1F7A4C"/>
            </a:solidFill>
            <a:prstDash val="solid"/>
          </a:ln>
        </p:spPr>
      </p:sp>
      <p:pic>
        <p:nvPicPr>
          <p:cNvPr id="22" name="Image 4" descr="preencoded.png"/>
          <p:cNvPicPr>
            <a:picLocks noChangeAspect="1"/>
          </p:cNvPicPr>
          <p:nvPr/>
        </p:nvPicPr>
        <p:blipFill>
          <a:blip r:embed="rId4"/>
          <a:stretch>
            <a:fillRect/>
          </a:stretch>
        </p:blipFill>
        <p:spPr>
          <a:xfrm>
            <a:off x="7517740" y="4865980"/>
            <a:ext cx="372161" cy="372161"/>
          </a:xfrm>
          <a:prstGeom prst="rect">
            <a:avLst/>
          </a:prstGeom>
        </p:spPr>
      </p:pic>
      <p:sp>
        <p:nvSpPr>
          <p:cNvPr id="23" name="Text 16"/>
          <p:cNvSpPr/>
          <p:nvPr/>
        </p:nvSpPr>
        <p:spPr>
          <a:xfrm>
            <a:off x="8092440" y="478231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Media Hub</a:t>
            </a:r>
            <a:endParaRPr lang="en-US" sz="1400" dirty="0"/>
          </a:p>
        </p:txBody>
      </p:sp>
      <p:sp>
        <p:nvSpPr>
          <p:cNvPr id="24" name="Text 17"/>
          <p:cNvSpPr/>
          <p:nvPr/>
        </p:nvSpPr>
        <p:spPr>
          <a:xfrm>
            <a:off x="8092440" y="505663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Volume, shuffle, repeat, queue</a:t>
            </a:r>
            <a:endParaRPr lang="en-US" sz="1050" dirty="0"/>
          </a:p>
        </p:txBody>
      </p:sp>
      <p:sp>
        <p:nvSpPr>
          <p:cNvPr id="25" name="Text 18"/>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08</a:t>
            </a:r>
            <a:endParaRPr lang="en-US" sz="1000" dirty="0"/>
          </a:p>
        </p:txBody>
      </p:sp>
      <p:pic>
        <p:nvPicPr>
          <p:cNvPr id="27" name="Picture 26"/>
          <p:cNvPicPr>
            <a:picLocks noChangeAspect="1"/>
          </p:cNvPicPr>
          <p:nvPr/>
        </p:nvPicPr>
        <p:blipFill>
          <a:blip r:embed="rId5"/>
          <a:srcRect l="255"/>
          <a:stretch>
            <a:fillRect/>
          </a:stretch>
        </p:blipFill>
        <p:spPr>
          <a:xfrm>
            <a:off x="788670" y="1741805"/>
            <a:ext cx="6210300" cy="4145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DRIVER VIEW</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System</a:t>
            </a:r>
            <a:r>
              <a:rPr lang="en-IN" alt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 Settings</a:t>
            </a:r>
            <a:endParaRPr lang="en-IN" alt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Shape 2"/>
          <p:cNvSpPr/>
          <p:nvPr/>
        </p:nvSpPr>
        <p:spPr>
          <a:xfrm>
            <a:off x="640080" y="1600200"/>
            <a:ext cx="6492240" cy="4434840"/>
          </a:xfrm>
          <a:prstGeom prst="roundRect">
            <a:avLst>
              <a:gd name="adj" fmla="val 1649"/>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8" name="Text 5"/>
          <p:cNvSpPr/>
          <p:nvPr/>
        </p:nvSpPr>
        <p:spPr>
          <a:xfrm>
            <a:off x="914400" y="4229100"/>
            <a:ext cx="5943600" cy="365760"/>
          </a:xfrm>
          <a:prstGeom prst="rect">
            <a:avLst/>
          </a:prstGeom>
          <a:noFill/>
        </p:spPr>
        <p:txBody>
          <a:bodyPr wrap="square" lIns="0" tIns="0" rIns="0" bIns="0" rtlCol="0" anchor="t"/>
          <a:lstStyle/>
          <a:p>
            <a:pPr marL="0" indent="0" algn="ctr">
              <a:buNone/>
            </a:pPr>
            <a:endParaRPr lang="en-US" sz="1100" dirty="0"/>
          </a:p>
        </p:txBody>
      </p:sp>
      <p:sp>
        <p:nvSpPr>
          <p:cNvPr id="9" name="Shape 6"/>
          <p:cNvSpPr/>
          <p:nvPr/>
        </p:nvSpPr>
        <p:spPr>
          <a:xfrm>
            <a:off x="7452360" y="2212975"/>
            <a:ext cx="502920" cy="502920"/>
          </a:xfrm>
          <a:prstGeom prst="ellipse">
            <a:avLst/>
          </a:prstGeom>
          <a:solidFill>
            <a:srgbClr val="16231C"/>
          </a:solidFill>
          <a:ln w="12700">
            <a:solidFill>
              <a:srgbClr val="1F7A4C"/>
            </a:solidFill>
            <a:prstDash val="solid"/>
          </a:ln>
        </p:spPr>
      </p:sp>
      <p:sp>
        <p:nvSpPr>
          <p:cNvPr id="11" name="Text 7"/>
          <p:cNvSpPr/>
          <p:nvPr/>
        </p:nvSpPr>
        <p:spPr>
          <a:xfrm>
            <a:off x="8092440" y="2194687"/>
            <a:ext cx="3566160" cy="292608"/>
          </a:xfrm>
          <a:prstGeom prst="rect">
            <a:avLst/>
          </a:prstGeom>
          <a:noFill/>
        </p:spPr>
        <p:txBody>
          <a:bodyPr wrap="square" lIns="0" tIns="0" rIns="0" bIns="0" rtlCol="0" anchor="ctr"/>
          <a:lstStyle/>
          <a:p>
            <a:pPr marL="0" indent="0">
              <a:buNone/>
            </a:pPr>
            <a:r>
              <a:rPr lang="en-IN" alt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Volume</a:t>
            </a:r>
            <a:endParaRPr lang="en-IN" alt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8"/>
          <p:cNvSpPr/>
          <p:nvPr/>
        </p:nvSpPr>
        <p:spPr>
          <a:xfrm>
            <a:off x="8092440" y="2469007"/>
            <a:ext cx="3566160" cy="502920"/>
          </a:xfrm>
          <a:prstGeom prst="rect">
            <a:avLst/>
          </a:prstGeom>
          <a:noFill/>
        </p:spPr>
        <p:txBody>
          <a:bodyPr wrap="square" lIns="0" tIns="0" rIns="0" bIns="0" rtlCol="0" anchor="ctr"/>
          <a:lstStyle/>
          <a:p>
            <a:pPr marL="0" indent="0">
              <a:buNone/>
            </a:pPr>
            <a:r>
              <a:rPr lang="en-IN" alt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System Master Volume control</a:t>
            </a:r>
            <a:endParaRPr lang="en-IN" alt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9"/>
          <p:cNvSpPr/>
          <p:nvPr/>
        </p:nvSpPr>
        <p:spPr>
          <a:xfrm>
            <a:off x="7452360" y="3264535"/>
            <a:ext cx="502920" cy="502920"/>
          </a:xfrm>
          <a:prstGeom prst="ellipse">
            <a:avLst/>
          </a:prstGeom>
          <a:solidFill>
            <a:srgbClr val="16231C"/>
          </a:solidFill>
          <a:ln w="12700">
            <a:solidFill>
              <a:srgbClr val="1F7A4C"/>
            </a:solidFill>
            <a:prstDash val="solid"/>
          </a:ln>
        </p:spPr>
      </p:sp>
      <p:sp>
        <p:nvSpPr>
          <p:cNvPr id="15" name="Text 10"/>
          <p:cNvSpPr/>
          <p:nvPr/>
        </p:nvSpPr>
        <p:spPr>
          <a:xfrm>
            <a:off x="8092440" y="3246247"/>
            <a:ext cx="3566160" cy="292608"/>
          </a:xfrm>
          <a:prstGeom prst="rect">
            <a:avLst/>
          </a:prstGeom>
          <a:noFill/>
        </p:spPr>
        <p:txBody>
          <a:bodyPr wrap="square" lIns="0" tIns="0" rIns="0" bIns="0" rtlCol="0" anchor="ctr"/>
          <a:lstStyle/>
          <a:p>
            <a:pPr marL="0" indent="0">
              <a:buNone/>
            </a:pPr>
            <a:r>
              <a:rPr lang="en-IN"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Screen Visibility</a:t>
            </a:r>
            <a:endParaRPr lang="en-IN" sz="1400" b="1" dirty="0">
              <a:solidFill>
                <a:srgbClr val="EAF2ED"/>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1"/>
          <p:cNvSpPr/>
          <p:nvPr/>
        </p:nvSpPr>
        <p:spPr>
          <a:xfrm>
            <a:off x="8092440" y="3520567"/>
            <a:ext cx="3566160" cy="502920"/>
          </a:xfrm>
          <a:prstGeom prst="rect">
            <a:avLst/>
          </a:prstGeom>
          <a:noFill/>
        </p:spPr>
        <p:txBody>
          <a:bodyPr wrap="square" lIns="0" tIns="0" rIns="0" bIns="0" rtlCol="0" anchor="ctr"/>
          <a:lstStyle/>
          <a:p>
            <a:pPr marL="0" indent="0">
              <a:buNone/>
            </a:pPr>
            <a:r>
              <a:rPr lang="en-IN" alt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Brightness, Contrast and Font style choices available </a:t>
            </a:r>
            <a:endParaRPr lang="en-IN" alt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2"/>
          <p:cNvSpPr/>
          <p:nvPr/>
        </p:nvSpPr>
        <p:spPr>
          <a:xfrm>
            <a:off x="7452360" y="4316095"/>
            <a:ext cx="502920" cy="502920"/>
          </a:xfrm>
          <a:prstGeom prst="ellipse">
            <a:avLst/>
          </a:prstGeom>
          <a:solidFill>
            <a:srgbClr val="16231C"/>
          </a:solidFill>
          <a:ln w="12700">
            <a:solidFill>
              <a:srgbClr val="1F7A4C"/>
            </a:solidFill>
            <a:prstDash val="solid"/>
          </a:ln>
        </p:spPr>
      </p:sp>
      <p:sp>
        <p:nvSpPr>
          <p:cNvPr id="19" name="Text 13"/>
          <p:cNvSpPr/>
          <p:nvPr/>
        </p:nvSpPr>
        <p:spPr>
          <a:xfrm>
            <a:off x="8092440" y="4297807"/>
            <a:ext cx="3566160" cy="292608"/>
          </a:xfrm>
          <a:prstGeom prst="rect">
            <a:avLst/>
          </a:prstGeom>
          <a:noFill/>
        </p:spPr>
        <p:txBody>
          <a:bodyPr wrap="square" lIns="0" tIns="0" rIns="0" bIns="0" rtlCol="0" anchor="ctr"/>
          <a:lstStyle/>
          <a:p>
            <a:pPr marL="0" indent="0">
              <a:buNone/>
            </a:pPr>
            <a:r>
              <a:rPr lang="en-IN" alt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Language Support</a:t>
            </a:r>
            <a:endParaRPr lang="en-IN" alt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4"/>
          <p:cNvSpPr/>
          <p:nvPr/>
        </p:nvSpPr>
        <p:spPr>
          <a:xfrm>
            <a:off x="8092440" y="4572127"/>
            <a:ext cx="3566160" cy="502920"/>
          </a:xfrm>
          <a:prstGeom prst="rect">
            <a:avLst/>
          </a:prstGeom>
          <a:noFill/>
        </p:spPr>
        <p:txBody>
          <a:bodyPr wrap="square" lIns="0" tIns="0" rIns="0" bIns="0" rtlCol="0" anchor="ctr"/>
          <a:lstStyle/>
          <a:p>
            <a:pPr marL="0" indent="0">
              <a:buNone/>
            </a:pPr>
            <a:r>
              <a:rPr lang="en-IN" alt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Easily swith between English,German or Spainish for assesibility.</a:t>
            </a:r>
            <a:endParaRPr lang="en-IN" alt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16"/>
          <p:cNvSpPr/>
          <p:nvPr/>
        </p:nvSpPr>
        <p:spPr>
          <a:xfrm>
            <a:off x="8092440" y="4782312"/>
            <a:ext cx="3566160" cy="292608"/>
          </a:xfrm>
          <a:prstGeom prst="rect">
            <a:avLst/>
          </a:prstGeom>
          <a:noFill/>
        </p:spPr>
        <p:txBody>
          <a:bodyPr wrap="square" lIns="0" tIns="0" rIns="0" bIns="0" rtlCol="0" anchor="ctr"/>
          <a:lstStyle/>
          <a:p>
            <a:pPr marL="0" indent="0">
              <a:buNone/>
            </a:pPr>
            <a:endParaRPr lang="en-US" sz="1400" dirty="0"/>
          </a:p>
        </p:txBody>
      </p:sp>
      <p:sp>
        <p:nvSpPr>
          <p:cNvPr id="24" name="Text 17"/>
          <p:cNvSpPr/>
          <p:nvPr/>
        </p:nvSpPr>
        <p:spPr>
          <a:xfrm>
            <a:off x="8092440" y="5056632"/>
            <a:ext cx="3566160" cy="502920"/>
          </a:xfrm>
          <a:prstGeom prst="rect">
            <a:avLst/>
          </a:prstGeom>
          <a:noFill/>
        </p:spPr>
        <p:txBody>
          <a:bodyPr wrap="square" lIns="0" tIns="0" rIns="0" bIns="0" rtlCol="0" anchor="ctr"/>
          <a:lstStyle/>
          <a:p>
            <a:pPr marL="0" indent="0">
              <a:buNone/>
            </a:pPr>
            <a:endParaRPr lang="en-US" sz="1050" dirty="0"/>
          </a:p>
        </p:txBody>
      </p:sp>
      <p:sp>
        <p:nvSpPr>
          <p:cNvPr id="25" name="Text 18"/>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08</a:t>
            </a:r>
            <a:endParaRPr lang="en-US" sz="1000" dirty="0"/>
          </a:p>
        </p:txBody>
      </p:sp>
      <p:pic>
        <p:nvPicPr>
          <p:cNvPr id="5" name="image10.png"/>
          <p:cNvPicPr preferRelativeResize="0"/>
          <p:nvPr/>
        </p:nvPicPr>
        <p:blipFill>
          <a:blip r:embed="rId1"/>
          <a:srcRect l="632" r="316"/>
          <a:stretch>
            <a:fillRect/>
          </a:stretch>
        </p:blipFill>
        <p:spPr>
          <a:xfrm>
            <a:off x="812165" y="1711325"/>
            <a:ext cx="6167755" cy="4144645"/>
          </a:xfrm>
          <a:prstGeom prst="rect">
            <a:avLst/>
          </a:prstGeom>
        </p:spPr>
      </p:pic>
      <p:pic>
        <p:nvPicPr>
          <p:cNvPr id="28" name="Picture 27" descr="language"/>
          <p:cNvPicPr>
            <a:picLocks noChangeAspect="1"/>
          </p:cNvPicPr>
          <p:nvPr/>
        </p:nvPicPr>
        <p:blipFill>
          <a:blip r:embed="rId2"/>
          <a:stretch>
            <a:fillRect/>
          </a:stretch>
        </p:blipFill>
        <p:spPr>
          <a:xfrm>
            <a:off x="7539990" y="4403725"/>
            <a:ext cx="327660" cy="327660"/>
          </a:xfrm>
          <a:prstGeom prst="rect">
            <a:avLst/>
          </a:prstGeom>
        </p:spPr>
      </p:pic>
      <p:pic>
        <p:nvPicPr>
          <p:cNvPr id="29" name="Picture 28" descr="theme"/>
          <p:cNvPicPr>
            <a:picLocks noChangeAspect="1"/>
          </p:cNvPicPr>
          <p:nvPr/>
        </p:nvPicPr>
        <p:blipFill>
          <a:blip r:embed="rId3"/>
          <a:stretch>
            <a:fillRect/>
          </a:stretch>
        </p:blipFill>
        <p:spPr>
          <a:xfrm>
            <a:off x="7501890" y="3333115"/>
            <a:ext cx="365760" cy="365760"/>
          </a:xfrm>
          <a:prstGeom prst="rect">
            <a:avLst/>
          </a:prstGeom>
        </p:spPr>
      </p:pic>
      <p:pic>
        <p:nvPicPr>
          <p:cNvPr id="30" name="Picture 29" descr="volume-loud"/>
          <p:cNvPicPr>
            <a:picLocks noChangeAspect="1"/>
          </p:cNvPicPr>
          <p:nvPr/>
        </p:nvPicPr>
        <p:blipFill>
          <a:blip r:embed="rId4"/>
          <a:stretch>
            <a:fillRect/>
          </a:stretch>
        </p:blipFill>
        <p:spPr>
          <a:xfrm>
            <a:off x="7539990" y="2269490"/>
            <a:ext cx="358775" cy="358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PERSONALIZATION</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Theme Engine</a:t>
            </a:r>
            <a:endParaRPr lang="en-US" sz="3200" dirty="0"/>
          </a:p>
        </p:txBody>
      </p:sp>
      <p:sp>
        <p:nvSpPr>
          <p:cNvPr id="4" name="Text 2"/>
          <p:cNvSpPr/>
          <p:nvPr/>
        </p:nvSpPr>
        <p:spPr>
          <a:xfrm>
            <a:off x="640080" y="1600200"/>
            <a:ext cx="5577840" cy="4206240"/>
          </a:xfrm>
          <a:prstGeom prst="rect">
            <a:avLst/>
          </a:prstGeom>
          <a:noFill/>
        </p:spPr>
        <p:txBody>
          <a:bodyPr wrap="square" lIns="0" tIns="0" rIns="0" bIns="0" rtlCol="0" anchor="t"/>
          <a:lstStyle/>
          <a:p>
            <a:pPr marL="342900" indent="-342900">
              <a:lnSpc>
                <a:spcPct val="108000"/>
              </a:lnSpc>
              <a:spcAft>
                <a:spcPts val="14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Six accent themes: Aurora, Lilac, Sakura, Noir, Neon, Verdant</a:t>
            </a:r>
            <a:endParaRPr lang="en-US" sz="1500" dirty="0"/>
          </a:p>
          <a:p>
            <a:pPr marL="342900" indent="-342900">
              <a:lnSpc>
                <a:spcPct val="108000"/>
              </a:lnSpc>
              <a:spcAft>
                <a:spcPts val="14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Day / Night palettes — 12 total visual configurations</a:t>
            </a:r>
            <a:endParaRPr lang="en-US" sz="1500" dirty="0"/>
          </a:p>
          <a:p>
            <a:pPr marL="342900" indent="-342900">
              <a:lnSpc>
                <a:spcPct val="108000"/>
              </a:lnSpc>
              <a:spcAft>
                <a:spcPts val="14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Two hue anchors per theme (surface + accent) drive every color</a:t>
            </a:r>
            <a:endParaRPr lang="en-US" sz="1500" dirty="0"/>
          </a:p>
          <a:p>
            <a:pPr marL="342900" indent="-342900">
              <a:lnSpc>
                <a:spcPct val="108000"/>
              </a:lnSpc>
              <a:spcAft>
                <a:spcPts val="14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Metric/Imperial, font, and language switch instantly, app-wide</a:t>
            </a:r>
            <a:endParaRPr lang="en-US" sz="1500" dirty="0"/>
          </a:p>
          <a:p>
            <a:pPr marL="342900" indent="-342900">
              <a:lnSpc>
                <a:spcPct val="108000"/>
              </a:lnSpc>
              <a:spcAft>
                <a:spcPts val="14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No restart — every setting flows through QML singletons</a:t>
            </a:r>
            <a:endParaRPr lang="en-US" sz="1500" dirty="0"/>
          </a:p>
        </p:txBody>
      </p:sp>
      <p:sp>
        <p:nvSpPr>
          <p:cNvPr id="5" name="Shape 3"/>
          <p:cNvSpPr/>
          <p:nvPr/>
        </p:nvSpPr>
        <p:spPr>
          <a:xfrm>
            <a:off x="6675120" y="1691640"/>
            <a:ext cx="4846320" cy="2743200"/>
          </a:xfrm>
          <a:prstGeom prst="roundRect">
            <a:avLst>
              <a:gd name="adj" fmla="val 2667"/>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6" name="Text 4"/>
          <p:cNvSpPr/>
          <p:nvPr/>
        </p:nvSpPr>
        <p:spPr>
          <a:xfrm>
            <a:off x="6949440" y="1874520"/>
            <a:ext cx="4297680" cy="274320"/>
          </a:xfrm>
          <a:prstGeom prst="rect">
            <a:avLst/>
          </a:prstGeom>
          <a:noFill/>
        </p:spPr>
        <p:txBody>
          <a:bodyPr wrap="square" lIns="0" tIns="0" rIns="0" bIns="0" rtlCol="0" anchor="t"/>
          <a:lstStyle/>
          <a:p>
            <a:pPr marL="0" indent="0" algn="l">
              <a:buNone/>
            </a:pPr>
            <a:r>
              <a:rPr lang="en-US" sz="1050" b="1" dirty="0">
                <a:solidFill>
                  <a:srgbClr val="8CA69A"/>
                </a:solidFill>
                <a:latin typeface="Calibri" panose="020F0502020204030204" pitchFamily="34" charset="0"/>
                <a:ea typeface="Calibri" panose="020F0502020204030204" pitchFamily="34" charset="-122"/>
                <a:cs typeface="Calibri" panose="020F0502020204030204" pitchFamily="34" charset="-120"/>
              </a:rPr>
              <a:t>SIX ACCENT THEMES</a:t>
            </a:r>
            <a:endParaRPr lang="en-US" sz="1050" dirty="0"/>
          </a:p>
        </p:txBody>
      </p:sp>
      <p:sp>
        <p:nvSpPr>
          <p:cNvPr id="7" name="Shape 5"/>
          <p:cNvSpPr/>
          <p:nvPr/>
        </p:nvSpPr>
        <p:spPr>
          <a:xfrm>
            <a:off x="7436296" y="2308860"/>
            <a:ext cx="502920" cy="502920"/>
          </a:xfrm>
          <a:prstGeom prst="ellipse">
            <a:avLst/>
          </a:prstGeom>
          <a:solidFill>
            <a:srgbClr val="3DA5D9"/>
          </a:solidFill>
          <a:ln w="9525">
            <a:solidFill>
              <a:srgbClr val="234A38"/>
            </a:solidFill>
            <a:prstDash val="solid"/>
          </a:ln>
        </p:spPr>
      </p:sp>
      <p:sp>
        <p:nvSpPr>
          <p:cNvPr id="8" name="Text 6"/>
          <p:cNvSpPr/>
          <p:nvPr/>
        </p:nvSpPr>
        <p:spPr>
          <a:xfrm>
            <a:off x="7116256" y="2834640"/>
            <a:ext cx="1143000" cy="274320"/>
          </a:xfrm>
          <a:prstGeom prst="rect">
            <a:avLst/>
          </a:prstGeom>
          <a:noFill/>
        </p:spPr>
        <p:txBody>
          <a:bodyPr wrap="square" lIns="0" tIns="0" rIns="0" bIns="0" rtlCol="0" anchor="t"/>
          <a:lstStyle/>
          <a:p>
            <a:pPr marL="0" indent="0" algn="ctr">
              <a:buNone/>
            </a:pPr>
            <a:r>
              <a:rPr lang="en-US" sz="1050" dirty="0">
                <a:solidFill>
                  <a:srgbClr val="EAF2ED"/>
                </a:solidFill>
                <a:latin typeface="Calibri" panose="020F0502020204030204" pitchFamily="34" charset="0"/>
                <a:ea typeface="Calibri" panose="020F0502020204030204" pitchFamily="34" charset="-122"/>
                <a:cs typeface="Calibri" panose="020F0502020204030204" pitchFamily="34" charset="-120"/>
              </a:rPr>
              <a:t>Aurora</a:t>
            </a:r>
            <a:endParaRPr lang="en-US" sz="1050" dirty="0"/>
          </a:p>
        </p:txBody>
      </p:sp>
      <p:sp>
        <p:nvSpPr>
          <p:cNvPr id="9" name="Shape 7"/>
          <p:cNvSpPr/>
          <p:nvPr/>
        </p:nvSpPr>
        <p:spPr>
          <a:xfrm>
            <a:off x="8899336" y="2308860"/>
            <a:ext cx="502920" cy="502920"/>
          </a:xfrm>
          <a:prstGeom prst="ellipse">
            <a:avLst/>
          </a:prstGeom>
          <a:solidFill>
            <a:srgbClr val="B78CDB"/>
          </a:solidFill>
          <a:ln w="9525">
            <a:solidFill>
              <a:srgbClr val="234A38"/>
            </a:solidFill>
            <a:prstDash val="solid"/>
          </a:ln>
        </p:spPr>
      </p:sp>
      <p:sp>
        <p:nvSpPr>
          <p:cNvPr id="10" name="Text 8"/>
          <p:cNvSpPr/>
          <p:nvPr/>
        </p:nvSpPr>
        <p:spPr>
          <a:xfrm>
            <a:off x="8579296" y="2867077"/>
            <a:ext cx="1143000" cy="274320"/>
          </a:xfrm>
          <a:prstGeom prst="rect">
            <a:avLst/>
          </a:prstGeom>
          <a:noFill/>
        </p:spPr>
        <p:txBody>
          <a:bodyPr wrap="square" lIns="0" tIns="0" rIns="0" bIns="0" rtlCol="0" anchor="t"/>
          <a:lstStyle/>
          <a:p>
            <a:pPr marL="0" indent="0" algn="ctr">
              <a:buNone/>
            </a:pPr>
            <a:r>
              <a:rPr lang="en-US" sz="1050" dirty="0">
                <a:solidFill>
                  <a:srgbClr val="EAF2ED"/>
                </a:solidFill>
                <a:latin typeface="Calibri" panose="020F0502020204030204" pitchFamily="34" charset="0"/>
                <a:ea typeface="Calibri" panose="020F0502020204030204" pitchFamily="34" charset="-122"/>
                <a:cs typeface="Calibri" panose="020F0502020204030204" pitchFamily="34" charset="-120"/>
              </a:rPr>
              <a:t>Lilac</a:t>
            </a:r>
            <a:endParaRPr lang="en-US" sz="1050" dirty="0"/>
          </a:p>
        </p:txBody>
      </p:sp>
      <p:sp>
        <p:nvSpPr>
          <p:cNvPr id="11" name="Shape 9"/>
          <p:cNvSpPr/>
          <p:nvPr/>
        </p:nvSpPr>
        <p:spPr>
          <a:xfrm>
            <a:off x="10362376" y="2308860"/>
            <a:ext cx="502920" cy="502920"/>
          </a:xfrm>
          <a:prstGeom prst="ellipse">
            <a:avLst/>
          </a:prstGeom>
          <a:solidFill>
            <a:srgbClr val="E893B5"/>
          </a:solidFill>
          <a:ln w="9525">
            <a:solidFill>
              <a:srgbClr val="234A38"/>
            </a:solidFill>
            <a:prstDash val="solid"/>
          </a:ln>
        </p:spPr>
      </p:sp>
      <p:sp>
        <p:nvSpPr>
          <p:cNvPr id="12" name="Text 10"/>
          <p:cNvSpPr/>
          <p:nvPr/>
        </p:nvSpPr>
        <p:spPr>
          <a:xfrm>
            <a:off x="10058400" y="2861207"/>
            <a:ext cx="1143000" cy="274320"/>
          </a:xfrm>
          <a:prstGeom prst="rect">
            <a:avLst/>
          </a:prstGeom>
          <a:noFill/>
        </p:spPr>
        <p:txBody>
          <a:bodyPr wrap="square" lIns="0" tIns="0" rIns="0" bIns="0" rtlCol="0" anchor="t"/>
          <a:lstStyle/>
          <a:p>
            <a:pPr marL="0" indent="0" algn="ctr">
              <a:buNone/>
            </a:pPr>
            <a:r>
              <a:rPr lang="en-US" sz="1050" dirty="0">
                <a:solidFill>
                  <a:srgbClr val="EAF2ED"/>
                </a:solidFill>
                <a:latin typeface="Calibri" panose="020F0502020204030204" pitchFamily="34" charset="0"/>
                <a:ea typeface="Calibri" panose="020F0502020204030204" pitchFamily="34" charset="-122"/>
                <a:cs typeface="Calibri" panose="020F0502020204030204" pitchFamily="34" charset="-120"/>
              </a:rPr>
              <a:t>Sakura</a:t>
            </a:r>
            <a:endParaRPr lang="en-US" sz="1050" dirty="0"/>
          </a:p>
        </p:txBody>
      </p:sp>
      <p:sp>
        <p:nvSpPr>
          <p:cNvPr id="13" name="Shape 11"/>
          <p:cNvSpPr/>
          <p:nvPr/>
        </p:nvSpPr>
        <p:spPr>
          <a:xfrm>
            <a:off x="7436296" y="3177540"/>
            <a:ext cx="502920" cy="502920"/>
          </a:xfrm>
          <a:prstGeom prst="ellipse">
            <a:avLst/>
          </a:prstGeom>
          <a:solidFill>
            <a:srgbClr val="9AA3A0"/>
          </a:solidFill>
          <a:ln w="9525">
            <a:solidFill>
              <a:srgbClr val="234A38"/>
            </a:solidFill>
            <a:prstDash val="solid"/>
          </a:ln>
        </p:spPr>
      </p:sp>
      <p:sp>
        <p:nvSpPr>
          <p:cNvPr id="14" name="Text 12"/>
          <p:cNvSpPr/>
          <p:nvPr/>
        </p:nvSpPr>
        <p:spPr>
          <a:xfrm>
            <a:off x="7132544" y="3745333"/>
            <a:ext cx="1143000" cy="274320"/>
          </a:xfrm>
          <a:prstGeom prst="rect">
            <a:avLst/>
          </a:prstGeom>
          <a:noFill/>
        </p:spPr>
        <p:txBody>
          <a:bodyPr wrap="square" lIns="0" tIns="0" rIns="0" bIns="0" rtlCol="0" anchor="t"/>
          <a:lstStyle/>
          <a:p>
            <a:pPr marL="0" indent="0" algn="ctr">
              <a:buNone/>
            </a:pPr>
            <a:r>
              <a:rPr lang="en-US" sz="1050" dirty="0">
                <a:solidFill>
                  <a:srgbClr val="EAF2ED"/>
                </a:solidFill>
                <a:latin typeface="Calibri" panose="020F0502020204030204" pitchFamily="34" charset="0"/>
                <a:ea typeface="Calibri" panose="020F0502020204030204" pitchFamily="34" charset="-122"/>
                <a:cs typeface="Calibri" panose="020F0502020204030204" pitchFamily="34" charset="-120"/>
              </a:rPr>
              <a:t>Noir</a:t>
            </a:r>
            <a:endParaRPr lang="en-US" sz="1050" dirty="0"/>
          </a:p>
        </p:txBody>
      </p:sp>
      <p:sp>
        <p:nvSpPr>
          <p:cNvPr id="15" name="Shape 13"/>
          <p:cNvSpPr/>
          <p:nvPr/>
        </p:nvSpPr>
        <p:spPr>
          <a:xfrm>
            <a:off x="8899336" y="3177540"/>
            <a:ext cx="502920" cy="502920"/>
          </a:xfrm>
          <a:prstGeom prst="ellipse">
            <a:avLst/>
          </a:prstGeom>
          <a:solidFill>
            <a:srgbClr val="3DDC84"/>
          </a:solidFill>
          <a:ln w="9525">
            <a:solidFill>
              <a:srgbClr val="234A38"/>
            </a:solidFill>
            <a:prstDash val="solid"/>
          </a:ln>
        </p:spPr>
      </p:sp>
      <p:sp>
        <p:nvSpPr>
          <p:cNvPr id="16" name="Text 14"/>
          <p:cNvSpPr/>
          <p:nvPr/>
        </p:nvSpPr>
        <p:spPr>
          <a:xfrm>
            <a:off x="8572500" y="3745333"/>
            <a:ext cx="1143000" cy="274320"/>
          </a:xfrm>
          <a:prstGeom prst="rect">
            <a:avLst/>
          </a:prstGeom>
          <a:noFill/>
        </p:spPr>
        <p:txBody>
          <a:bodyPr wrap="square" lIns="0" tIns="0" rIns="0" bIns="0" rtlCol="0" anchor="t"/>
          <a:lstStyle/>
          <a:p>
            <a:pPr marL="0" indent="0" algn="ctr">
              <a:buNone/>
            </a:pPr>
            <a:r>
              <a:rPr lang="en-US" sz="1050" dirty="0">
                <a:solidFill>
                  <a:srgbClr val="EAF2ED"/>
                </a:solidFill>
                <a:latin typeface="Calibri" panose="020F0502020204030204" pitchFamily="34" charset="0"/>
                <a:ea typeface="Calibri" panose="020F0502020204030204" pitchFamily="34" charset="-122"/>
                <a:cs typeface="Calibri" panose="020F0502020204030204" pitchFamily="34" charset="-120"/>
              </a:rPr>
              <a:t>Neon</a:t>
            </a:r>
            <a:endParaRPr lang="en-US" sz="1050" dirty="0"/>
          </a:p>
        </p:txBody>
      </p:sp>
      <p:sp>
        <p:nvSpPr>
          <p:cNvPr id="17" name="Shape 15"/>
          <p:cNvSpPr/>
          <p:nvPr/>
        </p:nvSpPr>
        <p:spPr>
          <a:xfrm>
            <a:off x="10362376" y="3177540"/>
            <a:ext cx="502920" cy="502920"/>
          </a:xfrm>
          <a:prstGeom prst="ellipse">
            <a:avLst/>
          </a:prstGeom>
          <a:solidFill>
            <a:srgbClr val="2E8B57"/>
          </a:solidFill>
          <a:ln w="9525">
            <a:solidFill>
              <a:srgbClr val="234A38"/>
            </a:solidFill>
            <a:prstDash val="solid"/>
          </a:ln>
        </p:spPr>
      </p:sp>
      <p:sp>
        <p:nvSpPr>
          <p:cNvPr id="18" name="Text 16"/>
          <p:cNvSpPr/>
          <p:nvPr/>
        </p:nvSpPr>
        <p:spPr>
          <a:xfrm>
            <a:off x="10058400" y="3717036"/>
            <a:ext cx="1143000" cy="274320"/>
          </a:xfrm>
          <a:prstGeom prst="rect">
            <a:avLst/>
          </a:prstGeom>
          <a:noFill/>
        </p:spPr>
        <p:txBody>
          <a:bodyPr wrap="square" lIns="0" tIns="0" rIns="0" bIns="0" rtlCol="0" anchor="t"/>
          <a:lstStyle/>
          <a:p>
            <a:pPr marL="0" indent="0" algn="ctr">
              <a:buNone/>
            </a:pPr>
            <a:r>
              <a:rPr lang="en-US" sz="1050" dirty="0">
                <a:solidFill>
                  <a:srgbClr val="EAF2ED"/>
                </a:solidFill>
                <a:latin typeface="Calibri" panose="020F0502020204030204" pitchFamily="34" charset="0"/>
                <a:ea typeface="Calibri" panose="020F0502020204030204" pitchFamily="34" charset="-122"/>
                <a:cs typeface="Calibri" panose="020F0502020204030204" pitchFamily="34" charset="-120"/>
              </a:rPr>
              <a:t>Verdant</a:t>
            </a:r>
            <a:endParaRPr lang="en-US" sz="1050" dirty="0"/>
          </a:p>
        </p:txBody>
      </p:sp>
      <p:sp>
        <p:nvSpPr>
          <p:cNvPr id="19" name="Shape 17"/>
          <p:cNvSpPr/>
          <p:nvPr/>
        </p:nvSpPr>
        <p:spPr>
          <a:xfrm>
            <a:off x="6675120" y="4663440"/>
            <a:ext cx="4846320" cy="1234440"/>
          </a:xfrm>
          <a:prstGeom prst="roundRect">
            <a:avLst>
              <a:gd name="adj" fmla="val 5926"/>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20" name="Shape 18"/>
          <p:cNvSpPr/>
          <p:nvPr/>
        </p:nvSpPr>
        <p:spPr>
          <a:xfrm>
            <a:off x="6949440" y="4937760"/>
            <a:ext cx="502920" cy="502920"/>
          </a:xfrm>
          <a:prstGeom prst="ellipse">
            <a:avLst/>
          </a:prstGeom>
          <a:solidFill>
            <a:srgbClr val="16231C"/>
          </a:solidFill>
          <a:ln w="12700">
            <a:solidFill>
              <a:srgbClr val="1F7A4C"/>
            </a:solidFill>
            <a:prstDash val="solid"/>
          </a:ln>
        </p:spPr>
      </p:sp>
      <p:pic>
        <p:nvPicPr>
          <p:cNvPr id="21" name="Image 0" descr="preencoded.png"/>
          <p:cNvPicPr>
            <a:picLocks noChangeAspect="1"/>
          </p:cNvPicPr>
          <p:nvPr/>
        </p:nvPicPr>
        <p:blipFill>
          <a:blip r:embed="rId1"/>
          <a:stretch>
            <a:fillRect/>
          </a:stretch>
        </p:blipFill>
        <p:spPr>
          <a:xfrm>
            <a:off x="7014820" y="5003140"/>
            <a:ext cx="372161" cy="372161"/>
          </a:xfrm>
          <a:prstGeom prst="rect">
            <a:avLst/>
          </a:prstGeom>
        </p:spPr>
      </p:pic>
      <p:sp>
        <p:nvSpPr>
          <p:cNvPr id="22" name="Text 19"/>
          <p:cNvSpPr/>
          <p:nvPr/>
        </p:nvSpPr>
        <p:spPr>
          <a:xfrm>
            <a:off x="6903720" y="5468112"/>
            <a:ext cx="594360" cy="274320"/>
          </a:xfrm>
          <a:prstGeom prst="rect">
            <a:avLst/>
          </a:prstGeom>
          <a:noFill/>
        </p:spPr>
        <p:txBody>
          <a:bodyPr wrap="square" lIns="0" tIns="0" rIns="0" bIns="0" rtlCol="0" anchor="t"/>
          <a:lstStyle/>
          <a:p>
            <a:pPr marL="0" indent="0" algn="ctr">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Day</a:t>
            </a:r>
            <a:endParaRPr lang="en-US" sz="1050" dirty="0"/>
          </a:p>
        </p:txBody>
      </p:sp>
      <p:sp>
        <p:nvSpPr>
          <p:cNvPr id="23" name="Shape 20"/>
          <p:cNvSpPr/>
          <p:nvPr/>
        </p:nvSpPr>
        <p:spPr>
          <a:xfrm>
            <a:off x="7818120" y="4937760"/>
            <a:ext cx="502920" cy="502920"/>
          </a:xfrm>
          <a:prstGeom prst="ellipse">
            <a:avLst/>
          </a:prstGeom>
          <a:solidFill>
            <a:srgbClr val="16231C"/>
          </a:solidFill>
          <a:ln w="12700">
            <a:solidFill>
              <a:srgbClr val="1F7A4C"/>
            </a:solidFill>
            <a:prstDash val="solid"/>
          </a:ln>
        </p:spPr>
      </p:sp>
      <p:pic>
        <p:nvPicPr>
          <p:cNvPr id="24" name="Image 1" descr="preencoded.png"/>
          <p:cNvPicPr>
            <a:picLocks noChangeAspect="1"/>
          </p:cNvPicPr>
          <p:nvPr/>
        </p:nvPicPr>
        <p:blipFill>
          <a:blip r:embed="rId2"/>
          <a:stretch>
            <a:fillRect/>
          </a:stretch>
        </p:blipFill>
        <p:spPr>
          <a:xfrm>
            <a:off x="7883500" y="5003140"/>
            <a:ext cx="372161" cy="372161"/>
          </a:xfrm>
          <a:prstGeom prst="rect">
            <a:avLst/>
          </a:prstGeom>
        </p:spPr>
      </p:pic>
      <p:sp>
        <p:nvSpPr>
          <p:cNvPr id="25" name="Text 21"/>
          <p:cNvSpPr/>
          <p:nvPr/>
        </p:nvSpPr>
        <p:spPr>
          <a:xfrm>
            <a:off x="7726680" y="5468112"/>
            <a:ext cx="685800" cy="274320"/>
          </a:xfrm>
          <a:prstGeom prst="rect">
            <a:avLst/>
          </a:prstGeom>
          <a:noFill/>
        </p:spPr>
        <p:txBody>
          <a:bodyPr wrap="square" lIns="0" tIns="0" rIns="0" bIns="0" rtlCol="0" anchor="t"/>
          <a:lstStyle/>
          <a:p>
            <a:pPr marL="0" indent="0" algn="ctr">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Night</a:t>
            </a:r>
            <a:endParaRPr lang="en-US" sz="1050" dirty="0"/>
          </a:p>
        </p:txBody>
      </p:sp>
      <p:sp>
        <p:nvSpPr>
          <p:cNvPr id="26" name="Text 22"/>
          <p:cNvSpPr/>
          <p:nvPr/>
        </p:nvSpPr>
        <p:spPr>
          <a:xfrm>
            <a:off x="8732520" y="4892040"/>
            <a:ext cx="2651760" cy="822960"/>
          </a:xfrm>
          <a:prstGeom prst="rect">
            <a:avLst/>
          </a:prstGeom>
          <a:noFill/>
        </p:spPr>
        <p:txBody>
          <a:bodyPr wrap="square" lIns="0" tIns="0" rIns="0" bIns="0" rtlCol="0" anchor="t"/>
          <a:lstStyle/>
          <a:p>
            <a:pPr marL="0" indent="0" algn="l">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Every theme shares one lightness ramp —</a:t>
            </a:r>
            <a:endParaRPr lang="en-US" sz="1000" dirty="0"/>
          </a:p>
          <a:p>
            <a:pPr marL="0" indent="0" algn="l">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ECO green &amp; SPORT amber stay hue-locked.</a:t>
            </a:r>
            <a:endParaRPr lang="en-US" sz="1000" dirty="0"/>
          </a:p>
        </p:txBody>
      </p:sp>
      <p:sp>
        <p:nvSpPr>
          <p:cNvPr id="27" name="Text 23"/>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DRIVER VIEW</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Diagnostics — Driver Health Summary</a:t>
            </a:r>
            <a:endParaRPr lang="en-US" sz="3200" dirty="0"/>
          </a:p>
        </p:txBody>
      </p:sp>
      <p:sp>
        <p:nvSpPr>
          <p:cNvPr id="4" name="Shape 2"/>
          <p:cNvSpPr/>
          <p:nvPr/>
        </p:nvSpPr>
        <p:spPr>
          <a:xfrm>
            <a:off x="640080" y="1600200"/>
            <a:ext cx="6492240" cy="4434840"/>
          </a:xfrm>
          <a:prstGeom prst="roundRect">
            <a:avLst>
              <a:gd name="adj" fmla="val 1649"/>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8" name="Text 5"/>
          <p:cNvSpPr/>
          <p:nvPr/>
        </p:nvSpPr>
        <p:spPr>
          <a:xfrm>
            <a:off x="914400" y="4229100"/>
            <a:ext cx="5943600" cy="365760"/>
          </a:xfrm>
          <a:prstGeom prst="rect">
            <a:avLst/>
          </a:prstGeom>
          <a:noFill/>
        </p:spPr>
        <p:txBody>
          <a:bodyPr wrap="square" lIns="0" tIns="0" rIns="0" bIns="0" rtlCol="0" anchor="t"/>
          <a:lstStyle/>
          <a:p>
            <a:pPr marL="0" indent="0" algn="ctr">
              <a:buNone/>
            </a:pPr>
            <a:endParaRPr lang="en-US" sz="1100" dirty="0"/>
          </a:p>
        </p:txBody>
      </p:sp>
      <p:sp>
        <p:nvSpPr>
          <p:cNvPr id="9" name="Shape 6"/>
          <p:cNvSpPr/>
          <p:nvPr/>
        </p:nvSpPr>
        <p:spPr>
          <a:xfrm>
            <a:off x="7452360" y="1645920"/>
            <a:ext cx="502920" cy="502920"/>
          </a:xfrm>
          <a:prstGeom prst="ellipse">
            <a:avLst/>
          </a:prstGeom>
          <a:solidFill>
            <a:srgbClr val="16231C"/>
          </a:solidFill>
          <a:ln w="12700">
            <a:solidFill>
              <a:srgbClr val="1F7A4C"/>
            </a:solidFill>
            <a:prstDash val="solid"/>
          </a:ln>
        </p:spPr>
      </p:sp>
      <p:pic>
        <p:nvPicPr>
          <p:cNvPr id="10" name="Image 1" descr="preencoded.png"/>
          <p:cNvPicPr>
            <a:picLocks noChangeAspect="1"/>
          </p:cNvPicPr>
          <p:nvPr/>
        </p:nvPicPr>
        <p:blipFill>
          <a:blip r:embed="rId1"/>
          <a:stretch>
            <a:fillRect/>
          </a:stretch>
        </p:blipFill>
        <p:spPr>
          <a:xfrm>
            <a:off x="7517740" y="1711300"/>
            <a:ext cx="372161" cy="372161"/>
          </a:xfrm>
          <a:prstGeom prst="rect">
            <a:avLst/>
          </a:prstGeom>
        </p:spPr>
      </p:pic>
      <p:sp>
        <p:nvSpPr>
          <p:cNvPr id="11" name="Text 7"/>
          <p:cNvSpPr/>
          <p:nvPr/>
        </p:nvSpPr>
        <p:spPr>
          <a:xfrm>
            <a:off x="8092440" y="162763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Vehicle Topology</a:t>
            </a:r>
            <a:endParaRPr lang="en-US" sz="1400" dirty="0"/>
          </a:p>
        </p:txBody>
      </p:sp>
      <p:sp>
        <p:nvSpPr>
          <p:cNvPr id="12" name="Text 8"/>
          <p:cNvSpPr/>
          <p:nvPr/>
        </p:nvSpPr>
        <p:spPr>
          <a:xfrm>
            <a:off x="8092440" y="190195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Live per-node temperatures (Motor / Battery / Controller)</a:t>
            </a:r>
            <a:endParaRPr lang="en-US" sz="1050" dirty="0"/>
          </a:p>
        </p:txBody>
      </p:sp>
      <p:sp>
        <p:nvSpPr>
          <p:cNvPr id="13" name="Shape 9"/>
          <p:cNvSpPr/>
          <p:nvPr/>
        </p:nvSpPr>
        <p:spPr>
          <a:xfrm>
            <a:off x="7452360" y="2697480"/>
            <a:ext cx="502920" cy="502920"/>
          </a:xfrm>
          <a:prstGeom prst="ellipse">
            <a:avLst/>
          </a:prstGeom>
          <a:solidFill>
            <a:srgbClr val="16231C"/>
          </a:solidFill>
          <a:ln w="12700">
            <a:solidFill>
              <a:srgbClr val="1F7A4C"/>
            </a:solidFill>
            <a:prstDash val="solid"/>
          </a:ln>
        </p:spPr>
      </p:sp>
      <p:pic>
        <p:nvPicPr>
          <p:cNvPr id="14" name="Image 2" descr="preencoded.png"/>
          <p:cNvPicPr>
            <a:picLocks noChangeAspect="1"/>
          </p:cNvPicPr>
          <p:nvPr/>
        </p:nvPicPr>
        <p:blipFill>
          <a:blip r:embed="rId2"/>
          <a:stretch>
            <a:fillRect/>
          </a:stretch>
        </p:blipFill>
        <p:spPr>
          <a:xfrm>
            <a:off x="7517740" y="2762860"/>
            <a:ext cx="372161" cy="372161"/>
          </a:xfrm>
          <a:prstGeom prst="rect">
            <a:avLst/>
          </a:prstGeom>
        </p:spPr>
      </p:pic>
      <p:sp>
        <p:nvSpPr>
          <p:cNvPr id="15" name="Text 10"/>
          <p:cNvSpPr/>
          <p:nvPr/>
        </p:nvSpPr>
        <p:spPr>
          <a:xfrm>
            <a:off x="8092440" y="267919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Health Score</a:t>
            </a:r>
            <a:endParaRPr lang="en-US" sz="1400" dirty="0"/>
          </a:p>
        </p:txBody>
      </p:sp>
      <p:sp>
        <p:nvSpPr>
          <p:cNvPr id="16" name="Text 11"/>
          <p:cNvSpPr/>
          <p:nvPr/>
        </p:nvSpPr>
        <p:spPr>
          <a:xfrm>
            <a:off x="8092440" y="295351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HEALTHY / DEGRADED / CRITICAL</a:t>
            </a:r>
            <a:endParaRPr lang="en-US" sz="1050" dirty="0"/>
          </a:p>
        </p:txBody>
      </p:sp>
      <p:sp>
        <p:nvSpPr>
          <p:cNvPr id="17" name="Shape 12"/>
          <p:cNvSpPr/>
          <p:nvPr/>
        </p:nvSpPr>
        <p:spPr>
          <a:xfrm>
            <a:off x="7452360" y="3749040"/>
            <a:ext cx="502920" cy="502920"/>
          </a:xfrm>
          <a:prstGeom prst="ellipse">
            <a:avLst/>
          </a:prstGeom>
          <a:solidFill>
            <a:srgbClr val="16231C"/>
          </a:solidFill>
          <a:ln w="12700">
            <a:solidFill>
              <a:srgbClr val="1F7A4C"/>
            </a:solidFill>
            <a:prstDash val="solid"/>
          </a:ln>
        </p:spPr>
      </p:sp>
      <p:pic>
        <p:nvPicPr>
          <p:cNvPr id="18" name="Image 3" descr="preencoded.png"/>
          <p:cNvPicPr>
            <a:picLocks noChangeAspect="1"/>
          </p:cNvPicPr>
          <p:nvPr/>
        </p:nvPicPr>
        <p:blipFill>
          <a:blip r:embed="rId3"/>
          <a:stretch>
            <a:fillRect/>
          </a:stretch>
        </p:blipFill>
        <p:spPr>
          <a:xfrm>
            <a:off x="7517740" y="3814420"/>
            <a:ext cx="372161" cy="372161"/>
          </a:xfrm>
          <a:prstGeom prst="rect">
            <a:avLst/>
          </a:prstGeom>
        </p:spPr>
      </p:pic>
      <p:sp>
        <p:nvSpPr>
          <p:cNvPr id="19" name="Text 13"/>
          <p:cNvSpPr/>
          <p:nvPr/>
        </p:nvSpPr>
        <p:spPr>
          <a:xfrm>
            <a:off x="8092440" y="373075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Active Warnings</a:t>
            </a:r>
            <a:endParaRPr lang="en-US" sz="1400" dirty="0"/>
          </a:p>
        </p:txBody>
      </p:sp>
      <p:sp>
        <p:nvSpPr>
          <p:cNvPr id="20" name="Text 14"/>
          <p:cNvSpPr/>
          <p:nvPr/>
        </p:nvSpPr>
        <p:spPr>
          <a:xfrm>
            <a:off x="8092440" y="400507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Banner + last-fault history</a:t>
            </a:r>
            <a:endParaRPr lang="en-US" sz="1050" dirty="0"/>
          </a:p>
        </p:txBody>
      </p:sp>
      <p:sp>
        <p:nvSpPr>
          <p:cNvPr id="21" name="Shape 15"/>
          <p:cNvSpPr/>
          <p:nvPr/>
        </p:nvSpPr>
        <p:spPr>
          <a:xfrm>
            <a:off x="7452360" y="4800600"/>
            <a:ext cx="502920" cy="502920"/>
          </a:xfrm>
          <a:prstGeom prst="ellipse">
            <a:avLst/>
          </a:prstGeom>
          <a:solidFill>
            <a:srgbClr val="16231C"/>
          </a:solidFill>
          <a:ln w="12700">
            <a:solidFill>
              <a:srgbClr val="1F7A4C"/>
            </a:solidFill>
            <a:prstDash val="solid"/>
          </a:ln>
        </p:spPr>
      </p:sp>
      <p:pic>
        <p:nvPicPr>
          <p:cNvPr id="22" name="Image 4" descr="preencoded.png"/>
          <p:cNvPicPr>
            <a:picLocks noChangeAspect="1"/>
          </p:cNvPicPr>
          <p:nvPr/>
        </p:nvPicPr>
        <p:blipFill>
          <a:blip r:embed="rId4"/>
          <a:stretch>
            <a:fillRect/>
          </a:stretch>
        </p:blipFill>
        <p:spPr>
          <a:xfrm>
            <a:off x="7517740" y="4865980"/>
            <a:ext cx="372161" cy="372161"/>
          </a:xfrm>
          <a:prstGeom prst="rect">
            <a:avLst/>
          </a:prstGeom>
        </p:spPr>
      </p:pic>
      <p:sp>
        <p:nvSpPr>
          <p:cNvPr id="23" name="Text 16"/>
          <p:cNvSpPr/>
          <p:nvPr/>
        </p:nvSpPr>
        <p:spPr>
          <a:xfrm>
            <a:off x="8092440" y="4782312"/>
            <a:ext cx="3566160" cy="292608"/>
          </a:xfrm>
          <a:prstGeom prst="rect">
            <a:avLst/>
          </a:prstGeom>
          <a:noFill/>
        </p:spPr>
        <p:txBody>
          <a:bodyPr wrap="square" lIns="0" tIns="0" rIns="0" bIns="0" rtlCol="0" anchor="ctr"/>
          <a:lstStyle/>
          <a:p>
            <a:pPr marL="0" indent="0">
              <a:buNone/>
            </a:pPr>
            <a:r>
              <a:rPr lang="en-US" sz="1400" b="1" dirty="0">
                <a:solidFill>
                  <a:srgbClr val="EAF2ED"/>
                </a:solidFill>
                <a:latin typeface="Calibri" panose="020F0502020204030204" pitchFamily="34" charset="0"/>
                <a:ea typeface="Calibri" panose="020F0502020204030204" pitchFamily="34" charset="-122"/>
                <a:cs typeface="Calibri" panose="020F0502020204030204" pitchFamily="34" charset="-120"/>
              </a:rPr>
              <a:t>Status Tiles</a:t>
            </a:r>
            <a:endParaRPr lang="en-US" sz="1400" dirty="0"/>
          </a:p>
        </p:txBody>
      </p:sp>
      <p:sp>
        <p:nvSpPr>
          <p:cNvPr id="24" name="Text 17"/>
          <p:cNvSpPr/>
          <p:nvPr/>
        </p:nvSpPr>
        <p:spPr>
          <a:xfrm>
            <a:off x="8092440" y="5056632"/>
            <a:ext cx="3566160" cy="50292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Battery · Powertrain · Thermal · Comms</a:t>
            </a:r>
            <a:endParaRPr lang="en-US" sz="1050" dirty="0"/>
          </a:p>
        </p:txBody>
      </p:sp>
      <p:sp>
        <p:nvSpPr>
          <p:cNvPr id="25" name="Text 18"/>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09</a:t>
            </a:r>
            <a:endParaRPr lang="en-US" sz="1000" dirty="0"/>
          </a:p>
        </p:txBody>
      </p:sp>
      <p:pic>
        <p:nvPicPr>
          <p:cNvPr id="27" name="Picture 26"/>
          <p:cNvPicPr>
            <a:picLocks noChangeAspect="1"/>
          </p:cNvPicPr>
          <p:nvPr/>
        </p:nvPicPr>
        <p:blipFill>
          <a:blip r:embed="rId5"/>
          <a:srcRect l="368"/>
          <a:stretch>
            <a:fillRect/>
          </a:stretch>
        </p:blipFill>
        <p:spPr>
          <a:xfrm>
            <a:off x="800100" y="1734185"/>
            <a:ext cx="6195060" cy="4160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TECHNICIAN VIEW</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Engineer Mode</a:t>
            </a:r>
            <a:endParaRPr lang="en-US" sz="3200" dirty="0"/>
          </a:p>
        </p:txBody>
      </p:sp>
      <p:sp>
        <p:nvSpPr>
          <p:cNvPr id="4" name="Text 2"/>
          <p:cNvSpPr/>
          <p:nvPr/>
        </p:nvSpPr>
        <p:spPr>
          <a:xfrm>
            <a:off x="640080" y="1600200"/>
            <a:ext cx="4480560" cy="4206240"/>
          </a:xfrm>
          <a:prstGeom prst="rect">
            <a:avLst/>
          </a:prstGeom>
          <a:noFill/>
        </p:spPr>
        <p:txBody>
          <a:bodyPr wrap="square" lIns="0" tIns="0" rIns="0" bIns="0" rtlCol="0" anchor="t"/>
          <a:lstStyle/>
          <a:p>
            <a:pPr marL="342900" indent="-342900">
              <a:lnSpc>
                <a:spcPct val="108000"/>
              </a:lnSpc>
              <a:spcAft>
                <a:spcPts val="1600"/>
              </a:spcAft>
              <a:buSzPct val="100000"/>
              <a:buChar char="▪"/>
            </a:pPr>
            <a:r>
              <a:rPr lang="en-US" sz="1450" dirty="0">
                <a:solidFill>
                  <a:srgbClr val="EAF2ED"/>
                </a:solidFill>
                <a:latin typeface="Calibri" panose="020F0502020204030204" pitchFamily="34" charset="0"/>
                <a:ea typeface="Calibri" panose="020F0502020204030204" pitchFamily="34" charset="-122"/>
                <a:cs typeface="Calibri" panose="020F0502020204030204" pitchFamily="34" charset="-120"/>
              </a:rPr>
              <a:t>Hidden behind a long-press gesture — not part of normal driving UX</a:t>
            </a:r>
            <a:endParaRPr lang="en-US" sz="1450" dirty="0"/>
          </a:p>
          <a:p>
            <a:pPr marL="342900" indent="-342900">
              <a:lnSpc>
                <a:spcPct val="108000"/>
              </a:lnSpc>
              <a:spcAft>
                <a:spcPts val="1600"/>
              </a:spcAft>
              <a:buSzPct val="100000"/>
              <a:buChar char="▪"/>
            </a:pPr>
            <a:r>
              <a:rPr lang="en-US" sz="1450" dirty="0">
                <a:solidFill>
                  <a:srgbClr val="EAF2ED"/>
                </a:solidFill>
                <a:latin typeface="Calibri" panose="020F0502020204030204" pitchFamily="34" charset="0"/>
                <a:ea typeface="Calibri" panose="020F0502020204030204" pitchFamily="34" charset="-122"/>
                <a:cs typeface="Calibri" panose="020F0502020204030204" pitchFamily="34" charset="-120"/>
              </a:rPr>
              <a:t>Live raw frame view + frame/invalid/checksum counters</a:t>
            </a:r>
            <a:endParaRPr lang="en-US" sz="1450" dirty="0"/>
          </a:p>
          <a:p>
            <a:pPr marL="342900" indent="-342900">
              <a:lnSpc>
                <a:spcPct val="108000"/>
              </a:lnSpc>
              <a:spcAft>
                <a:spcPts val="1600"/>
              </a:spcAft>
              <a:buSzPct val="100000"/>
              <a:buChar char="▪"/>
            </a:pPr>
            <a:r>
              <a:rPr lang="en-US" sz="1450" dirty="0">
                <a:solidFill>
                  <a:srgbClr val="EAF2ED"/>
                </a:solidFill>
                <a:latin typeface="Calibri" panose="020F0502020204030204" pitchFamily="34" charset="0"/>
                <a:ea typeface="Calibri" panose="020F0502020204030204" pitchFamily="34" charset="-122"/>
                <a:cs typeface="Calibri" panose="020F0502020204030204" pitchFamily="34" charset="-120"/>
              </a:rPr>
              <a:t>Fault entries with DTC-style codes, thresholds, and root causes</a:t>
            </a:r>
            <a:endParaRPr lang="en-US" sz="1450" dirty="0"/>
          </a:p>
          <a:p>
            <a:pPr marL="342900" indent="-342900">
              <a:lnSpc>
                <a:spcPct val="108000"/>
              </a:lnSpc>
              <a:spcAft>
                <a:spcPts val="1600"/>
              </a:spcAft>
              <a:buSzPct val="100000"/>
              <a:buChar char="▪"/>
            </a:pPr>
            <a:r>
              <a:rPr lang="en-US" sz="1450" dirty="0">
                <a:solidFill>
                  <a:srgbClr val="EAF2ED"/>
                </a:solidFill>
                <a:latin typeface="Calibri" panose="020F0502020204030204" pitchFamily="34" charset="0"/>
                <a:ea typeface="Calibri" panose="020F0502020204030204" pitchFamily="34" charset="-122"/>
                <a:cs typeface="Calibri" panose="020F0502020204030204" pitchFamily="34" charset="-120"/>
              </a:rPr>
              <a:t>Reads the same VehicleData instance — no separate data pipeline</a:t>
            </a:r>
            <a:endParaRPr lang="en-US" sz="1450" dirty="0"/>
          </a:p>
        </p:txBody>
      </p:sp>
      <p:sp>
        <p:nvSpPr>
          <p:cNvPr id="5" name="Shape 3"/>
          <p:cNvSpPr/>
          <p:nvPr/>
        </p:nvSpPr>
        <p:spPr>
          <a:xfrm>
            <a:off x="5486400" y="1691640"/>
            <a:ext cx="1874520" cy="1417320"/>
          </a:xfrm>
          <a:prstGeom prst="roundRect">
            <a:avLst>
              <a:gd name="adj" fmla="val 5161"/>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6" name="Shape 4"/>
          <p:cNvSpPr/>
          <p:nvPr/>
        </p:nvSpPr>
        <p:spPr>
          <a:xfrm>
            <a:off x="6131052" y="1892808"/>
            <a:ext cx="585216" cy="585216"/>
          </a:xfrm>
          <a:prstGeom prst="ellipse">
            <a:avLst/>
          </a:prstGeom>
          <a:solidFill>
            <a:srgbClr val="16231C"/>
          </a:solidFill>
          <a:ln w="12700">
            <a:solidFill>
              <a:srgbClr val="1F7A4C"/>
            </a:solidFill>
            <a:prstDash val="solid"/>
          </a:ln>
        </p:spPr>
      </p:sp>
      <p:pic>
        <p:nvPicPr>
          <p:cNvPr id="7" name="Image 0" descr="preencoded.png"/>
          <p:cNvPicPr>
            <a:picLocks noChangeAspect="1"/>
          </p:cNvPicPr>
          <p:nvPr/>
        </p:nvPicPr>
        <p:blipFill>
          <a:blip r:embed="rId1"/>
          <a:stretch>
            <a:fillRect/>
          </a:stretch>
        </p:blipFill>
        <p:spPr>
          <a:xfrm>
            <a:off x="6207130" y="1968886"/>
            <a:ext cx="433060" cy="433060"/>
          </a:xfrm>
          <a:prstGeom prst="rect">
            <a:avLst/>
          </a:prstGeom>
        </p:spPr>
      </p:pic>
      <p:sp>
        <p:nvSpPr>
          <p:cNvPr id="8" name="Text 5"/>
          <p:cNvSpPr/>
          <p:nvPr/>
        </p:nvSpPr>
        <p:spPr>
          <a:xfrm>
            <a:off x="5577840" y="2651760"/>
            <a:ext cx="1691640" cy="320040"/>
          </a:xfrm>
          <a:prstGeom prst="rect">
            <a:avLst/>
          </a:prstGeom>
          <a:noFill/>
        </p:spPr>
        <p:txBody>
          <a:bodyPr wrap="square" lIns="0" tIns="0" rIns="0" bIns="0" rtlCol="0" anchor="t"/>
          <a:lstStyle/>
          <a:p>
            <a:pPr marL="0" indent="0" algn="ctr">
              <a:buNone/>
            </a:pPr>
            <a:r>
              <a:rPr lang="en-US" sz="1200" b="1" dirty="0">
                <a:solidFill>
                  <a:srgbClr val="EAF2ED"/>
                </a:solidFill>
                <a:latin typeface="Calibri" panose="020F0502020204030204" pitchFamily="34" charset="0"/>
                <a:ea typeface="Calibri" panose="020F0502020204030204" pitchFamily="34" charset="-122"/>
                <a:cs typeface="Calibri" panose="020F0502020204030204" pitchFamily="34" charset="-120"/>
              </a:rPr>
              <a:t>Overview</a:t>
            </a:r>
            <a:endParaRPr lang="en-US" sz="1200" dirty="0"/>
          </a:p>
        </p:txBody>
      </p:sp>
      <p:sp>
        <p:nvSpPr>
          <p:cNvPr id="9" name="Shape 6"/>
          <p:cNvSpPr/>
          <p:nvPr/>
        </p:nvSpPr>
        <p:spPr>
          <a:xfrm>
            <a:off x="7543800" y="1691640"/>
            <a:ext cx="1874520" cy="1417320"/>
          </a:xfrm>
          <a:prstGeom prst="roundRect">
            <a:avLst>
              <a:gd name="adj" fmla="val 5161"/>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10" name="Shape 7"/>
          <p:cNvSpPr/>
          <p:nvPr/>
        </p:nvSpPr>
        <p:spPr>
          <a:xfrm>
            <a:off x="8188452" y="1892808"/>
            <a:ext cx="585216" cy="585216"/>
          </a:xfrm>
          <a:prstGeom prst="ellipse">
            <a:avLst/>
          </a:prstGeom>
          <a:solidFill>
            <a:srgbClr val="16231C"/>
          </a:solidFill>
          <a:ln w="12700">
            <a:solidFill>
              <a:srgbClr val="1F7A4C"/>
            </a:solidFill>
            <a:prstDash val="solid"/>
          </a:ln>
        </p:spPr>
      </p:sp>
      <p:pic>
        <p:nvPicPr>
          <p:cNvPr id="11" name="Image 1" descr="preencoded.png"/>
          <p:cNvPicPr>
            <a:picLocks noChangeAspect="1"/>
          </p:cNvPicPr>
          <p:nvPr/>
        </p:nvPicPr>
        <p:blipFill>
          <a:blip r:embed="rId2"/>
          <a:stretch>
            <a:fillRect/>
          </a:stretch>
        </p:blipFill>
        <p:spPr>
          <a:xfrm>
            <a:off x="8264530" y="1968886"/>
            <a:ext cx="433060" cy="433060"/>
          </a:xfrm>
          <a:prstGeom prst="rect">
            <a:avLst/>
          </a:prstGeom>
        </p:spPr>
      </p:pic>
      <p:sp>
        <p:nvSpPr>
          <p:cNvPr id="12" name="Text 8"/>
          <p:cNvSpPr/>
          <p:nvPr/>
        </p:nvSpPr>
        <p:spPr>
          <a:xfrm>
            <a:off x="7635240" y="2651760"/>
            <a:ext cx="1691640" cy="320040"/>
          </a:xfrm>
          <a:prstGeom prst="rect">
            <a:avLst/>
          </a:prstGeom>
          <a:noFill/>
        </p:spPr>
        <p:txBody>
          <a:bodyPr wrap="square" lIns="0" tIns="0" rIns="0" bIns="0" rtlCol="0" anchor="t"/>
          <a:lstStyle/>
          <a:p>
            <a:pPr marL="0" indent="0" algn="ctr">
              <a:buNone/>
            </a:pPr>
            <a:r>
              <a:rPr lang="en-US" sz="1200" b="1" dirty="0">
                <a:solidFill>
                  <a:srgbClr val="EAF2ED"/>
                </a:solidFill>
                <a:latin typeface="Calibri" panose="020F0502020204030204" pitchFamily="34" charset="0"/>
                <a:ea typeface="Calibri" panose="020F0502020204030204" pitchFamily="34" charset="-122"/>
                <a:cs typeface="Calibri" panose="020F0502020204030204" pitchFamily="34" charset="-120"/>
              </a:rPr>
              <a:t>Telemetry</a:t>
            </a:r>
            <a:endParaRPr lang="en-US" sz="1200" dirty="0"/>
          </a:p>
        </p:txBody>
      </p:sp>
      <p:sp>
        <p:nvSpPr>
          <p:cNvPr id="13" name="Shape 9"/>
          <p:cNvSpPr/>
          <p:nvPr/>
        </p:nvSpPr>
        <p:spPr>
          <a:xfrm>
            <a:off x="9601200" y="1691640"/>
            <a:ext cx="1874520" cy="1417320"/>
          </a:xfrm>
          <a:prstGeom prst="roundRect">
            <a:avLst>
              <a:gd name="adj" fmla="val 5161"/>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14" name="Shape 10"/>
          <p:cNvSpPr/>
          <p:nvPr/>
        </p:nvSpPr>
        <p:spPr>
          <a:xfrm>
            <a:off x="10245852" y="1892808"/>
            <a:ext cx="585216" cy="585216"/>
          </a:xfrm>
          <a:prstGeom prst="ellipse">
            <a:avLst/>
          </a:prstGeom>
          <a:solidFill>
            <a:srgbClr val="16231C"/>
          </a:solidFill>
          <a:ln w="12700">
            <a:solidFill>
              <a:srgbClr val="1F7A4C"/>
            </a:solidFill>
            <a:prstDash val="solid"/>
          </a:ln>
        </p:spPr>
      </p:sp>
      <p:pic>
        <p:nvPicPr>
          <p:cNvPr id="15" name="Image 2" descr="preencoded.png"/>
          <p:cNvPicPr>
            <a:picLocks noChangeAspect="1"/>
          </p:cNvPicPr>
          <p:nvPr/>
        </p:nvPicPr>
        <p:blipFill>
          <a:blip r:embed="rId3"/>
          <a:stretch>
            <a:fillRect/>
          </a:stretch>
        </p:blipFill>
        <p:spPr>
          <a:xfrm>
            <a:off x="10321930" y="1968886"/>
            <a:ext cx="433060" cy="433060"/>
          </a:xfrm>
          <a:prstGeom prst="rect">
            <a:avLst/>
          </a:prstGeom>
        </p:spPr>
      </p:pic>
      <p:sp>
        <p:nvSpPr>
          <p:cNvPr id="16" name="Text 11"/>
          <p:cNvSpPr/>
          <p:nvPr/>
        </p:nvSpPr>
        <p:spPr>
          <a:xfrm>
            <a:off x="9692640" y="2651760"/>
            <a:ext cx="1691640" cy="320040"/>
          </a:xfrm>
          <a:prstGeom prst="rect">
            <a:avLst/>
          </a:prstGeom>
          <a:noFill/>
        </p:spPr>
        <p:txBody>
          <a:bodyPr wrap="square" lIns="0" tIns="0" rIns="0" bIns="0" rtlCol="0" anchor="t"/>
          <a:lstStyle/>
          <a:p>
            <a:pPr marL="0" indent="0" algn="ctr">
              <a:buNone/>
            </a:pPr>
            <a:r>
              <a:rPr lang="en-US" sz="1200" b="1" dirty="0">
                <a:solidFill>
                  <a:srgbClr val="EAF2ED"/>
                </a:solidFill>
                <a:latin typeface="Calibri" panose="020F0502020204030204" pitchFamily="34" charset="0"/>
                <a:ea typeface="Calibri" panose="020F0502020204030204" pitchFamily="34" charset="-122"/>
                <a:cs typeface="Calibri" panose="020F0502020204030204" pitchFamily="34" charset="-120"/>
              </a:rPr>
              <a:t>Thermal</a:t>
            </a:r>
            <a:endParaRPr lang="en-US" sz="1200" dirty="0"/>
          </a:p>
        </p:txBody>
      </p:sp>
      <p:sp>
        <p:nvSpPr>
          <p:cNvPr id="17" name="Shape 12"/>
          <p:cNvSpPr/>
          <p:nvPr/>
        </p:nvSpPr>
        <p:spPr>
          <a:xfrm>
            <a:off x="5486400" y="3291840"/>
            <a:ext cx="1874520" cy="1417320"/>
          </a:xfrm>
          <a:prstGeom prst="roundRect">
            <a:avLst>
              <a:gd name="adj" fmla="val 5161"/>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18" name="Shape 13"/>
          <p:cNvSpPr/>
          <p:nvPr/>
        </p:nvSpPr>
        <p:spPr>
          <a:xfrm>
            <a:off x="6131052" y="3493008"/>
            <a:ext cx="585216" cy="585216"/>
          </a:xfrm>
          <a:prstGeom prst="ellipse">
            <a:avLst/>
          </a:prstGeom>
          <a:solidFill>
            <a:srgbClr val="16231C"/>
          </a:solidFill>
          <a:ln w="12700">
            <a:solidFill>
              <a:srgbClr val="1F7A4C"/>
            </a:solidFill>
            <a:prstDash val="solid"/>
          </a:ln>
        </p:spPr>
      </p:sp>
      <p:pic>
        <p:nvPicPr>
          <p:cNvPr id="19" name="Image 3" descr="preencoded.png"/>
          <p:cNvPicPr>
            <a:picLocks noChangeAspect="1"/>
          </p:cNvPicPr>
          <p:nvPr/>
        </p:nvPicPr>
        <p:blipFill>
          <a:blip r:embed="rId4"/>
          <a:stretch>
            <a:fillRect/>
          </a:stretch>
        </p:blipFill>
        <p:spPr>
          <a:xfrm>
            <a:off x="6207130" y="3569086"/>
            <a:ext cx="433060" cy="433060"/>
          </a:xfrm>
          <a:prstGeom prst="rect">
            <a:avLst/>
          </a:prstGeom>
        </p:spPr>
      </p:pic>
      <p:sp>
        <p:nvSpPr>
          <p:cNvPr id="20" name="Text 14"/>
          <p:cNvSpPr/>
          <p:nvPr/>
        </p:nvSpPr>
        <p:spPr>
          <a:xfrm>
            <a:off x="5577840" y="4251960"/>
            <a:ext cx="1691640" cy="320040"/>
          </a:xfrm>
          <a:prstGeom prst="rect">
            <a:avLst/>
          </a:prstGeom>
          <a:noFill/>
        </p:spPr>
        <p:txBody>
          <a:bodyPr wrap="square" lIns="0" tIns="0" rIns="0" bIns="0" rtlCol="0" anchor="t"/>
          <a:lstStyle/>
          <a:p>
            <a:pPr marL="0" indent="0" algn="ctr">
              <a:buNone/>
            </a:pPr>
            <a:r>
              <a:rPr lang="en-US" sz="1200" b="1" dirty="0">
                <a:solidFill>
                  <a:srgbClr val="EAF2ED"/>
                </a:solidFill>
                <a:latin typeface="Calibri" panose="020F0502020204030204" pitchFamily="34" charset="0"/>
                <a:ea typeface="Calibri" panose="020F0502020204030204" pitchFamily="34" charset="-122"/>
                <a:cs typeface="Calibri" panose="020F0502020204030204" pitchFamily="34" charset="-120"/>
              </a:rPr>
              <a:t>Powertrain</a:t>
            </a:r>
            <a:endParaRPr lang="en-US" sz="1200" dirty="0"/>
          </a:p>
        </p:txBody>
      </p:sp>
      <p:sp>
        <p:nvSpPr>
          <p:cNvPr id="21" name="Shape 15"/>
          <p:cNvSpPr/>
          <p:nvPr/>
        </p:nvSpPr>
        <p:spPr>
          <a:xfrm>
            <a:off x="7543800" y="3291840"/>
            <a:ext cx="1874520" cy="1417320"/>
          </a:xfrm>
          <a:prstGeom prst="roundRect">
            <a:avLst>
              <a:gd name="adj" fmla="val 5161"/>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22" name="Shape 16"/>
          <p:cNvSpPr/>
          <p:nvPr/>
        </p:nvSpPr>
        <p:spPr>
          <a:xfrm>
            <a:off x="8188452" y="3493008"/>
            <a:ext cx="585216" cy="585216"/>
          </a:xfrm>
          <a:prstGeom prst="ellipse">
            <a:avLst/>
          </a:prstGeom>
          <a:solidFill>
            <a:srgbClr val="16231C"/>
          </a:solidFill>
          <a:ln w="12700">
            <a:solidFill>
              <a:srgbClr val="1F7A4C"/>
            </a:solidFill>
            <a:prstDash val="solid"/>
          </a:ln>
        </p:spPr>
      </p:sp>
      <p:pic>
        <p:nvPicPr>
          <p:cNvPr id="23" name="Image 4" descr="preencoded.png"/>
          <p:cNvPicPr>
            <a:picLocks noChangeAspect="1"/>
          </p:cNvPicPr>
          <p:nvPr/>
        </p:nvPicPr>
        <p:blipFill>
          <a:blip r:embed="rId5"/>
          <a:stretch>
            <a:fillRect/>
          </a:stretch>
        </p:blipFill>
        <p:spPr>
          <a:xfrm>
            <a:off x="8264530" y="3569086"/>
            <a:ext cx="433060" cy="433060"/>
          </a:xfrm>
          <a:prstGeom prst="rect">
            <a:avLst/>
          </a:prstGeom>
        </p:spPr>
      </p:pic>
      <p:sp>
        <p:nvSpPr>
          <p:cNvPr id="24" name="Text 17"/>
          <p:cNvSpPr/>
          <p:nvPr/>
        </p:nvSpPr>
        <p:spPr>
          <a:xfrm>
            <a:off x="7635240" y="4251960"/>
            <a:ext cx="1691640" cy="320040"/>
          </a:xfrm>
          <a:prstGeom prst="rect">
            <a:avLst/>
          </a:prstGeom>
          <a:noFill/>
        </p:spPr>
        <p:txBody>
          <a:bodyPr wrap="square" lIns="0" tIns="0" rIns="0" bIns="0" rtlCol="0" anchor="t"/>
          <a:lstStyle/>
          <a:p>
            <a:pPr marL="0" indent="0" algn="ctr">
              <a:buNone/>
            </a:pPr>
            <a:r>
              <a:rPr lang="en-US" sz="1200" b="1" dirty="0">
                <a:solidFill>
                  <a:srgbClr val="EAF2ED"/>
                </a:solidFill>
                <a:latin typeface="Calibri" panose="020F0502020204030204" pitchFamily="34" charset="0"/>
                <a:ea typeface="Calibri" panose="020F0502020204030204" pitchFamily="34" charset="-122"/>
                <a:cs typeface="Calibri" panose="020F0502020204030204" pitchFamily="34" charset="-120"/>
              </a:rPr>
              <a:t>Communication</a:t>
            </a:r>
            <a:endParaRPr lang="en-US" sz="1200" dirty="0"/>
          </a:p>
        </p:txBody>
      </p:sp>
      <p:sp>
        <p:nvSpPr>
          <p:cNvPr id="25" name="Shape 18"/>
          <p:cNvSpPr/>
          <p:nvPr/>
        </p:nvSpPr>
        <p:spPr>
          <a:xfrm>
            <a:off x="9601200" y="3291840"/>
            <a:ext cx="1874520" cy="1417320"/>
          </a:xfrm>
          <a:prstGeom prst="roundRect">
            <a:avLst>
              <a:gd name="adj" fmla="val 5161"/>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26" name="Shape 19"/>
          <p:cNvSpPr/>
          <p:nvPr/>
        </p:nvSpPr>
        <p:spPr>
          <a:xfrm>
            <a:off x="10245852" y="3493008"/>
            <a:ext cx="585216" cy="585216"/>
          </a:xfrm>
          <a:prstGeom prst="ellipse">
            <a:avLst/>
          </a:prstGeom>
          <a:solidFill>
            <a:srgbClr val="16231C"/>
          </a:solidFill>
          <a:ln w="12700">
            <a:solidFill>
              <a:srgbClr val="1F7A4C"/>
            </a:solidFill>
            <a:prstDash val="solid"/>
          </a:ln>
        </p:spPr>
      </p:sp>
      <p:pic>
        <p:nvPicPr>
          <p:cNvPr id="27" name="Image 5" descr="preencoded.png"/>
          <p:cNvPicPr>
            <a:picLocks noChangeAspect="1"/>
          </p:cNvPicPr>
          <p:nvPr/>
        </p:nvPicPr>
        <p:blipFill>
          <a:blip r:embed="rId6"/>
          <a:stretch>
            <a:fillRect/>
          </a:stretch>
        </p:blipFill>
        <p:spPr>
          <a:xfrm>
            <a:off x="10321930" y="3569086"/>
            <a:ext cx="433060" cy="433060"/>
          </a:xfrm>
          <a:prstGeom prst="rect">
            <a:avLst/>
          </a:prstGeom>
        </p:spPr>
      </p:pic>
      <p:sp>
        <p:nvSpPr>
          <p:cNvPr id="28" name="Text 20"/>
          <p:cNvSpPr/>
          <p:nvPr/>
        </p:nvSpPr>
        <p:spPr>
          <a:xfrm>
            <a:off x="9692640" y="4251960"/>
            <a:ext cx="1691640" cy="320040"/>
          </a:xfrm>
          <a:prstGeom prst="rect">
            <a:avLst/>
          </a:prstGeom>
          <a:noFill/>
        </p:spPr>
        <p:txBody>
          <a:bodyPr wrap="square" lIns="0" tIns="0" rIns="0" bIns="0" rtlCol="0" anchor="t"/>
          <a:lstStyle/>
          <a:p>
            <a:pPr marL="0" indent="0" algn="ctr">
              <a:buNone/>
            </a:pPr>
            <a:r>
              <a:rPr lang="en-US" sz="1200" b="1" dirty="0">
                <a:solidFill>
                  <a:srgbClr val="EAF2ED"/>
                </a:solidFill>
                <a:latin typeface="Calibri" panose="020F0502020204030204" pitchFamily="34" charset="0"/>
                <a:ea typeface="Calibri" panose="020F0502020204030204" pitchFamily="34" charset="-122"/>
                <a:cs typeface="Calibri" panose="020F0502020204030204" pitchFamily="34" charset="-120"/>
              </a:rPr>
              <a:t>Faults</a:t>
            </a:r>
            <a:endParaRPr lang="en-US" sz="1200" dirty="0"/>
          </a:p>
        </p:txBody>
      </p:sp>
      <p:sp>
        <p:nvSpPr>
          <p:cNvPr id="29" name="Text 21"/>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10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DEVELOPMENT TOOLING</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Simulation Framework</a:t>
            </a:r>
            <a:endParaRPr lang="en-US" sz="3200" dirty="0"/>
          </a:p>
        </p:txBody>
      </p:sp>
      <p:sp>
        <p:nvSpPr>
          <p:cNvPr id="4" name="Text 2"/>
          <p:cNvSpPr/>
          <p:nvPr/>
        </p:nvSpPr>
        <p:spPr>
          <a:xfrm>
            <a:off x="640080" y="1600200"/>
            <a:ext cx="5760720" cy="4206240"/>
          </a:xfrm>
          <a:prstGeom prst="rect">
            <a:avLst/>
          </a:prstGeom>
          <a:noFill/>
        </p:spPr>
        <p:txBody>
          <a:bodyPr wrap="square" lIns="0" tIns="0" rIns="0" bIns="0" rtlCol="0" anchor="t"/>
          <a:lstStyle/>
          <a:p>
            <a:pPr marL="342900" indent="-342900">
              <a:lnSpc>
                <a:spcPct val="108000"/>
              </a:lnSpc>
              <a:spcAft>
                <a:spcPts val="14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TelemetrySimulator stands in for the STM32 via IDataSource</a:t>
            </a:r>
            <a:endParaRPr lang="en-US" sz="1500" dirty="0"/>
          </a:p>
          <a:p>
            <a:pPr marL="342900" indent="-342900">
              <a:lnSpc>
                <a:spcPct val="108000"/>
              </a:lnSpc>
              <a:spcAft>
                <a:spcPts val="14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Driven by PS3 controller or keyboard instead of pedals</a:t>
            </a:r>
            <a:endParaRPr lang="en-US" sz="1500" dirty="0"/>
          </a:p>
          <a:p>
            <a:pPr marL="342900" indent="-342900">
              <a:lnSpc>
                <a:spcPct val="108000"/>
              </a:lnSpc>
              <a:spcAft>
                <a:spcPts val="14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Internal SimulationState models thermal drift and battery drain</a:t>
            </a:r>
            <a:endParaRPr lang="en-US" sz="1500" dirty="0"/>
          </a:p>
          <a:p>
            <a:pPr marL="342900" indent="-342900">
              <a:lnSpc>
                <a:spcPct val="108000"/>
              </a:lnSpc>
              <a:spcAft>
                <a:spcPts val="14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Pushes through the same setters real telemetry would use</a:t>
            </a:r>
            <a:endParaRPr lang="en-US" sz="1500" dirty="0"/>
          </a:p>
          <a:p>
            <a:pPr marL="342900" indent="-342900">
              <a:lnSpc>
                <a:spcPct val="108000"/>
              </a:lnSpc>
              <a:spcAft>
                <a:spcPts val="1400"/>
              </a:spcAft>
              <a:buSzPct val="100000"/>
              <a:buChar char="▪"/>
            </a:pPr>
            <a:r>
              <a:rPr lang="en-US" sz="1500" dirty="0">
                <a:solidFill>
                  <a:srgbClr val="EAF2ED"/>
                </a:solidFill>
                <a:latin typeface="Calibri" panose="020F0502020204030204" pitchFamily="34" charset="0"/>
                <a:ea typeface="Calibri" panose="020F0502020204030204" pitchFamily="34" charset="-122"/>
                <a:cs typeface="Calibri" panose="020F0502020204030204" pitchFamily="34" charset="-120"/>
              </a:rPr>
              <a:t>Any bug reproducible in simulation reproduces identically on hardware</a:t>
            </a:r>
            <a:endParaRPr lang="en-US" sz="1500" dirty="0"/>
          </a:p>
        </p:txBody>
      </p:sp>
      <p:sp>
        <p:nvSpPr>
          <p:cNvPr id="5" name="Shape 3"/>
          <p:cNvSpPr/>
          <p:nvPr/>
        </p:nvSpPr>
        <p:spPr>
          <a:xfrm>
            <a:off x="7223760" y="1920240"/>
            <a:ext cx="2286000" cy="777240"/>
          </a:xfrm>
          <a:prstGeom prst="roundRect">
            <a:avLst>
              <a:gd name="adj" fmla="val 9412"/>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6" name="Shape 4"/>
          <p:cNvSpPr/>
          <p:nvPr/>
        </p:nvSpPr>
        <p:spPr>
          <a:xfrm>
            <a:off x="7360920" y="2048256"/>
            <a:ext cx="512064" cy="512064"/>
          </a:xfrm>
          <a:prstGeom prst="ellipse">
            <a:avLst/>
          </a:prstGeom>
          <a:solidFill>
            <a:srgbClr val="16231C"/>
          </a:solidFill>
          <a:ln w="12700">
            <a:solidFill>
              <a:srgbClr val="1F7A4C"/>
            </a:solidFill>
            <a:prstDash val="solid"/>
          </a:ln>
        </p:spPr>
      </p:sp>
      <p:pic>
        <p:nvPicPr>
          <p:cNvPr id="7" name="Image 0" descr="preencoded.png"/>
          <p:cNvPicPr>
            <a:picLocks noChangeAspect="1"/>
          </p:cNvPicPr>
          <p:nvPr/>
        </p:nvPicPr>
        <p:blipFill>
          <a:blip r:embed="rId1"/>
          <a:stretch>
            <a:fillRect/>
          </a:stretch>
        </p:blipFill>
        <p:spPr>
          <a:xfrm>
            <a:off x="7427488" y="2114824"/>
            <a:ext cx="378927" cy="378927"/>
          </a:xfrm>
          <a:prstGeom prst="rect">
            <a:avLst/>
          </a:prstGeom>
        </p:spPr>
      </p:pic>
      <p:sp>
        <p:nvSpPr>
          <p:cNvPr id="8" name="Text 5"/>
          <p:cNvSpPr/>
          <p:nvPr/>
        </p:nvSpPr>
        <p:spPr>
          <a:xfrm>
            <a:off x="8001000" y="2029968"/>
            <a:ext cx="1371600" cy="548640"/>
          </a:xfrm>
          <a:prstGeom prst="rect">
            <a:avLst/>
          </a:prstGeom>
          <a:noFill/>
        </p:spPr>
        <p:txBody>
          <a:bodyPr wrap="square" lIns="0" tIns="0" rIns="0" bIns="0" rtlCol="0" anchor="t"/>
          <a:lstStyle/>
          <a:p>
            <a:pPr marL="0" indent="0" algn="l">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Controller /</a:t>
            </a:r>
            <a:endParaRPr lang="en-US" sz="1100" dirty="0"/>
          </a:p>
          <a:p>
            <a:pPr marL="0" indent="0" algn="l">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Keyboard</a:t>
            </a:r>
            <a:endParaRPr lang="en-US" sz="1100" dirty="0"/>
          </a:p>
        </p:txBody>
      </p:sp>
      <p:sp>
        <p:nvSpPr>
          <p:cNvPr id="9" name="Shape 6"/>
          <p:cNvSpPr/>
          <p:nvPr/>
        </p:nvSpPr>
        <p:spPr>
          <a:xfrm>
            <a:off x="7223760" y="3246120"/>
            <a:ext cx="2286000" cy="777240"/>
          </a:xfrm>
          <a:prstGeom prst="roundRect">
            <a:avLst>
              <a:gd name="adj" fmla="val 9412"/>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10" name="Shape 7"/>
          <p:cNvSpPr/>
          <p:nvPr/>
        </p:nvSpPr>
        <p:spPr>
          <a:xfrm>
            <a:off x="7360920" y="3374136"/>
            <a:ext cx="512064" cy="512064"/>
          </a:xfrm>
          <a:prstGeom prst="ellipse">
            <a:avLst/>
          </a:prstGeom>
          <a:solidFill>
            <a:srgbClr val="16231C"/>
          </a:solidFill>
          <a:ln w="12700">
            <a:solidFill>
              <a:srgbClr val="1F7A4C"/>
            </a:solidFill>
            <a:prstDash val="solid"/>
          </a:ln>
        </p:spPr>
      </p:sp>
      <p:pic>
        <p:nvPicPr>
          <p:cNvPr id="11" name="Image 1" descr="preencoded.png"/>
          <p:cNvPicPr>
            <a:picLocks noChangeAspect="1"/>
          </p:cNvPicPr>
          <p:nvPr/>
        </p:nvPicPr>
        <p:blipFill>
          <a:blip r:embed="rId2"/>
          <a:stretch>
            <a:fillRect/>
          </a:stretch>
        </p:blipFill>
        <p:spPr>
          <a:xfrm>
            <a:off x="7427488" y="3440704"/>
            <a:ext cx="378927" cy="378927"/>
          </a:xfrm>
          <a:prstGeom prst="rect">
            <a:avLst/>
          </a:prstGeom>
        </p:spPr>
      </p:pic>
      <p:sp>
        <p:nvSpPr>
          <p:cNvPr id="12" name="Text 8"/>
          <p:cNvSpPr/>
          <p:nvPr/>
        </p:nvSpPr>
        <p:spPr>
          <a:xfrm>
            <a:off x="8001000" y="3355848"/>
            <a:ext cx="1371600" cy="548640"/>
          </a:xfrm>
          <a:prstGeom prst="rect">
            <a:avLst/>
          </a:prstGeom>
          <a:noFill/>
        </p:spPr>
        <p:txBody>
          <a:bodyPr wrap="square" lIns="0" tIns="0" rIns="0" bIns="0" rtlCol="0" anchor="t"/>
          <a:lstStyle/>
          <a:p>
            <a:pPr marL="0" indent="0" algn="l">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STM32</a:t>
            </a:r>
            <a:endParaRPr lang="en-US" sz="1100" dirty="0"/>
          </a:p>
          <a:p>
            <a:pPr marL="0" indent="0" algn="l">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Hardware</a:t>
            </a:r>
            <a:endParaRPr lang="en-US" sz="1100" dirty="0"/>
          </a:p>
        </p:txBody>
      </p:sp>
      <p:sp>
        <p:nvSpPr>
          <p:cNvPr id="13" name="Shape 9"/>
          <p:cNvSpPr/>
          <p:nvPr/>
        </p:nvSpPr>
        <p:spPr>
          <a:xfrm>
            <a:off x="9966960" y="2606040"/>
            <a:ext cx="1737360" cy="777240"/>
          </a:xfrm>
          <a:prstGeom prst="roundRect">
            <a:avLst>
              <a:gd name="adj" fmla="val 9412"/>
            </a:avLst>
          </a:prstGeom>
          <a:solidFill>
            <a:srgbClr val="1A2420"/>
          </a:solidFill>
          <a:ln w="15875">
            <a:solidFill>
              <a:srgbClr val="3DDC84"/>
            </a:solidFill>
            <a:prstDash val="solid"/>
          </a:ln>
          <a:effectLst>
            <a:outerShdw blurRad="101600" dist="38100" dir="5400000" algn="bl" rotWithShape="0">
              <a:srgbClr val="000000">
                <a:alpha val="35000"/>
              </a:srgbClr>
            </a:outerShdw>
          </a:effectLst>
        </p:spPr>
      </p:sp>
      <p:sp>
        <p:nvSpPr>
          <p:cNvPr id="14" name="Shape 10"/>
          <p:cNvSpPr/>
          <p:nvPr/>
        </p:nvSpPr>
        <p:spPr>
          <a:xfrm>
            <a:off x="10104120" y="2734056"/>
            <a:ext cx="512064" cy="512064"/>
          </a:xfrm>
          <a:prstGeom prst="ellipse">
            <a:avLst/>
          </a:prstGeom>
          <a:solidFill>
            <a:srgbClr val="16231C"/>
          </a:solidFill>
          <a:ln w="12700">
            <a:solidFill>
              <a:srgbClr val="1F7A4C"/>
            </a:solidFill>
            <a:prstDash val="solid"/>
          </a:ln>
        </p:spPr>
      </p:sp>
      <p:pic>
        <p:nvPicPr>
          <p:cNvPr id="15" name="Image 2" descr="preencoded.png"/>
          <p:cNvPicPr>
            <a:picLocks noChangeAspect="1"/>
          </p:cNvPicPr>
          <p:nvPr/>
        </p:nvPicPr>
        <p:blipFill>
          <a:blip r:embed="rId3"/>
          <a:stretch>
            <a:fillRect/>
          </a:stretch>
        </p:blipFill>
        <p:spPr>
          <a:xfrm>
            <a:off x="10170688" y="2800624"/>
            <a:ext cx="378927" cy="378927"/>
          </a:xfrm>
          <a:prstGeom prst="rect">
            <a:avLst/>
          </a:prstGeom>
        </p:spPr>
      </p:pic>
      <p:sp>
        <p:nvSpPr>
          <p:cNvPr id="16" name="Text 11"/>
          <p:cNvSpPr/>
          <p:nvPr/>
        </p:nvSpPr>
        <p:spPr>
          <a:xfrm>
            <a:off x="10744200" y="2862072"/>
            <a:ext cx="868680" cy="320040"/>
          </a:xfrm>
          <a:prstGeom prst="rect">
            <a:avLst/>
          </a:prstGeom>
          <a:noFill/>
        </p:spPr>
        <p:txBody>
          <a:bodyPr wrap="square" lIns="0" tIns="0" rIns="0" bIns="0" rtlCol="0" anchor="t"/>
          <a:lstStyle/>
          <a:p>
            <a:pPr marL="0" indent="0" algn="l">
              <a:buNone/>
            </a:pPr>
            <a:r>
              <a:rPr lang="en-US" sz="1100" b="1" dirty="0">
                <a:solidFill>
                  <a:srgbClr val="EAF2ED"/>
                </a:solidFill>
                <a:latin typeface="Calibri" panose="020F0502020204030204" pitchFamily="34" charset="0"/>
                <a:ea typeface="Calibri" panose="020F0502020204030204" pitchFamily="34" charset="-122"/>
                <a:cs typeface="Calibri" panose="020F0502020204030204" pitchFamily="34" charset="-120"/>
              </a:rPr>
              <a:t>VehicleData</a:t>
            </a:r>
            <a:endParaRPr lang="en-US" sz="1100" dirty="0"/>
          </a:p>
        </p:txBody>
      </p:sp>
      <p:sp>
        <p:nvSpPr>
          <p:cNvPr id="17" name="Shape 12"/>
          <p:cNvSpPr/>
          <p:nvPr/>
        </p:nvSpPr>
        <p:spPr>
          <a:xfrm>
            <a:off x="9509760" y="2308860"/>
            <a:ext cx="457200" cy="685800"/>
          </a:xfrm>
          <a:prstGeom prst="line">
            <a:avLst/>
          </a:prstGeom>
          <a:noFill/>
          <a:ln w="15875">
            <a:solidFill>
              <a:srgbClr val="1F7A4C"/>
            </a:solidFill>
            <a:prstDash val="solid"/>
            <a:tailEnd type="triangle"/>
          </a:ln>
        </p:spPr>
      </p:sp>
      <p:sp>
        <p:nvSpPr>
          <p:cNvPr id="18" name="Shape 13"/>
          <p:cNvSpPr/>
          <p:nvPr/>
        </p:nvSpPr>
        <p:spPr>
          <a:xfrm flipV="1">
            <a:off x="9509760" y="3122674"/>
            <a:ext cx="466344" cy="512065"/>
          </a:xfrm>
          <a:prstGeom prst="line">
            <a:avLst/>
          </a:prstGeom>
          <a:noFill/>
          <a:ln w="15875">
            <a:solidFill>
              <a:srgbClr val="1F7A4C"/>
            </a:solidFill>
            <a:prstDash val="solid"/>
            <a:tailEnd type="triangle"/>
          </a:ln>
        </p:spPr>
      </p:sp>
      <p:sp>
        <p:nvSpPr>
          <p:cNvPr id="19" name="Text 14"/>
          <p:cNvSpPr/>
          <p:nvPr/>
        </p:nvSpPr>
        <p:spPr>
          <a:xfrm>
            <a:off x="7223760" y="4343400"/>
            <a:ext cx="4480560" cy="365760"/>
          </a:xfrm>
          <a:prstGeom prst="rect">
            <a:avLst/>
          </a:prstGeom>
          <a:noFill/>
        </p:spPr>
        <p:txBody>
          <a:bodyPr wrap="square" lIns="0" tIns="0" rIns="0" bIns="0" rtlCol="0" anchor="t"/>
          <a:lstStyle/>
          <a:p>
            <a:pPr marL="0" indent="0" algn="ctr">
              <a:buNone/>
            </a:pPr>
            <a:r>
              <a:rPr lang="en-US" sz="1250" dirty="0">
                <a:solidFill>
                  <a:srgbClr val="3DDC84"/>
                </a:solidFill>
                <a:latin typeface="Calibri" panose="020F0502020204030204" pitchFamily="34" charset="0"/>
                <a:ea typeface="Calibri" panose="020F0502020204030204" pitchFamily="34" charset="-122"/>
                <a:cs typeface="Calibri" panose="020F0502020204030204" pitchFamily="34" charset="-120"/>
              </a:rPr>
              <a:t>Indistinguishable to the UI.</a:t>
            </a:r>
            <a:endParaRPr lang="en-US" sz="1250" dirty="0"/>
          </a:p>
        </p:txBody>
      </p:sp>
      <p:sp>
        <p:nvSpPr>
          <p:cNvPr id="20" name="Text 15"/>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DATA PIPELINE</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Logging and Communication</a:t>
            </a:r>
            <a:endParaRPr lang="en-US" sz="3200" dirty="0"/>
          </a:p>
        </p:txBody>
      </p:sp>
      <p:sp>
        <p:nvSpPr>
          <p:cNvPr id="4" name="Text 2"/>
          <p:cNvSpPr/>
          <p:nvPr/>
        </p:nvSpPr>
        <p:spPr>
          <a:xfrm>
            <a:off x="640080" y="1600200"/>
            <a:ext cx="5760720" cy="4206240"/>
          </a:xfrm>
          <a:prstGeom prst="rect">
            <a:avLst/>
          </a:prstGeom>
          <a:noFill/>
        </p:spPr>
        <p:txBody>
          <a:bodyPr wrap="square" lIns="0" tIns="0" rIns="0" bIns="0" rtlCol="0" anchor="t"/>
          <a:lstStyle/>
          <a:p>
            <a:pPr marL="342900" indent="-342900">
              <a:lnSpc>
                <a:spcPct val="108000"/>
              </a:lnSpc>
              <a:spcAft>
                <a:spcPts val="1300"/>
              </a:spcAft>
              <a:buSzPct val="100000"/>
              <a:buChar char="▪"/>
            </a:pPr>
            <a:r>
              <a:rPr lang="en-US" sz="1450" dirty="0">
                <a:solidFill>
                  <a:srgbClr val="EAF2ED"/>
                </a:solidFill>
                <a:latin typeface="Calibri" panose="020F0502020204030204" pitchFamily="34" charset="0"/>
                <a:ea typeface="Calibri" panose="020F0502020204030204" pitchFamily="34" charset="-122"/>
                <a:cs typeface="Calibri" panose="020F0502020204030204" pitchFamily="34" charset="-120"/>
              </a:rPr>
              <a:t>UART link: 115200 baud, 8N1, 100 ms telemetry cadence</a:t>
            </a:r>
            <a:endParaRPr lang="en-US" sz="1450" dirty="0"/>
          </a:p>
          <a:p>
            <a:pPr marL="342900" indent="-342900">
              <a:lnSpc>
                <a:spcPct val="108000"/>
              </a:lnSpc>
              <a:spcAft>
                <a:spcPts val="1300"/>
              </a:spcAft>
              <a:buSzPct val="100000"/>
              <a:buChar char="▪"/>
            </a:pPr>
            <a:r>
              <a:rPr lang="en-US" sz="1450" dirty="0">
                <a:solidFill>
                  <a:srgbClr val="EAF2ED"/>
                </a:solidFill>
                <a:latin typeface="Calibri" panose="020F0502020204030204" pitchFamily="34" charset="0"/>
                <a:ea typeface="Calibri" panose="020F0502020204030204" pitchFamily="34" charset="-122"/>
                <a:cs typeface="Calibri" panose="020F0502020204030204" pitchFamily="34" charset="-120"/>
              </a:rPr>
              <a:t>Key=value tagged frame format — robust to missing/unknown fields</a:t>
            </a:r>
            <a:endParaRPr lang="en-US" sz="1450" dirty="0"/>
          </a:p>
          <a:p>
            <a:pPr marL="342900" indent="-342900">
              <a:lnSpc>
                <a:spcPct val="108000"/>
              </a:lnSpc>
              <a:spcAft>
                <a:spcPts val="1300"/>
              </a:spcAft>
              <a:buSzPct val="100000"/>
              <a:buChar char="▪"/>
            </a:pPr>
            <a:r>
              <a:rPr lang="en-US" sz="1450" dirty="0">
                <a:solidFill>
                  <a:srgbClr val="EAF2ED"/>
                </a:solidFill>
                <a:latin typeface="Calibri" panose="020F0502020204030204" pitchFamily="34" charset="0"/>
                <a:ea typeface="Calibri" panose="020F0502020204030204" pitchFamily="34" charset="-122"/>
                <a:cs typeface="Calibri" panose="020F0502020204030204" pitchFamily="34" charset="-120"/>
              </a:rPr>
              <a:t>Communication watchdog — 1000 ms timeout raises commFault</a:t>
            </a:r>
            <a:endParaRPr lang="en-US" sz="1450" dirty="0"/>
          </a:p>
          <a:p>
            <a:pPr marL="342900" indent="-342900">
              <a:lnSpc>
                <a:spcPct val="108000"/>
              </a:lnSpc>
              <a:spcAft>
                <a:spcPts val="1300"/>
              </a:spcAft>
              <a:buSzPct val="100000"/>
              <a:buChar char="▪"/>
            </a:pPr>
            <a:r>
              <a:rPr lang="en-US" sz="1450" dirty="0">
                <a:solidFill>
                  <a:srgbClr val="EAF2ED"/>
                </a:solidFill>
                <a:latin typeface="Calibri" panose="020F0502020204030204" pitchFamily="34" charset="0"/>
                <a:ea typeface="Calibri" panose="020F0502020204030204" pitchFamily="34" charset="-122"/>
                <a:cs typeface="Calibri" panose="020F0502020204030204" pitchFamily="34" charset="-120"/>
              </a:rPr>
              <a:t>TelemetryLogger exports timestamped CSV (telemetry + fault logs)</a:t>
            </a:r>
            <a:endParaRPr lang="en-US" sz="1450" dirty="0"/>
          </a:p>
          <a:p>
            <a:pPr marL="342900" indent="-342900">
              <a:lnSpc>
                <a:spcPct val="108000"/>
              </a:lnSpc>
              <a:spcAft>
                <a:spcPts val="1300"/>
              </a:spcAft>
              <a:buSzPct val="100000"/>
              <a:buChar char="▪"/>
            </a:pPr>
            <a:r>
              <a:rPr lang="en-US" sz="1450" dirty="0">
                <a:solidFill>
                  <a:srgbClr val="EAF2ED"/>
                </a:solidFill>
                <a:latin typeface="Calibri" panose="020F0502020204030204" pitchFamily="34" charset="0"/>
                <a:ea typeface="Calibri" panose="020F0502020204030204" pitchFamily="34" charset="-122"/>
                <a:cs typeface="Calibri" panose="020F0502020204030204" pitchFamily="34" charset="-120"/>
              </a:rPr>
              <a:t>Frame/invalid/checksum counters surfaced on the Communication page</a:t>
            </a:r>
            <a:endParaRPr lang="en-US" sz="1450" dirty="0"/>
          </a:p>
        </p:txBody>
      </p:sp>
      <p:sp>
        <p:nvSpPr>
          <p:cNvPr id="5" name="Shape 3"/>
          <p:cNvSpPr/>
          <p:nvPr/>
        </p:nvSpPr>
        <p:spPr>
          <a:xfrm>
            <a:off x="6798564" y="2258568"/>
            <a:ext cx="960120" cy="502920"/>
          </a:xfrm>
          <a:prstGeom prst="roundRect">
            <a:avLst>
              <a:gd name="adj" fmla="val 10909"/>
            </a:avLst>
          </a:prstGeom>
          <a:solidFill>
            <a:srgbClr val="1A2420"/>
          </a:solidFill>
          <a:ln w="9525">
            <a:solidFill>
              <a:srgbClr val="1F7A4C"/>
            </a:solidFill>
            <a:prstDash val="solid"/>
          </a:ln>
        </p:spPr>
      </p:sp>
      <p:sp>
        <p:nvSpPr>
          <p:cNvPr id="6" name="Text 4"/>
          <p:cNvSpPr/>
          <p:nvPr/>
        </p:nvSpPr>
        <p:spPr>
          <a:xfrm>
            <a:off x="6798564" y="2258568"/>
            <a:ext cx="960120" cy="502920"/>
          </a:xfrm>
          <a:prstGeom prst="rect">
            <a:avLst/>
          </a:prstGeom>
          <a:noFill/>
        </p:spPr>
        <p:txBody>
          <a:bodyPr wrap="square" lIns="0" tIns="0" rIns="0" bIns="0" rtlCol="0" anchor="ctr"/>
          <a:lstStyle/>
          <a:p>
            <a:pPr marL="0" indent="0" algn="ctr">
              <a:buNone/>
            </a:pPr>
            <a:r>
              <a:rPr lang="en-US" sz="950" dirty="0">
                <a:solidFill>
                  <a:srgbClr val="3DDC84"/>
                </a:solidFill>
                <a:latin typeface="Courier New" panose="02070309020205020404" pitchFamily="34" charset="0"/>
                <a:ea typeface="Courier New" panose="02070309020205020404" pitchFamily="34" charset="-122"/>
                <a:cs typeface="Courier New" panose="02070309020205020404" pitchFamily="34" charset="-120"/>
              </a:rPr>
              <a:t>SPD=54</a:t>
            </a:r>
            <a:endParaRPr lang="en-US" sz="950" dirty="0"/>
          </a:p>
        </p:txBody>
      </p:sp>
      <p:sp>
        <p:nvSpPr>
          <p:cNvPr id="7" name="Shape 5"/>
          <p:cNvSpPr/>
          <p:nvPr/>
        </p:nvSpPr>
        <p:spPr>
          <a:xfrm>
            <a:off x="7868412" y="2258568"/>
            <a:ext cx="960120" cy="502920"/>
          </a:xfrm>
          <a:prstGeom prst="roundRect">
            <a:avLst>
              <a:gd name="adj" fmla="val 10909"/>
            </a:avLst>
          </a:prstGeom>
          <a:solidFill>
            <a:srgbClr val="1A2420"/>
          </a:solidFill>
          <a:ln w="9525">
            <a:solidFill>
              <a:srgbClr val="1F7A4C"/>
            </a:solidFill>
            <a:prstDash val="solid"/>
          </a:ln>
        </p:spPr>
      </p:sp>
      <p:sp>
        <p:nvSpPr>
          <p:cNvPr id="8" name="Text 6"/>
          <p:cNvSpPr/>
          <p:nvPr/>
        </p:nvSpPr>
        <p:spPr>
          <a:xfrm>
            <a:off x="7868412" y="2258568"/>
            <a:ext cx="960120" cy="502920"/>
          </a:xfrm>
          <a:prstGeom prst="rect">
            <a:avLst/>
          </a:prstGeom>
          <a:noFill/>
        </p:spPr>
        <p:txBody>
          <a:bodyPr wrap="square" lIns="0" tIns="0" rIns="0" bIns="0" rtlCol="0" anchor="ctr"/>
          <a:lstStyle/>
          <a:p>
            <a:pPr marL="0" indent="0" algn="ctr">
              <a:buNone/>
            </a:pPr>
            <a:r>
              <a:rPr lang="en-US" sz="950" dirty="0">
                <a:solidFill>
                  <a:srgbClr val="3DDC84"/>
                </a:solidFill>
                <a:latin typeface="Courier New" panose="02070309020205020404" pitchFamily="34" charset="0"/>
                <a:ea typeface="Courier New" panose="02070309020205020404" pitchFamily="34" charset="-122"/>
                <a:cs typeface="Courier New" panose="02070309020205020404" pitchFamily="34" charset="-120"/>
              </a:rPr>
              <a:t>RPM=2800</a:t>
            </a:r>
            <a:endParaRPr lang="en-US" sz="950" dirty="0"/>
          </a:p>
        </p:txBody>
      </p:sp>
      <p:sp>
        <p:nvSpPr>
          <p:cNvPr id="9" name="Shape 7"/>
          <p:cNvSpPr/>
          <p:nvPr/>
        </p:nvSpPr>
        <p:spPr>
          <a:xfrm>
            <a:off x="8938260" y="2258568"/>
            <a:ext cx="960120" cy="502920"/>
          </a:xfrm>
          <a:prstGeom prst="roundRect">
            <a:avLst>
              <a:gd name="adj" fmla="val 10909"/>
            </a:avLst>
          </a:prstGeom>
          <a:solidFill>
            <a:srgbClr val="1A2420"/>
          </a:solidFill>
          <a:ln w="9525">
            <a:solidFill>
              <a:srgbClr val="1F7A4C"/>
            </a:solidFill>
            <a:prstDash val="solid"/>
          </a:ln>
        </p:spPr>
      </p:sp>
      <p:sp>
        <p:nvSpPr>
          <p:cNvPr id="10" name="Text 8"/>
          <p:cNvSpPr/>
          <p:nvPr/>
        </p:nvSpPr>
        <p:spPr>
          <a:xfrm>
            <a:off x="8938260" y="2258568"/>
            <a:ext cx="960120" cy="502920"/>
          </a:xfrm>
          <a:prstGeom prst="rect">
            <a:avLst/>
          </a:prstGeom>
          <a:noFill/>
        </p:spPr>
        <p:txBody>
          <a:bodyPr wrap="square" lIns="0" tIns="0" rIns="0" bIns="0" rtlCol="0" anchor="ctr"/>
          <a:lstStyle/>
          <a:p>
            <a:pPr marL="0" indent="0" algn="ctr">
              <a:buNone/>
            </a:pPr>
            <a:r>
              <a:rPr lang="en-US" sz="950" dirty="0">
                <a:solidFill>
                  <a:srgbClr val="3DDC84"/>
                </a:solidFill>
                <a:latin typeface="Courier New" panose="02070309020205020404" pitchFamily="34" charset="0"/>
                <a:ea typeface="Courier New" panose="02070309020205020404" pitchFamily="34" charset="-122"/>
                <a:cs typeface="Courier New" panose="02070309020205020404" pitchFamily="34" charset="-120"/>
              </a:rPr>
              <a:t>BAT=87</a:t>
            </a:r>
            <a:endParaRPr lang="en-US" sz="950" dirty="0"/>
          </a:p>
        </p:txBody>
      </p:sp>
      <p:sp>
        <p:nvSpPr>
          <p:cNvPr id="11" name="Shape 9"/>
          <p:cNvSpPr/>
          <p:nvPr/>
        </p:nvSpPr>
        <p:spPr>
          <a:xfrm>
            <a:off x="10008108" y="2258568"/>
            <a:ext cx="960120" cy="502920"/>
          </a:xfrm>
          <a:prstGeom prst="roundRect">
            <a:avLst>
              <a:gd name="adj" fmla="val 10909"/>
            </a:avLst>
          </a:prstGeom>
          <a:solidFill>
            <a:srgbClr val="1A2420"/>
          </a:solidFill>
          <a:ln w="9525">
            <a:solidFill>
              <a:srgbClr val="1F7A4C"/>
            </a:solidFill>
            <a:prstDash val="solid"/>
          </a:ln>
        </p:spPr>
      </p:sp>
      <p:sp>
        <p:nvSpPr>
          <p:cNvPr id="12" name="Text 10"/>
          <p:cNvSpPr/>
          <p:nvPr/>
        </p:nvSpPr>
        <p:spPr>
          <a:xfrm>
            <a:off x="10008108" y="2258568"/>
            <a:ext cx="960120" cy="502920"/>
          </a:xfrm>
          <a:prstGeom prst="rect">
            <a:avLst/>
          </a:prstGeom>
          <a:noFill/>
        </p:spPr>
        <p:txBody>
          <a:bodyPr wrap="square" lIns="0" tIns="0" rIns="0" bIns="0" rtlCol="0" anchor="ctr"/>
          <a:lstStyle/>
          <a:p>
            <a:pPr marL="0" indent="0" algn="ctr">
              <a:buNone/>
            </a:pPr>
            <a:r>
              <a:rPr lang="en-US" sz="950" dirty="0">
                <a:solidFill>
                  <a:srgbClr val="3DDC84"/>
                </a:solidFill>
                <a:latin typeface="Courier New" panose="02070309020205020404" pitchFamily="34" charset="0"/>
                <a:ea typeface="Courier New" panose="02070309020205020404" pitchFamily="34" charset="-122"/>
                <a:cs typeface="Courier New" panose="02070309020205020404" pitchFamily="34" charset="-120"/>
              </a:rPr>
              <a:t>MT=41</a:t>
            </a:r>
            <a:endParaRPr lang="en-US" sz="950" dirty="0"/>
          </a:p>
        </p:txBody>
      </p:sp>
      <p:sp>
        <p:nvSpPr>
          <p:cNvPr id="13" name="Shape 11"/>
          <p:cNvSpPr/>
          <p:nvPr/>
        </p:nvSpPr>
        <p:spPr>
          <a:xfrm>
            <a:off x="11077956" y="2258568"/>
            <a:ext cx="960120" cy="502920"/>
          </a:xfrm>
          <a:prstGeom prst="roundRect">
            <a:avLst>
              <a:gd name="adj" fmla="val 10909"/>
            </a:avLst>
          </a:prstGeom>
          <a:solidFill>
            <a:srgbClr val="1A2420"/>
          </a:solidFill>
          <a:ln w="9525">
            <a:solidFill>
              <a:srgbClr val="1F7A4C"/>
            </a:solidFill>
            <a:prstDash val="solid"/>
          </a:ln>
        </p:spPr>
      </p:sp>
      <p:sp>
        <p:nvSpPr>
          <p:cNvPr id="14" name="Text 12"/>
          <p:cNvSpPr/>
          <p:nvPr/>
        </p:nvSpPr>
        <p:spPr>
          <a:xfrm>
            <a:off x="11077956" y="2258568"/>
            <a:ext cx="960120" cy="502920"/>
          </a:xfrm>
          <a:prstGeom prst="rect">
            <a:avLst/>
          </a:prstGeom>
          <a:noFill/>
        </p:spPr>
        <p:txBody>
          <a:bodyPr wrap="square" lIns="0" tIns="0" rIns="0" bIns="0" rtlCol="0" anchor="ctr"/>
          <a:lstStyle/>
          <a:p>
            <a:pPr marL="0" indent="0" algn="ctr">
              <a:buNone/>
            </a:pPr>
            <a:r>
              <a:rPr lang="en-US" sz="950" dirty="0">
                <a:solidFill>
                  <a:srgbClr val="3DDC84"/>
                </a:solidFill>
                <a:latin typeface="Courier New" panose="02070309020205020404" pitchFamily="34" charset="0"/>
                <a:ea typeface="Courier New" panose="02070309020205020404" pitchFamily="34" charset="-122"/>
                <a:cs typeface="Courier New" panose="02070309020205020404" pitchFamily="34" charset="-120"/>
              </a:rPr>
              <a:t>PWR=4.3</a:t>
            </a:r>
            <a:endParaRPr lang="en-US" sz="950" dirty="0"/>
          </a:p>
        </p:txBody>
      </p:sp>
      <p:sp>
        <p:nvSpPr>
          <p:cNvPr id="15" name="Shape 13"/>
          <p:cNvSpPr/>
          <p:nvPr/>
        </p:nvSpPr>
        <p:spPr>
          <a:xfrm>
            <a:off x="12435840" y="2446020"/>
            <a:ext cx="274320" cy="0"/>
          </a:xfrm>
          <a:prstGeom prst="line">
            <a:avLst/>
          </a:prstGeom>
          <a:noFill/>
          <a:ln w="25400">
            <a:solidFill>
              <a:srgbClr val="1F7A4C"/>
            </a:solidFill>
            <a:prstDash val="solid"/>
            <a:tailEnd type="triangle"/>
          </a:ln>
        </p:spPr>
      </p:sp>
      <p:sp>
        <p:nvSpPr>
          <p:cNvPr id="16" name="Shape 14"/>
          <p:cNvSpPr/>
          <p:nvPr/>
        </p:nvSpPr>
        <p:spPr>
          <a:xfrm>
            <a:off x="12801600" y="2167128"/>
            <a:ext cx="548640" cy="548640"/>
          </a:xfrm>
          <a:prstGeom prst="ellipse">
            <a:avLst/>
          </a:prstGeom>
          <a:solidFill>
            <a:srgbClr val="16231C"/>
          </a:solidFill>
          <a:ln w="12700">
            <a:solidFill>
              <a:srgbClr val="1F7A4C"/>
            </a:solidFill>
            <a:prstDash val="solid"/>
          </a:ln>
        </p:spPr>
      </p:sp>
      <p:pic>
        <p:nvPicPr>
          <p:cNvPr id="17" name="Image 0" descr="preencoded.png"/>
          <p:cNvPicPr>
            <a:picLocks noChangeAspect="1"/>
          </p:cNvPicPr>
          <p:nvPr/>
        </p:nvPicPr>
        <p:blipFill>
          <a:blip r:embed="rId1"/>
          <a:stretch>
            <a:fillRect/>
          </a:stretch>
        </p:blipFill>
        <p:spPr>
          <a:xfrm>
            <a:off x="12872923" y="2238451"/>
            <a:ext cx="405994" cy="405994"/>
          </a:xfrm>
          <a:prstGeom prst="rect">
            <a:avLst/>
          </a:prstGeom>
        </p:spPr>
      </p:pic>
      <p:sp>
        <p:nvSpPr>
          <p:cNvPr id="18" name="Text 15"/>
          <p:cNvSpPr/>
          <p:nvPr/>
        </p:nvSpPr>
        <p:spPr>
          <a:xfrm>
            <a:off x="6798564" y="2944368"/>
            <a:ext cx="4846320" cy="274320"/>
          </a:xfrm>
          <a:prstGeom prst="rect">
            <a:avLst/>
          </a:prstGeom>
          <a:noFill/>
        </p:spPr>
        <p:txBody>
          <a:bodyPr wrap="square" lIns="0" tIns="0" rIns="0" bIns="0" rtlCol="0" anchor="t"/>
          <a:lstStyle/>
          <a:p>
            <a:pPr marL="0" indent="0" algn="l">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TelemetryParser</a:t>
            </a:r>
            <a:endParaRPr lang="en-US" sz="1050" dirty="0"/>
          </a:p>
        </p:txBody>
      </p:sp>
      <p:sp>
        <p:nvSpPr>
          <p:cNvPr id="19" name="Shape 16"/>
          <p:cNvSpPr/>
          <p:nvPr/>
        </p:nvSpPr>
        <p:spPr>
          <a:xfrm>
            <a:off x="7040880" y="3657600"/>
            <a:ext cx="502920" cy="502920"/>
          </a:xfrm>
          <a:prstGeom prst="ellipse">
            <a:avLst/>
          </a:prstGeom>
          <a:solidFill>
            <a:srgbClr val="16231C"/>
          </a:solidFill>
          <a:ln w="12700">
            <a:solidFill>
              <a:srgbClr val="1F7A4C"/>
            </a:solidFill>
            <a:prstDash val="solid"/>
          </a:ln>
        </p:spPr>
      </p:sp>
      <p:pic>
        <p:nvPicPr>
          <p:cNvPr id="20" name="Image 1" descr="preencoded.png"/>
          <p:cNvPicPr>
            <a:picLocks noChangeAspect="1"/>
          </p:cNvPicPr>
          <p:nvPr/>
        </p:nvPicPr>
        <p:blipFill>
          <a:blip r:embed="rId2"/>
          <a:stretch>
            <a:fillRect/>
          </a:stretch>
        </p:blipFill>
        <p:spPr>
          <a:xfrm>
            <a:off x="7106260" y="3722980"/>
            <a:ext cx="372161" cy="372161"/>
          </a:xfrm>
          <a:prstGeom prst="rect">
            <a:avLst/>
          </a:prstGeom>
        </p:spPr>
      </p:pic>
      <p:sp>
        <p:nvSpPr>
          <p:cNvPr id="21" name="Text 17"/>
          <p:cNvSpPr/>
          <p:nvPr/>
        </p:nvSpPr>
        <p:spPr>
          <a:xfrm>
            <a:off x="7680960" y="3639312"/>
            <a:ext cx="3931920" cy="292608"/>
          </a:xfrm>
          <a:prstGeom prst="rect">
            <a:avLst/>
          </a:prstGeom>
          <a:noFill/>
        </p:spPr>
        <p:txBody>
          <a:bodyPr wrap="square" lIns="0" tIns="0" rIns="0" bIns="0" rtlCol="0" anchor="ctr"/>
          <a:lstStyle/>
          <a:p>
            <a:pPr marL="0" indent="0">
              <a:buNone/>
            </a:pPr>
            <a:r>
              <a:rPr lang="en-US" sz="1350" b="1" dirty="0">
                <a:solidFill>
                  <a:srgbClr val="EAF2ED"/>
                </a:solidFill>
                <a:latin typeface="Calibri" panose="020F0502020204030204" pitchFamily="34" charset="0"/>
                <a:ea typeface="Calibri" panose="020F0502020204030204" pitchFamily="34" charset="-122"/>
                <a:cs typeface="Calibri" panose="020F0502020204030204" pitchFamily="34" charset="-120"/>
              </a:rPr>
              <a:t>1000 ms Watchdog</a:t>
            </a:r>
            <a:endParaRPr lang="en-US" sz="1350" dirty="0"/>
          </a:p>
        </p:txBody>
      </p:sp>
      <p:sp>
        <p:nvSpPr>
          <p:cNvPr id="22" name="Text 18"/>
          <p:cNvSpPr/>
          <p:nvPr/>
        </p:nvSpPr>
        <p:spPr>
          <a:xfrm>
            <a:off x="7680960" y="3913632"/>
            <a:ext cx="3931920" cy="36576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raises communicationFault on timeout</a:t>
            </a:r>
            <a:endParaRPr lang="en-US" sz="1050" dirty="0"/>
          </a:p>
        </p:txBody>
      </p:sp>
      <p:sp>
        <p:nvSpPr>
          <p:cNvPr id="23" name="Shape 19"/>
          <p:cNvSpPr/>
          <p:nvPr/>
        </p:nvSpPr>
        <p:spPr>
          <a:xfrm>
            <a:off x="7040880" y="4663440"/>
            <a:ext cx="502920" cy="502920"/>
          </a:xfrm>
          <a:prstGeom prst="ellipse">
            <a:avLst/>
          </a:prstGeom>
          <a:solidFill>
            <a:srgbClr val="16231C"/>
          </a:solidFill>
          <a:ln w="12700">
            <a:solidFill>
              <a:srgbClr val="1F7A4C"/>
            </a:solidFill>
            <a:prstDash val="solid"/>
          </a:ln>
        </p:spPr>
      </p:sp>
      <p:pic>
        <p:nvPicPr>
          <p:cNvPr id="24" name="Image 2" descr="preencoded.png"/>
          <p:cNvPicPr>
            <a:picLocks noChangeAspect="1"/>
          </p:cNvPicPr>
          <p:nvPr/>
        </p:nvPicPr>
        <p:blipFill>
          <a:blip r:embed="rId3"/>
          <a:stretch>
            <a:fillRect/>
          </a:stretch>
        </p:blipFill>
        <p:spPr>
          <a:xfrm>
            <a:off x="7106260" y="4728820"/>
            <a:ext cx="372161" cy="372161"/>
          </a:xfrm>
          <a:prstGeom prst="rect">
            <a:avLst/>
          </a:prstGeom>
        </p:spPr>
      </p:pic>
      <p:sp>
        <p:nvSpPr>
          <p:cNvPr id="25" name="Text 20"/>
          <p:cNvSpPr/>
          <p:nvPr/>
        </p:nvSpPr>
        <p:spPr>
          <a:xfrm>
            <a:off x="7680960" y="4645152"/>
            <a:ext cx="3931920" cy="292608"/>
          </a:xfrm>
          <a:prstGeom prst="rect">
            <a:avLst/>
          </a:prstGeom>
          <a:noFill/>
        </p:spPr>
        <p:txBody>
          <a:bodyPr wrap="square" lIns="0" tIns="0" rIns="0" bIns="0" rtlCol="0" anchor="ctr"/>
          <a:lstStyle/>
          <a:p>
            <a:pPr marL="0" indent="0">
              <a:buNone/>
            </a:pPr>
            <a:r>
              <a:rPr lang="en-US" sz="1350" b="1" dirty="0">
                <a:solidFill>
                  <a:srgbClr val="EAF2ED"/>
                </a:solidFill>
                <a:latin typeface="Calibri" panose="020F0502020204030204" pitchFamily="34" charset="0"/>
                <a:ea typeface="Calibri" panose="020F0502020204030204" pitchFamily="34" charset="-122"/>
                <a:cs typeface="Calibri" panose="020F0502020204030204" pitchFamily="34" charset="-120"/>
              </a:rPr>
              <a:t>CSV Export</a:t>
            </a:r>
            <a:endParaRPr lang="en-US" sz="1350" dirty="0"/>
          </a:p>
        </p:txBody>
      </p:sp>
      <p:sp>
        <p:nvSpPr>
          <p:cNvPr id="26" name="Text 21"/>
          <p:cNvSpPr/>
          <p:nvPr/>
        </p:nvSpPr>
        <p:spPr>
          <a:xfrm>
            <a:off x="7680960" y="4919472"/>
            <a:ext cx="3931920" cy="365760"/>
          </a:xfrm>
          <a:prstGeom prst="rect">
            <a:avLst/>
          </a:prstGeom>
          <a:noFill/>
        </p:spPr>
        <p:txBody>
          <a:bodyPr wrap="square" lIns="0" tIns="0" rIns="0" bIns="0" rtlCol="0" anchor="ctr"/>
          <a:lstStyle/>
          <a:p>
            <a:pPr marL="0" indent="0">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telemetry.csv + faults.csv per session</a:t>
            </a:r>
            <a:endParaRPr lang="en-US" sz="1050" dirty="0"/>
          </a:p>
        </p:txBody>
      </p:sp>
      <p:sp>
        <p:nvSpPr>
          <p:cNvPr id="27" name="Text 22"/>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RETROSPECTIVE</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Challenges and Solutions</a:t>
            </a:r>
            <a:endParaRPr lang="en-US" sz="3200" dirty="0"/>
          </a:p>
        </p:txBody>
      </p:sp>
      <p:sp>
        <p:nvSpPr>
          <p:cNvPr id="4" name="Text 2"/>
          <p:cNvSpPr/>
          <p:nvPr/>
        </p:nvSpPr>
        <p:spPr>
          <a:xfrm>
            <a:off x="640080" y="1417320"/>
            <a:ext cx="4846320" cy="228600"/>
          </a:xfrm>
          <a:prstGeom prst="rect">
            <a:avLst/>
          </a:prstGeom>
          <a:noFill/>
        </p:spPr>
        <p:txBody>
          <a:bodyPr wrap="square" lIns="0" tIns="0" rIns="0" bIns="0" rtlCol="0" anchor="t"/>
          <a:lstStyle/>
          <a:p>
            <a:pPr marL="0" indent="0" algn="l">
              <a:buNone/>
            </a:pPr>
            <a:r>
              <a:rPr lang="en-US" sz="1050" b="1" dirty="0">
                <a:solidFill>
                  <a:srgbClr val="8CA69A"/>
                </a:solidFill>
                <a:latin typeface="Calibri" panose="020F0502020204030204" pitchFamily="34" charset="0"/>
                <a:ea typeface="Calibri" panose="020F0502020204030204" pitchFamily="34" charset="-122"/>
                <a:cs typeface="Calibri" panose="020F0502020204030204" pitchFamily="34" charset="-120"/>
              </a:rPr>
              <a:t>PROBLEM</a:t>
            </a:r>
            <a:endParaRPr lang="en-US" sz="1050" dirty="0"/>
          </a:p>
        </p:txBody>
      </p:sp>
      <p:sp>
        <p:nvSpPr>
          <p:cNvPr id="5" name="Text 3"/>
          <p:cNvSpPr/>
          <p:nvPr/>
        </p:nvSpPr>
        <p:spPr>
          <a:xfrm>
            <a:off x="6035040" y="1417320"/>
            <a:ext cx="5303520" cy="228600"/>
          </a:xfrm>
          <a:prstGeom prst="rect">
            <a:avLst/>
          </a:prstGeom>
          <a:noFill/>
        </p:spPr>
        <p:txBody>
          <a:bodyPr wrap="square" lIns="0" tIns="0" rIns="0" bIns="0" rtlCol="0" anchor="t"/>
          <a:lstStyle/>
          <a:p>
            <a:pPr marL="0" indent="0" algn="l">
              <a:buNone/>
            </a:pPr>
            <a:r>
              <a:rPr lang="en-US" sz="1050" b="1" dirty="0">
                <a:solidFill>
                  <a:srgbClr val="8CA69A"/>
                </a:solidFill>
                <a:latin typeface="Calibri" panose="020F0502020204030204" pitchFamily="34" charset="0"/>
                <a:ea typeface="Calibri" panose="020F0502020204030204" pitchFamily="34" charset="-122"/>
                <a:cs typeface="Calibri" panose="020F0502020204030204" pitchFamily="34" charset="-120"/>
              </a:rPr>
              <a:t>SOLUTION</a:t>
            </a:r>
            <a:endParaRPr lang="en-US" sz="1050" dirty="0"/>
          </a:p>
        </p:txBody>
      </p:sp>
      <p:sp>
        <p:nvSpPr>
          <p:cNvPr id="6" name="Shape 4"/>
          <p:cNvSpPr/>
          <p:nvPr/>
        </p:nvSpPr>
        <p:spPr>
          <a:xfrm>
            <a:off x="640080" y="1691640"/>
            <a:ext cx="4846320" cy="658368"/>
          </a:xfrm>
          <a:prstGeom prst="roundRect">
            <a:avLst>
              <a:gd name="adj" fmla="val 11111"/>
            </a:avLst>
          </a:prstGeom>
          <a:solidFill>
            <a:srgbClr val="1A2420"/>
          </a:solidFill>
          <a:ln w="9525">
            <a:solidFill>
              <a:srgbClr val="234A38"/>
            </a:solidFill>
            <a:prstDash val="solid"/>
          </a:ln>
        </p:spPr>
      </p:sp>
      <p:sp>
        <p:nvSpPr>
          <p:cNvPr id="7" name="Text 5"/>
          <p:cNvSpPr/>
          <p:nvPr/>
        </p:nvSpPr>
        <p:spPr>
          <a:xfrm>
            <a:off x="868680" y="1691640"/>
            <a:ext cx="4389120" cy="658368"/>
          </a:xfrm>
          <a:prstGeom prst="rect">
            <a:avLst/>
          </a:prstGeom>
          <a:noFill/>
        </p:spPr>
        <p:txBody>
          <a:bodyPr wrap="square" lIns="0" tIns="0" rIns="0" bIns="0" rtlCol="0" anchor="ctr"/>
          <a:lstStyle/>
          <a:p>
            <a:pPr marL="0" indent="0">
              <a:buNone/>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Reactive architecture</a:t>
            </a:r>
            <a:endParaRPr lang="en-US" sz="1250" dirty="0"/>
          </a:p>
        </p:txBody>
      </p:sp>
      <p:sp>
        <p:nvSpPr>
          <p:cNvPr id="8" name="Shape 6"/>
          <p:cNvSpPr/>
          <p:nvPr/>
        </p:nvSpPr>
        <p:spPr>
          <a:xfrm>
            <a:off x="6035040" y="1691640"/>
            <a:ext cx="5303520" cy="658368"/>
          </a:xfrm>
          <a:prstGeom prst="roundRect">
            <a:avLst>
              <a:gd name="adj" fmla="val 11111"/>
            </a:avLst>
          </a:prstGeom>
          <a:solidFill>
            <a:srgbClr val="1A2420"/>
          </a:solidFill>
          <a:ln w="9525">
            <a:solidFill>
              <a:srgbClr val="234A38"/>
            </a:solidFill>
            <a:prstDash val="solid"/>
          </a:ln>
        </p:spPr>
      </p:sp>
      <p:sp>
        <p:nvSpPr>
          <p:cNvPr id="9" name="Text 7"/>
          <p:cNvSpPr/>
          <p:nvPr/>
        </p:nvSpPr>
        <p:spPr>
          <a:xfrm>
            <a:off x="6263640" y="1691640"/>
            <a:ext cx="4572000" cy="658368"/>
          </a:xfrm>
          <a:prstGeom prst="rect">
            <a:avLst/>
          </a:prstGeom>
          <a:noFill/>
        </p:spPr>
        <p:txBody>
          <a:bodyPr wrap="square" lIns="0" tIns="0" rIns="0" bIns="0" rtlCol="0" anchor="ctr"/>
          <a:lstStyle/>
          <a:p>
            <a:pPr marL="0" indent="0">
              <a:buNone/>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Store-then-notify pattern, applied uniformly</a:t>
            </a:r>
            <a:endParaRPr lang="en-US" sz="1250" dirty="0"/>
          </a:p>
        </p:txBody>
      </p:sp>
      <p:sp>
        <p:nvSpPr>
          <p:cNvPr id="10" name="Shape 8"/>
          <p:cNvSpPr/>
          <p:nvPr/>
        </p:nvSpPr>
        <p:spPr>
          <a:xfrm>
            <a:off x="11475720" y="1837944"/>
            <a:ext cx="365760" cy="365760"/>
          </a:xfrm>
          <a:prstGeom prst="ellipse">
            <a:avLst/>
          </a:prstGeom>
          <a:solidFill>
            <a:srgbClr val="1A2420"/>
          </a:solidFill>
          <a:ln w="12700">
            <a:solidFill>
              <a:srgbClr val="1F7A4C"/>
            </a:solidFill>
            <a:prstDash val="solid"/>
          </a:ln>
        </p:spPr>
      </p:sp>
      <p:pic>
        <p:nvPicPr>
          <p:cNvPr id="11" name="Image 0" descr="preencoded.png"/>
          <p:cNvPicPr>
            <a:picLocks noChangeAspect="1"/>
          </p:cNvPicPr>
          <p:nvPr/>
        </p:nvPicPr>
        <p:blipFill>
          <a:blip r:embed="rId1"/>
          <a:stretch>
            <a:fillRect/>
          </a:stretch>
        </p:blipFill>
        <p:spPr>
          <a:xfrm>
            <a:off x="11523269" y="1885493"/>
            <a:ext cx="270662" cy="270662"/>
          </a:xfrm>
          <a:prstGeom prst="rect">
            <a:avLst/>
          </a:prstGeom>
        </p:spPr>
      </p:pic>
      <p:sp>
        <p:nvSpPr>
          <p:cNvPr id="12" name="Shape 9"/>
          <p:cNvSpPr/>
          <p:nvPr/>
        </p:nvSpPr>
        <p:spPr>
          <a:xfrm>
            <a:off x="640080" y="2532888"/>
            <a:ext cx="4846320" cy="658368"/>
          </a:xfrm>
          <a:prstGeom prst="roundRect">
            <a:avLst>
              <a:gd name="adj" fmla="val 11111"/>
            </a:avLst>
          </a:prstGeom>
          <a:solidFill>
            <a:srgbClr val="1A2420"/>
          </a:solidFill>
          <a:ln w="9525">
            <a:solidFill>
              <a:srgbClr val="234A38"/>
            </a:solidFill>
            <a:prstDash val="solid"/>
          </a:ln>
        </p:spPr>
      </p:sp>
      <p:sp>
        <p:nvSpPr>
          <p:cNvPr id="13" name="Text 10"/>
          <p:cNvSpPr/>
          <p:nvPr/>
        </p:nvSpPr>
        <p:spPr>
          <a:xfrm>
            <a:off x="868680" y="2532888"/>
            <a:ext cx="4389120" cy="658368"/>
          </a:xfrm>
          <a:prstGeom prst="rect">
            <a:avLst/>
          </a:prstGeom>
          <a:noFill/>
        </p:spPr>
        <p:txBody>
          <a:bodyPr wrap="square" lIns="0" tIns="0" rIns="0" bIns="0" rtlCol="0" anchor="ctr"/>
          <a:lstStyle/>
          <a:p>
            <a:pPr marL="0" indent="0">
              <a:buNone/>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Media backend divergence</a:t>
            </a:r>
            <a:endParaRPr lang="en-US" sz="1250" dirty="0"/>
          </a:p>
        </p:txBody>
      </p:sp>
      <p:sp>
        <p:nvSpPr>
          <p:cNvPr id="14" name="Shape 11"/>
          <p:cNvSpPr/>
          <p:nvPr/>
        </p:nvSpPr>
        <p:spPr>
          <a:xfrm>
            <a:off x="6035040" y="2532888"/>
            <a:ext cx="5303520" cy="658368"/>
          </a:xfrm>
          <a:prstGeom prst="roundRect">
            <a:avLst>
              <a:gd name="adj" fmla="val 11111"/>
            </a:avLst>
          </a:prstGeom>
          <a:solidFill>
            <a:srgbClr val="1A2420"/>
          </a:solidFill>
          <a:ln w="9525">
            <a:solidFill>
              <a:srgbClr val="234A38"/>
            </a:solidFill>
            <a:prstDash val="solid"/>
          </a:ln>
        </p:spPr>
      </p:sp>
      <p:sp>
        <p:nvSpPr>
          <p:cNvPr id="15" name="Text 12"/>
          <p:cNvSpPr/>
          <p:nvPr/>
        </p:nvSpPr>
        <p:spPr>
          <a:xfrm>
            <a:off x="6263640" y="2532888"/>
            <a:ext cx="4572000" cy="658368"/>
          </a:xfrm>
          <a:prstGeom prst="rect">
            <a:avLst/>
          </a:prstGeom>
          <a:noFill/>
        </p:spPr>
        <p:txBody>
          <a:bodyPr wrap="square" lIns="0" tIns="0" rIns="0" bIns="0" rtlCol="0" anchor="ctr"/>
          <a:lstStyle/>
          <a:p>
            <a:pPr marL="0" indent="0">
              <a:buNone/>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Shared property contract across 3 classes</a:t>
            </a:r>
            <a:endParaRPr lang="en-US" sz="1250" dirty="0"/>
          </a:p>
        </p:txBody>
      </p:sp>
      <p:sp>
        <p:nvSpPr>
          <p:cNvPr id="16" name="Shape 13"/>
          <p:cNvSpPr/>
          <p:nvPr/>
        </p:nvSpPr>
        <p:spPr>
          <a:xfrm>
            <a:off x="11475720" y="2679192"/>
            <a:ext cx="365760" cy="365760"/>
          </a:xfrm>
          <a:prstGeom prst="ellipse">
            <a:avLst/>
          </a:prstGeom>
          <a:solidFill>
            <a:srgbClr val="1A2420"/>
          </a:solidFill>
          <a:ln w="12700">
            <a:solidFill>
              <a:srgbClr val="1F7A4C"/>
            </a:solidFill>
            <a:prstDash val="solid"/>
          </a:ln>
        </p:spPr>
      </p:sp>
      <p:pic>
        <p:nvPicPr>
          <p:cNvPr id="17" name="Image 1" descr="preencoded.png"/>
          <p:cNvPicPr>
            <a:picLocks noChangeAspect="1"/>
          </p:cNvPicPr>
          <p:nvPr/>
        </p:nvPicPr>
        <p:blipFill>
          <a:blip r:embed="rId1"/>
          <a:stretch>
            <a:fillRect/>
          </a:stretch>
        </p:blipFill>
        <p:spPr>
          <a:xfrm>
            <a:off x="11523269" y="2726741"/>
            <a:ext cx="270662" cy="270662"/>
          </a:xfrm>
          <a:prstGeom prst="rect">
            <a:avLst/>
          </a:prstGeom>
        </p:spPr>
      </p:pic>
      <p:sp>
        <p:nvSpPr>
          <p:cNvPr id="18" name="Shape 14"/>
          <p:cNvSpPr/>
          <p:nvPr/>
        </p:nvSpPr>
        <p:spPr>
          <a:xfrm>
            <a:off x="640080" y="3374136"/>
            <a:ext cx="4846320" cy="658368"/>
          </a:xfrm>
          <a:prstGeom prst="roundRect">
            <a:avLst>
              <a:gd name="adj" fmla="val 11111"/>
            </a:avLst>
          </a:prstGeom>
          <a:solidFill>
            <a:srgbClr val="1A2420"/>
          </a:solidFill>
          <a:ln w="9525">
            <a:solidFill>
              <a:srgbClr val="234A38"/>
            </a:solidFill>
            <a:prstDash val="solid"/>
          </a:ln>
        </p:spPr>
      </p:sp>
      <p:sp>
        <p:nvSpPr>
          <p:cNvPr id="19" name="Text 15"/>
          <p:cNvSpPr/>
          <p:nvPr/>
        </p:nvSpPr>
        <p:spPr>
          <a:xfrm>
            <a:off x="868680" y="3374136"/>
            <a:ext cx="4389120" cy="658368"/>
          </a:xfrm>
          <a:prstGeom prst="rect">
            <a:avLst/>
          </a:prstGeom>
          <a:noFill/>
        </p:spPr>
        <p:txBody>
          <a:bodyPr wrap="square" lIns="0" tIns="0" rIns="0" bIns="0" rtlCol="0" anchor="ctr"/>
          <a:lstStyle/>
          <a:p>
            <a:pPr marL="0" indent="0">
              <a:buNone/>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Hardware dependency during dev</a:t>
            </a:r>
            <a:endParaRPr lang="en-US" sz="1250" dirty="0"/>
          </a:p>
        </p:txBody>
      </p:sp>
      <p:sp>
        <p:nvSpPr>
          <p:cNvPr id="20" name="Shape 16"/>
          <p:cNvSpPr/>
          <p:nvPr/>
        </p:nvSpPr>
        <p:spPr>
          <a:xfrm>
            <a:off x="6035040" y="3374136"/>
            <a:ext cx="5303520" cy="658368"/>
          </a:xfrm>
          <a:prstGeom prst="roundRect">
            <a:avLst>
              <a:gd name="adj" fmla="val 11111"/>
            </a:avLst>
          </a:prstGeom>
          <a:solidFill>
            <a:srgbClr val="1A2420"/>
          </a:solidFill>
          <a:ln w="9525">
            <a:solidFill>
              <a:srgbClr val="234A38"/>
            </a:solidFill>
            <a:prstDash val="solid"/>
          </a:ln>
        </p:spPr>
      </p:sp>
      <p:sp>
        <p:nvSpPr>
          <p:cNvPr id="21" name="Text 17"/>
          <p:cNvSpPr/>
          <p:nvPr/>
        </p:nvSpPr>
        <p:spPr>
          <a:xfrm>
            <a:off x="6263640" y="3374136"/>
            <a:ext cx="4572000" cy="658368"/>
          </a:xfrm>
          <a:prstGeom prst="rect">
            <a:avLst/>
          </a:prstGeom>
          <a:noFill/>
        </p:spPr>
        <p:txBody>
          <a:bodyPr wrap="square" lIns="0" tIns="0" rIns="0" bIns="0" rtlCol="0" anchor="ctr"/>
          <a:lstStyle/>
          <a:p>
            <a:pPr marL="0" indent="0">
              <a:buNone/>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IDataSource simulation abstraction</a:t>
            </a:r>
            <a:endParaRPr lang="en-US" sz="1250" dirty="0"/>
          </a:p>
        </p:txBody>
      </p:sp>
      <p:sp>
        <p:nvSpPr>
          <p:cNvPr id="22" name="Shape 18"/>
          <p:cNvSpPr/>
          <p:nvPr/>
        </p:nvSpPr>
        <p:spPr>
          <a:xfrm>
            <a:off x="11475720" y="3520440"/>
            <a:ext cx="365760" cy="365760"/>
          </a:xfrm>
          <a:prstGeom prst="ellipse">
            <a:avLst/>
          </a:prstGeom>
          <a:solidFill>
            <a:srgbClr val="1A2420"/>
          </a:solidFill>
          <a:ln w="12700">
            <a:solidFill>
              <a:srgbClr val="1F7A4C"/>
            </a:solidFill>
            <a:prstDash val="solid"/>
          </a:ln>
        </p:spPr>
      </p:sp>
      <p:pic>
        <p:nvPicPr>
          <p:cNvPr id="23" name="Image 2" descr="preencoded.png"/>
          <p:cNvPicPr>
            <a:picLocks noChangeAspect="1"/>
          </p:cNvPicPr>
          <p:nvPr/>
        </p:nvPicPr>
        <p:blipFill>
          <a:blip r:embed="rId1"/>
          <a:stretch>
            <a:fillRect/>
          </a:stretch>
        </p:blipFill>
        <p:spPr>
          <a:xfrm>
            <a:off x="11523269" y="3567989"/>
            <a:ext cx="270662" cy="270662"/>
          </a:xfrm>
          <a:prstGeom prst="rect">
            <a:avLst/>
          </a:prstGeom>
        </p:spPr>
      </p:pic>
      <p:sp>
        <p:nvSpPr>
          <p:cNvPr id="24" name="Shape 19"/>
          <p:cNvSpPr/>
          <p:nvPr/>
        </p:nvSpPr>
        <p:spPr>
          <a:xfrm>
            <a:off x="640080" y="4215384"/>
            <a:ext cx="4846320" cy="658368"/>
          </a:xfrm>
          <a:prstGeom prst="roundRect">
            <a:avLst>
              <a:gd name="adj" fmla="val 11111"/>
            </a:avLst>
          </a:prstGeom>
          <a:solidFill>
            <a:srgbClr val="1A2420"/>
          </a:solidFill>
          <a:ln w="9525">
            <a:solidFill>
              <a:srgbClr val="234A38"/>
            </a:solidFill>
            <a:prstDash val="solid"/>
          </a:ln>
        </p:spPr>
      </p:sp>
      <p:sp>
        <p:nvSpPr>
          <p:cNvPr id="25" name="Text 20"/>
          <p:cNvSpPr/>
          <p:nvPr/>
        </p:nvSpPr>
        <p:spPr>
          <a:xfrm>
            <a:off x="868680" y="4215384"/>
            <a:ext cx="4389120" cy="658368"/>
          </a:xfrm>
          <a:prstGeom prst="rect">
            <a:avLst/>
          </a:prstGeom>
          <a:noFill/>
        </p:spPr>
        <p:txBody>
          <a:bodyPr wrap="square" lIns="0" tIns="0" rIns="0" bIns="0" rtlCol="0" anchor="ctr"/>
          <a:lstStyle/>
          <a:p>
            <a:pPr marL="0" indent="0">
              <a:buNone/>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Consistent theming across 6 themes</a:t>
            </a:r>
            <a:endParaRPr lang="en-US" sz="1250" dirty="0"/>
          </a:p>
        </p:txBody>
      </p:sp>
      <p:sp>
        <p:nvSpPr>
          <p:cNvPr id="26" name="Shape 21"/>
          <p:cNvSpPr/>
          <p:nvPr/>
        </p:nvSpPr>
        <p:spPr>
          <a:xfrm>
            <a:off x="6035040" y="4215384"/>
            <a:ext cx="5303520" cy="658368"/>
          </a:xfrm>
          <a:prstGeom prst="roundRect">
            <a:avLst>
              <a:gd name="adj" fmla="val 11111"/>
            </a:avLst>
          </a:prstGeom>
          <a:solidFill>
            <a:srgbClr val="1A2420"/>
          </a:solidFill>
          <a:ln w="9525">
            <a:solidFill>
              <a:srgbClr val="234A38"/>
            </a:solidFill>
            <a:prstDash val="solid"/>
          </a:ln>
        </p:spPr>
      </p:sp>
      <p:sp>
        <p:nvSpPr>
          <p:cNvPr id="27" name="Text 22"/>
          <p:cNvSpPr/>
          <p:nvPr/>
        </p:nvSpPr>
        <p:spPr>
          <a:xfrm>
            <a:off x="6263640" y="4215384"/>
            <a:ext cx="4572000" cy="658368"/>
          </a:xfrm>
          <a:prstGeom prst="rect">
            <a:avLst/>
          </a:prstGeom>
          <a:noFill/>
        </p:spPr>
        <p:txBody>
          <a:bodyPr wrap="square" lIns="0" tIns="0" rIns="0" bIns="0" rtlCol="0" anchor="ctr"/>
          <a:lstStyle/>
          <a:p>
            <a:pPr marL="0" indent="0">
              <a:buNone/>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Two-hue-anchor generative model</a:t>
            </a:r>
            <a:endParaRPr lang="en-US" sz="1250" dirty="0"/>
          </a:p>
        </p:txBody>
      </p:sp>
      <p:sp>
        <p:nvSpPr>
          <p:cNvPr id="28" name="Shape 23"/>
          <p:cNvSpPr/>
          <p:nvPr/>
        </p:nvSpPr>
        <p:spPr>
          <a:xfrm>
            <a:off x="11475720" y="4361688"/>
            <a:ext cx="365760" cy="365760"/>
          </a:xfrm>
          <a:prstGeom prst="ellipse">
            <a:avLst/>
          </a:prstGeom>
          <a:solidFill>
            <a:srgbClr val="1A2420"/>
          </a:solidFill>
          <a:ln w="12700">
            <a:solidFill>
              <a:srgbClr val="1F7A4C"/>
            </a:solidFill>
            <a:prstDash val="solid"/>
          </a:ln>
        </p:spPr>
      </p:sp>
      <p:pic>
        <p:nvPicPr>
          <p:cNvPr id="29" name="Image 3" descr="preencoded.png"/>
          <p:cNvPicPr>
            <a:picLocks noChangeAspect="1"/>
          </p:cNvPicPr>
          <p:nvPr/>
        </p:nvPicPr>
        <p:blipFill>
          <a:blip r:embed="rId1"/>
          <a:stretch>
            <a:fillRect/>
          </a:stretch>
        </p:blipFill>
        <p:spPr>
          <a:xfrm>
            <a:off x="11523269" y="4409237"/>
            <a:ext cx="270662" cy="270662"/>
          </a:xfrm>
          <a:prstGeom prst="rect">
            <a:avLst/>
          </a:prstGeom>
        </p:spPr>
      </p:pic>
      <p:sp>
        <p:nvSpPr>
          <p:cNvPr id="30" name="Shape 24"/>
          <p:cNvSpPr/>
          <p:nvPr/>
        </p:nvSpPr>
        <p:spPr>
          <a:xfrm>
            <a:off x="640080" y="5056632"/>
            <a:ext cx="4846320" cy="658368"/>
          </a:xfrm>
          <a:prstGeom prst="roundRect">
            <a:avLst>
              <a:gd name="adj" fmla="val 11111"/>
            </a:avLst>
          </a:prstGeom>
          <a:solidFill>
            <a:srgbClr val="1A2420"/>
          </a:solidFill>
          <a:ln w="9525">
            <a:solidFill>
              <a:srgbClr val="234A38"/>
            </a:solidFill>
            <a:prstDash val="solid"/>
          </a:ln>
        </p:spPr>
      </p:sp>
      <p:sp>
        <p:nvSpPr>
          <p:cNvPr id="31" name="Text 25"/>
          <p:cNvSpPr/>
          <p:nvPr/>
        </p:nvSpPr>
        <p:spPr>
          <a:xfrm>
            <a:off x="868680" y="5056632"/>
            <a:ext cx="4389120" cy="658368"/>
          </a:xfrm>
          <a:prstGeom prst="rect">
            <a:avLst/>
          </a:prstGeom>
          <a:noFill/>
        </p:spPr>
        <p:txBody>
          <a:bodyPr wrap="square" lIns="0" tIns="0" rIns="0" bIns="0" rtlCol="0" anchor="ctr"/>
          <a:lstStyle/>
          <a:p>
            <a:pPr marL="0" indent="0">
              <a:buNone/>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No checksum in protocol</a:t>
            </a:r>
            <a:endParaRPr lang="en-US" sz="1250" dirty="0"/>
          </a:p>
        </p:txBody>
      </p:sp>
      <p:sp>
        <p:nvSpPr>
          <p:cNvPr id="32" name="Shape 26"/>
          <p:cNvSpPr/>
          <p:nvPr/>
        </p:nvSpPr>
        <p:spPr>
          <a:xfrm>
            <a:off x="6035040" y="5056632"/>
            <a:ext cx="5303520" cy="658368"/>
          </a:xfrm>
          <a:prstGeom prst="roundRect">
            <a:avLst>
              <a:gd name="adj" fmla="val 11111"/>
            </a:avLst>
          </a:prstGeom>
          <a:solidFill>
            <a:srgbClr val="1A2420"/>
          </a:solidFill>
          <a:ln w="9525">
            <a:solidFill>
              <a:srgbClr val="234A38"/>
            </a:solidFill>
            <a:prstDash val="solid"/>
          </a:ln>
        </p:spPr>
      </p:sp>
      <p:sp>
        <p:nvSpPr>
          <p:cNvPr id="33" name="Text 27"/>
          <p:cNvSpPr/>
          <p:nvPr/>
        </p:nvSpPr>
        <p:spPr>
          <a:xfrm>
            <a:off x="6263640" y="5056632"/>
            <a:ext cx="4572000" cy="658368"/>
          </a:xfrm>
          <a:prstGeom prst="rect">
            <a:avLst/>
          </a:prstGeom>
          <a:noFill/>
        </p:spPr>
        <p:txBody>
          <a:bodyPr wrap="square" lIns="0" tIns="0" rIns="0" bIns="0" rtlCol="0" anchor="ctr"/>
          <a:lstStyle/>
          <a:p>
            <a:pPr marL="0" indent="0">
              <a:buNone/>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Identified gap, addressed in Future Scope</a:t>
            </a:r>
            <a:endParaRPr lang="en-US" sz="1250" dirty="0"/>
          </a:p>
        </p:txBody>
      </p:sp>
      <p:sp>
        <p:nvSpPr>
          <p:cNvPr id="34" name="Shape 28"/>
          <p:cNvSpPr/>
          <p:nvPr/>
        </p:nvSpPr>
        <p:spPr>
          <a:xfrm>
            <a:off x="11475720" y="5202936"/>
            <a:ext cx="365760" cy="365760"/>
          </a:xfrm>
          <a:prstGeom prst="ellipse">
            <a:avLst/>
          </a:prstGeom>
          <a:solidFill>
            <a:srgbClr val="1A2420"/>
          </a:solidFill>
          <a:ln w="12700">
            <a:solidFill>
              <a:srgbClr val="1F7A4C"/>
            </a:solidFill>
            <a:prstDash val="solid"/>
          </a:ln>
        </p:spPr>
      </p:sp>
      <p:pic>
        <p:nvPicPr>
          <p:cNvPr id="35" name="Image 4" descr="preencoded.png"/>
          <p:cNvPicPr>
            <a:picLocks noChangeAspect="1"/>
          </p:cNvPicPr>
          <p:nvPr/>
        </p:nvPicPr>
        <p:blipFill>
          <a:blip r:embed="rId1"/>
          <a:stretch>
            <a:fillRect/>
          </a:stretch>
        </p:blipFill>
        <p:spPr>
          <a:xfrm>
            <a:off x="11523269" y="5250485"/>
            <a:ext cx="270662" cy="270662"/>
          </a:xfrm>
          <a:prstGeom prst="rect">
            <a:avLst/>
          </a:prstGeom>
        </p:spPr>
      </p:pic>
      <p:sp>
        <p:nvSpPr>
          <p:cNvPr id="36" name="Text 29"/>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ROADMAP</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Future Scope</a:t>
            </a:r>
            <a:endParaRPr lang="en-US" sz="3200" dirty="0"/>
          </a:p>
        </p:txBody>
      </p:sp>
      <p:sp>
        <p:nvSpPr>
          <p:cNvPr id="4" name="Shape 2"/>
          <p:cNvSpPr/>
          <p:nvPr/>
        </p:nvSpPr>
        <p:spPr>
          <a:xfrm>
            <a:off x="914400" y="3657600"/>
            <a:ext cx="10332720" cy="0"/>
          </a:xfrm>
          <a:prstGeom prst="line">
            <a:avLst/>
          </a:prstGeom>
          <a:noFill/>
          <a:ln w="19050">
            <a:solidFill>
              <a:srgbClr val="1F7A4C"/>
            </a:solidFill>
            <a:prstDash val="solid"/>
          </a:ln>
        </p:spPr>
      </p:sp>
      <p:sp>
        <p:nvSpPr>
          <p:cNvPr id="5" name="Shape 3"/>
          <p:cNvSpPr/>
          <p:nvPr/>
        </p:nvSpPr>
        <p:spPr>
          <a:xfrm>
            <a:off x="706108" y="3364992"/>
            <a:ext cx="585216" cy="585216"/>
          </a:xfrm>
          <a:prstGeom prst="ellipse">
            <a:avLst/>
          </a:prstGeom>
          <a:solidFill>
            <a:srgbClr val="16231C"/>
          </a:solidFill>
          <a:ln w="12700">
            <a:solidFill>
              <a:srgbClr val="1F7A4C"/>
            </a:solidFill>
            <a:prstDash val="solid"/>
          </a:ln>
        </p:spPr>
      </p:sp>
      <p:pic>
        <p:nvPicPr>
          <p:cNvPr id="6" name="Image 0" descr="preencoded.png"/>
          <p:cNvPicPr>
            <a:picLocks noChangeAspect="1"/>
          </p:cNvPicPr>
          <p:nvPr/>
        </p:nvPicPr>
        <p:blipFill>
          <a:blip r:embed="rId1"/>
          <a:stretch>
            <a:fillRect/>
          </a:stretch>
        </p:blipFill>
        <p:spPr>
          <a:xfrm>
            <a:off x="782186" y="3441070"/>
            <a:ext cx="433060" cy="433060"/>
          </a:xfrm>
          <a:prstGeom prst="rect">
            <a:avLst/>
          </a:prstGeom>
        </p:spPr>
      </p:pic>
      <p:sp>
        <p:nvSpPr>
          <p:cNvPr id="7" name="Shape 4"/>
          <p:cNvSpPr/>
          <p:nvPr/>
        </p:nvSpPr>
        <p:spPr>
          <a:xfrm>
            <a:off x="1005016" y="2606040"/>
            <a:ext cx="0" cy="758952"/>
          </a:xfrm>
          <a:prstGeom prst="line">
            <a:avLst/>
          </a:prstGeom>
          <a:noFill/>
          <a:ln w="12700">
            <a:solidFill>
              <a:srgbClr val="234A38"/>
            </a:solidFill>
            <a:prstDash val="solid"/>
          </a:ln>
        </p:spPr>
        <p:txBody>
          <a:bodyPr/>
          <a:lstStyle/>
          <a:p>
            <a:endParaRPr lang="en-IN" dirty="0"/>
          </a:p>
        </p:txBody>
      </p:sp>
      <p:sp>
        <p:nvSpPr>
          <p:cNvPr id="8" name="Text 5"/>
          <p:cNvSpPr/>
          <p:nvPr/>
        </p:nvSpPr>
        <p:spPr>
          <a:xfrm>
            <a:off x="124587" y="1968988"/>
            <a:ext cx="1828800" cy="320040"/>
          </a:xfrm>
          <a:prstGeom prst="rect">
            <a:avLst/>
          </a:prstGeom>
          <a:noFill/>
        </p:spPr>
        <p:txBody>
          <a:bodyPr wrap="square" lIns="0" tIns="0" rIns="0" bIns="0" rtlCol="0" anchor="ctr"/>
          <a:lstStyle/>
          <a:p>
            <a:pPr marL="0" indent="0" algn="ctr">
              <a:buNone/>
            </a:pPr>
            <a:r>
              <a:rPr lang="en-US" sz="1150" b="1" dirty="0">
                <a:solidFill>
                  <a:srgbClr val="EAF2ED"/>
                </a:solidFill>
                <a:latin typeface="Calibri" panose="020F0502020204030204" pitchFamily="34" charset="0"/>
                <a:ea typeface="Calibri" panose="020F0502020204030204" pitchFamily="34" charset="-122"/>
                <a:cs typeface="Calibri" panose="020F0502020204030204" pitchFamily="34" charset="-120"/>
              </a:rPr>
              <a:t>CAN Bus / CAN FD</a:t>
            </a:r>
            <a:endParaRPr lang="en-US" sz="1150" dirty="0"/>
          </a:p>
        </p:txBody>
      </p:sp>
      <p:sp>
        <p:nvSpPr>
          <p:cNvPr id="9" name="Text 6"/>
          <p:cNvSpPr/>
          <p:nvPr/>
        </p:nvSpPr>
        <p:spPr>
          <a:xfrm>
            <a:off x="78867" y="2289028"/>
            <a:ext cx="1920240" cy="457200"/>
          </a:xfrm>
          <a:prstGeom prst="rect">
            <a:avLst/>
          </a:prstGeom>
          <a:noFill/>
        </p:spPr>
        <p:txBody>
          <a:bodyPr wrap="square" lIns="0" tIns="0" rIns="0" bIns="0" rtlCol="0" anchor="ctr"/>
          <a:lstStyle/>
          <a:p>
            <a:pPr marL="0" indent="0" algn="ctr">
              <a:buNone/>
            </a:pPr>
            <a:r>
              <a:rPr lang="en-US" sz="850" dirty="0">
                <a:solidFill>
                  <a:srgbClr val="8CA69A"/>
                </a:solidFill>
                <a:latin typeface="Calibri" panose="020F0502020204030204" pitchFamily="34" charset="0"/>
                <a:ea typeface="Calibri" panose="020F0502020204030204" pitchFamily="34" charset="-122"/>
                <a:cs typeface="Calibri" panose="020F0502020204030204" pitchFamily="34" charset="-120"/>
              </a:rPr>
              <a:t>drop-in IDataSource replacement for UART</a:t>
            </a:r>
            <a:endParaRPr lang="en-US" sz="850" dirty="0"/>
          </a:p>
        </p:txBody>
      </p:sp>
      <p:sp>
        <p:nvSpPr>
          <p:cNvPr id="10" name="Shape 7"/>
          <p:cNvSpPr/>
          <p:nvPr/>
        </p:nvSpPr>
        <p:spPr>
          <a:xfrm>
            <a:off x="2688336" y="3364992"/>
            <a:ext cx="585216" cy="585216"/>
          </a:xfrm>
          <a:prstGeom prst="ellipse">
            <a:avLst/>
          </a:prstGeom>
          <a:solidFill>
            <a:srgbClr val="16231C"/>
          </a:solidFill>
          <a:ln w="12700">
            <a:solidFill>
              <a:srgbClr val="1F7A4C"/>
            </a:solidFill>
            <a:prstDash val="solid"/>
          </a:ln>
        </p:spPr>
      </p:sp>
      <p:pic>
        <p:nvPicPr>
          <p:cNvPr id="11" name="Image 1" descr="preencoded.png"/>
          <p:cNvPicPr>
            <a:picLocks noChangeAspect="1"/>
          </p:cNvPicPr>
          <p:nvPr/>
        </p:nvPicPr>
        <p:blipFill>
          <a:blip r:embed="rId2"/>
          <a:stretch>
            <a:fillRect/>
          </a:stretch>
        </p:blipFill>
        <p:spPr>
          <a:xfrm>
            <a:off x="2764414" y="3441070"/>
            <a:ext cx="433060" cy="433060"/>
          </a:xfrm>
          <a:prstGeom prst="rect">
            <a:avLst/>
          </a:prstGeom>
        </p:spPr>
      </p:pic>
      <p:sp>
        <p:nvSpPr>
          <p:cNvPr id="12" name="Shape 8"/>
          <p:cNvSpPr/>
          <p:nvPr/>
        </p:nvSpPr>
        <p:spPr>
          <a:xfrm>
            <a:off x="2980944" y="3950208"/>
            <a:ext cx="0" cy="758952"/>
          </a:xfrm>
          <a:prstGeom prst="line">
            <a:avLst/>
          </a:prstGeom>
          <a:noFill/>
          <a:ln w="12700">
            <a:solidFill>
              <a:srgbClr val="234A38"/>
            </a:solidFill>
            <a:prstDash val="solid"/>
          </a:ln>
        </p:spPr>
      </p:sp>
      <p:sp>
        <p:nvSpPr>
          <p:cNvPr id="13" name="Text 9"/>
          <p:cNvSpPr/>
          <p:nvPr/>
        </p:nvSpPr>
        <p:spPr>
          <a:xfrm>
            <a:off x="2066544" y="4736592"/>
            <a:ext cx="1828800" cy="320040"/>
          </a:xfrm>
          <a:prstGeom prst="rect">
            <a:avLst/>
          </a:prstGeom>
          <a:noFill/>
        </p:spPr>
        <p:txBody>
          <a:bodyPr wrap="square" lIns="0" tIns="0" rIns="0" bIns="0" rtlCol="0" anchor="ctr"/>
          <a:lstStyle/>
          <a:p>
            <a:pPr marL="0" indent="0" algn="ctr">
              <a:buNone/>
            </a:pPr>
            <a:r>
              <a:rPr lang="en-US" sz="1150" b="1" dirty="0">
                <a:solidFill>
                  <a:srgbClr val="EAF2ED"/>
                </a:solidFill>
                <a:latin typeface="Calibri" panose="020F0502020204030204" pitchFamily="34" charset="0"/>
                <a:ea typeface="Calibri" panose="020F0502020204030204" pitchFamily="34" charset="-122"/>
                <a:cs typeface="Calibri" panose="020F0502020204030204" pitchFamily="34" charset="-120"/>
              </a:rPr>
              <a:t>OTA Updates</a:t>
            </a:r>
            <a:endParaRPr lang="en-US" sz="1150" dirty="0"/>
          </a:p>
        </p:txBody>
      </p:sp>
      <p:sp>
        <p:nvSpPr>
          <p:cNvPr id="14" name="Text 10"/>
          <p:cNvSpPr/>
          <p:nvPr/>
        </p:nvSpPr>
        <p:spPr>
          <a:xfrm>
            <a:off x="2020824" y="5029200"/>
            <a:ext cx="1920240" cy="457200"/>
          </a:xfrm>
          <a:prstGeom prst="rect">
            <a:avLst/>
          </a:prstGeom>
          <a:noFill/>
        </p:spPr>
        <p:txBody>
          <a:bodyPr wrap="square" lIns="0" tIns="0" rIns="0" bIns="0" rtlCol="0" anchor="ctr"/>
          <a:lstStyle/>
          <a:p>
            <a:pPr marL="0" indent="0" algn="ctr">
              <a:buNone/>
            </a:pPr>
            <a:r>
              <a:rPr lang="en-US" sz="850" dirty="0">
                <a:solidFill>
                  <a:srgbClr val="8CA69A"/>
                </a:solidFill>
                <a:latin typeface="Calibri" panose="020F0502020204030204" pitchFamily="34" charset="0"/>
                <a:ea typeface="Calibri" panose="020F0502020204030204" pitchFamily="34" charset="-122"/>
                <a:cs typeface="Calibri" panose="020F0502020204030204" pitchFamily="34" charset="-120"/>
              </a:rPr>
              <a:t>Wi-Fi (Pi) + UART DFU (STM32)</a:t>
            </a:r>
            <a:endParaRPr lang="en-US" sz="850" dirty="0"/>
          </a:p>
        </p:txBody>
      </p:sp>
      <p:sp>
        <p:nvSpPr>
          <p:cNvPr id="15" name="Shape 11"/>
          <p:cNvSpPr/>
          <p:nvPr/>
        </p:nvSpPr>
        <p:spPr>
          <a:xfrm>
            <a:off x="4754880" y="3364992"/>
            <a:ext cx="585216" cy="585216"/>
          </a:xfrm>
          <a:prstGeom prst="ellipse">
            <a:avLst/>
          </a:prstGeom>
          <a:solidFill>
            <a:srgbClr val="16231C"/>
          </a:solidFill>
          <a:ln w="12700">
            <a:solidFill>
              <a:srgbClr val="1F7A4C"/>
            </a:solidFill>
            <a:prstDash val="solid"/>
          </a:ln>
        </p:spPr>
      </p:sp>
      <p:pic>
        <p:nvPicPr>
          <p:cNvPr id="16" name="Image 2" descr="preencoded.png"/>
          <p:cNvPicPr>
            <a:picLocks noChangeAspect="1"/>
          </p:cNvPicPr>
          <p:nvPr/>
        </p:nvPicPr>
        <p:blipFill>
          <a:blip r:embed="rId3"/>
          <a:stretch>
            <a:fillRect/>
          </a:stretch>
        </p:blipFill>
        <p:spPr>
          <a:xfrm>
            <a:off x="4830958" y="3441070"/>
            <a:ext cx="433060" cy="433060"/>
          </a:xfrm>
          <a:prstGeom prst="rect">
            <a:avLst/>
          </a:prstGeom>
        </p:spPr>
      </p:pic>
      <p:sp>
        <p:nvSpPr>
          <p:cNvPr id="17" name="Shape 12"/>
          <p:cNvSpPr/>
          <p:nvPr/>
        </p:nvSpPr>
        <p:spPr>
          <a:xfrm>
            <a:off x="5047488" y="2606040"/>
            <a:ext cx="0" cy="758952"/>
          </a:xfrm>
          <a:prstGeom prst="line">
            <a:avLst/>
          </a:prstGeom>
          <a:noFill/>
          <a:ln w="12700">
            <a:solidFill>
              <a:srgbClr val="234A38"/>
            </a:solidFill>
            <a:prstDash val="solid"/>
          </a:ln>
        </p:spPr>
      </p:sp>
      <p:sp>
        <p:nvSpPr>
          <p:cNvPr id="18" name="Text 13"/>
          <p:cNvSpPr/>
          <p:nvPr/>
        </p:nvSpPr>
        <p:spPr>
          <a:xfrm>
            <a:off x="4149090" y="1965961"/>
            <a:ext cx="1828800" cy="320040"/>
          </a:xfrm>
          <a:prstGeom prst="rect">
            <a:avLst/>
          </a:prstGeom>
          <a:noFill/>
        </p:spPr>
        <p:txBody>
          <a:bodyPr wrap="square" lIns="0" tIns="0" rIns="0" bIns="0" rtlCol="0" anchor="ctr"/>
          <a:lstStyle/>
          <a:p>
            <a:pPr marL="0" indent="0" algn="ctr">
              <a:buNone/>
            </a:pPr>
            <a:r>
              <a:rPr lang="en-US" sz="1150" b="1" dirty="0">
                <a:solidFill>
                  <a:srgbClr val="EAF2ED"/>
                </a:solidFill>
                <a:latin typeface="Calibri" panose="020F0502020204030204" pitchFamily="34" charset="0"/>
                <a:ea typeface="Calibri" panose="020F0502020204030204" pitchFamily="34" charset="-122"/>
                <a:cs typeface="Calibri" panose="020F0502020204030204" pitchFamily="34" charset="-120"/>
              </a:rPr>
              <a:t>Android Auto / CarPlay</a:t>
            </a:r>
            <a:endParaRPr lang="en-US" sz="1150" dirty="0"/>
          </a:p>
        </p:txBody>
      </p:sp>
      <p:sp>
        <p:nvSpPr>
          <p:cNvPr id="19" name="Text 14"/>
          <p:cNvSpPr/>
          <p:nvPr/>
        </p:nvSpPr>
        <p:spPr>
          <a:xfrm>
            <a:off x="4103370" y="2286001"/>
            <a:ext cx="1920240" cy="457200"/>
          </a:xfrm>
          <a:prstGeom prst="rect">
            <a:avLst/>
          </a:prstGeom>
          <a:noFill/>
        </p:spPr>
        <p:txBody>
          <a:bodyPr wrap="square" lIns="0" tIns="0" rIns="0" bIns="0" rtlCol="0" anchor="ctr"/>
          <a:lstStyle/>
          <a:p>
            <a:pPr marL="0" indent="0" algn="ctr">
              <a:buNone/>
            </a:pPr>
            <a:r>
              <a:rPr lang="en-US" sz="850" dirty="0">
                <a:solidFill>
                  <a:srgbClr val="8CA69A"/>
                </a:solidFill>
                <a:latin typeface="Calibri" panose="020F0502020204030204" pitchFamily="34" charset="0"/>
                <a:ea typeface="Calibri" panose="020F0502020204030204" pitchFamily="34" charset="-122"/>
                <a:cs typeface="Calibri" panose="020F0502020204030204" pitchFamily="34" charset="-120"/>
              </a:rPr>
              <a:t>smartphone projection</a:t>
            </a:r>
            <a:endParaRPr lang="en-US" sz="850" dirty="0"/>
          </a:p>
        </p:txBody>
      </p:sp>
      <p:sp>
        <p:nvSpPr>
          <p:cNvPr id="20" name="Shape 15"/>
          <p:cNvSpPr/>
          <p:nvPr/>
        </p:nvSpPr>
        <p:spPr>
          <a:xfrm>
            <a:off x="6821424" y="3364992"/>
            <a:ext cx="585216" cy="585216"/>
          </a:xfrm>
          <a:prstGeom prst="ellipse">
            <a:avLst/>
          </a:prstGeom>
          <a:solidFill>
            <a:srgbClr val="16231C"/>
          </a:solidFill>
          <a:ln w="12700">
            <a:solidFill>
              <a:srgbClr val="1F7A4C"/>
            </a:solidFill>
            <a:prstDash val="solid"/>
          </a:ln>
        </p:spPr>
      </p:sp>
      <p:pic>
        <p:nvPicPr>
          <p:cNvPr id="21" name="Image 3" descr="preencoded.png"/>
          <p:cNvPicPr>
            <a:picLocks noChangeAspect="1"/>
          </p:cNvPicPr>
          <p:nvPr/>
        </p:nvPicPr>
        <p:blipFill>
          <a:blip r:embed="rId4"/>
          <a:stretch>
            <a:fillRect/>
          </a:stretch>
        </p:blipFill>
        <p:spPr>
          <a:xfrm>
            <a:off x="6897502" y="3441070"/>
            <a:ext cx="433060" cy="433060"/>
          </a:xfrm>
          <a:prstGeom prst="rect">
            <a:avLst/>
          </a:prstGeom>
        </p:spPr>
      </p:pic>
      <p:sp>
        <p:nvSpPr>
          <p:cNvPr id="22" name="Shape 16"/>
          <p:cNvSpPr/>
          <p:nvPr/>
        </p:nvSpPr>
        <p:spPr>
          <a:xfrm>
            <a:off x="7114032" y="3950208"/>
            <a:ext cx="0" cy="758952"/>
          </a:xfrm>
          <a:prstGeom prst="line">
            <a:avLst/>
          </a:prstGeom>
          <a:noFill/>
          <a:ln w="12700">
            <a:solidFill>
              <a:srgbClr val="234A38"/>
            </a:solidFill>
            <a:prstDash val="solid"/>
          </a:ln>
        </p:spPr>
      </p:sp>
      <p:sp>
        <p:nvSpPr>
          <p:cNvPr id="23" name="Text 17"/>
          <p:cNvSpPr/>
          <p:nvPr/>
        </p:nvSpPr>
        <p:spPr>
          <a:xfrm>
            <a:off x="6199632" y="4736592"/>
            <a:ext cx="1828800" cy="320040"/>
          </a:xfrm>
          <a:prstGeom prst="rect">
            <a:avLst/>
          </a:prstGeom>
          <a:noFill/>
        </p:spPr>
        <p:txBody>
          <a:bodyPr wrap="square" lIns="0" tIns="0" rIns="0" bIns="0" rtlCol="0" anchor="ctr"/>
          <a:lstStyle/>
          <a:p>
            <a:pPr marL="0" indent="0" algn="ctr">
              <a:buNone/>
            </a:pPr>
            <a:r>
              <a:rPr lang="en-US" sz="1150" b="1" dirty="0">
                <a:solidFill>
                  <a:srgbClr val="EAF2ED"/>
                </a:solidFill>
                <a:latin typeface="Calibri" panose="020F0502020204030204" pitchFamily="34" charset="0"/>
                <a:ea typeface="Calibri" panose="020F0502020204030204" pitchFamily="34" charset="-122"/>
                <a:cs typeface="Calibri" panose="020F0502020204030204" pitchFamily="34" charset="-120"/>
              </a:rPr>
              <a:t>Voice Assistant</a:t>
            </a:r>
            <a:endParaRPr lang="en-US" sz="1150" dirty="0"/>
          </a:p>
        </p:txBody>
      </p:sp>
      <p:sp>
        <p:nvSpPr>
          <p:cNvPr id="24" name="Text 18"/>
          <p:cNvSpPr/>
          <p:nvPr/>
        </p:nvSpPr>
        <p:spPr>
          <a:xfrm>
            <a:off x="6153912" y="5029200"/>
            <a:ext cx="1920240" cy="457200"/>
          </a:xfrm>
          <a:prstGeom prst="rect">
            <a:avLst/>
          </a:prstGeom>
          <a:noFill/>
        </p:spPr>
        <p:txBody>
          <a:bodyPr wrap="square" lIns="0" tIns="0" rIns="0" bIns="0" rtlCol="0" anchor="ctr"/>
          <a:lstStyle/>
          <a:p>
            <a:pPr marL="0" indent="0" algn="ctr">
              <a:buNone/>
            </a:pPr>
            <a:r>
              <a:rPr lang="en-US" sz="850" dirty="0">
                <a:solidFill>
                  <a:srgbClr val="8CA69A"/>
                </a:solidFill>
                <a:latin typeface="Calibri" panose="020F0502020204030204" pitchFamily="34" charset="0"/>
                <a:ea typeface="Calibri" panose="020F0502020204030204" pitchFamily="34" charset="-122"/>
                <a:cs typeface="Calibri" panose="020F0502020204030204" pitchFamily="34" charset="-120"/>
              </a:rPr>
              <a:t>on-device wake-word, hands-free control</a:t>
            </a:r>
            <a:endParaRPr lang="en-US" sz="850" dirty="0"/>
          </a:p>
        </p:txBody>
      </p:sp>
      <p:sp>
        <p:nvSpPr>
          <p:cNvPr id="25" name="Shape 19"/>
          <p:cNvSpPr/>
          <p:nvPr/>
        </p:nvSpPr>
        <p:spPr>
          <a:xfrm>
            <a:off x="8887968" y="3364992"/>
            <a:ext cx="585216" cy="585216"/>
          </a:xfrm>
          <a:prstGeom prst="ellipse">
            <a:avLst/>
          </a:prstGeom>
          <a:solidFill>
            <a:srgbClr val="16231C"/>
          </a:solidFill>
          <a:ln w="12700">
            <a:solidFill>
              <a:srgbClr val="1F7A4C"/>
            </a:solidFill>
            <a:prstDash val="solid"/>
          </a:ln>
        </p:spPr>
      </p:sp>
      <p:pic>
        <p:nvPicPr>
          <p:cNvPr id="26" name="Image 4" descr="preencoded.png"/>
          <p:cNvPicPr>
            <a:picLocks noChangeAspect="1"/>
          </p:cNvPicPr>
          <p:nvPr/>
        </p:nvPicPr>
        <p:blipFill>
          <a:blip r:embed="rId5"/>
          <a:stretch>
            <a:fillRect/>
          </a:stretch>
        </p:blipFill>
        <p:spPr>
          <a:xfrm>
            <a:off x="8964046" y="3441070"/>
            <a:ext cx="433060" cy="433060"/>
          </a:xfrm>
          <a:prstGeom prst="rect">
            <a:avLst/>
          </a:prstGeom>
        </p:spPr>
      </p:pic>
      <p:sp>
        <p:nvSpPr>
          <p:cNvPr id="27" name="Shape 20"/>
          <p:cNvSpPr/>
          <p:nvPr/>
        </p:nvSpPr>
        <p:spPr>
          <a:xfrm>
            <a:off x="9180576" y="2606040"/>
            <a:ext cx="0" cy="758952"/>
          </a:xfrm>
          <a:prstGeom prst="line">
            <a:avLst/>
          </a:prstGeom>
          <a:noFill/>
          <a:ln w="12700">
            <a:solidFill>
              <a:srgbClr val="234A38"/>
            </a:solidFill>
            <a:prstDash val="solid"/>
          </a:ln>
        </p:spPr>
      </p:sp>
      <p:sp>
        <p:nvSpPr>
          <p:cNvPr id="28" name="Text 21"/>
          <p:cNvSpPr/>
          <p:nvPr/>
        </p:nvSpPr>
        <p:spPr>
          <a:xfrm>
            <a:off x="8266176" y="1962871"/>
            <a:ext cx="1828800" cy="320040"/>
          </a:xfrm>
          <a:prstGeom prst="rect">
            <a:avLst/>
          </a:prstGeom>
          <a:noFill/>
        </p:spPr>
        <p:txBody>
          <a:bodyPr wrap="square" lIns="0" tIns="0" rIns="0" bIns="0" rtlCol="0" anchor="ctr"/>
          <a:lstStyle/>
          <a:p>
            <a:pPr marL="0" indent="0" algn="ctr">
              <a:buNone/>
            </a:pPr>
            <a:r>
              <a:rPr lang="en-US" sz="1150" b="1" dirty="0">
                <a:solidFill>
                  <a:srgbClr val="EAF2ED"/>
                </a:solidFill>
                <a:latin typeface="Calibri" panose="020F0502020204030204" pitchFamily="34" charset="0"/>
                <a:ea typeface="Calibri" panose="020F0502020204030204" pitchFamily="34" charset="-122"/>
                <a:cs typeface="Calibri" panose="020F0502020204030204" pitchFamily="34" charset="-120"/>
              </a:rPr>
              <a:t>Cloud Diagnostics</a:t>
            </a:r>
            <a:endParaRPr lang="en-US" sz="1150" dirty="0"/>
          </a:p>
        </p:txBody>
      </p:sp>
      <p:sp>
        <p:nvSpPr>
          <p:cNvPr id="29" name="Text 22"/>
          <p:cNvSpPr/>
          <p:nvPr/>
        </p:nvSpPr>
        <p:spPr>
          <a:xfrm>
            <a:off x="8220456" y="2282911"/>
            <a:ext cx="1920240" cy="457200"/>
          </a:xfrm>
          <a:prstGeom prst="rect">
            <a:avLst/>
          </a:prstGeom>
          <a:noFill/>
        </p:spPr>
        <p:txBody>
          <a:bodyPr wrap="square" lIns="0" tIns="0" rIns="0" bIns="0" rtlCol="0" anchor="ctr"/>
          <a:lstStyle/>
          <a:p>
            <a:pPr marL="0" indent="0" algn="ctr">
              <a:buNone/>
            </a:pPr>
            <a:r>
              <a:rPr lang="en-US" sz="850" dirty="0">
                <a:solidFill>
                  <a:srgbClr val="8CA69A"/>
                </a:solidFill>
                <a:latin typeface="Calibri" panose="020F0502020204030204" pitchFamily="34" charset="0"/>
                <a:ea typeface="Calibri" panose="020F0502020204030204" pitchFamily="34" charset="-122"/>
                <a:cs typeface="Calibri" panose="020F0502020204030204" pitchFamily="34" charset="-120"/>
              </a:rPr>
              <a:t>MQTT/HTTPS, fleet-level dashboard</a:t>
            </a:r>
            <a:endParaRPr lang="en-US" sz="850" dirty="0"/>
          </a:p>
        </p:txBody>
      </p:sp>
      <p:sp>
        <p:nvSpPr>
          <p:cNvPr id="30" name="Shape 23"/>
          <p:cNvSpPr/>
          <p:nvPr/>
        </p:nvSpPr>
        <p:spPr>
          <a:xfrm>
            <a:off x="10954512" y="3364992"/>
            <a:ext cx="585216" cy="585216"/>
          </a:xfrm>
          <a:prstGeom prst="ellipse">
            <a:avLst/>
          </a:prstGeom>
          <a:solidFill>
            <a:srgbClr val="16231C"/>
          </a:solidFill>
          <a:ln w="12700">
            <a:solidFill>
              <a:srgbClr val="1F7A4C"/>
            </a:solidFill>
            <a:prstDash val="solid"/>
          </a:ln>
        </p:spPr>
      </p:sp>
      <p:pic>
        <p:nvPicPr>
          <p:cNvPr id="31" name="Image 5" descr="preencoded.png"/>
          <p:cNvPicPr>
            <a:picLocks noChangeAspect="1"/>
          </p:cNvPicPr>
          <p:nvPr/>
        </p:nvPicPr>
        <p:blipFill>
          <a:blip r:embed="rId6"/>
          <a:stretch>
            <a:fillRect/>
          </a:stretch>
        </p:blipFill>
        <p:spPr>
          <a:xfrm>
            <a:off x="11030590" y="3441070"/>
            <a:ext cx="433060" cy="433060"/>
          </a:xfrm>
          <a:prstGeom prst="rect">
            <a:avLst/>
          </a:prstGeom>
        </p:spPr>
      </p:pic>
      <p:sp>
        <p:nvSpPr>
          <p:cNvPr id="32" name="Shape 24"/>
          <p:cNvSpPr/>
          <p:nvPr/>
        </p:nvSpPr>
        <p:spPr>
          <a:xfrm>
            <a:off x="11247120" y="3950208"/>
            <a:ext cx="0" cy="758952"/>
          </a:xfrm>
          <a:prstGeom prst="line">
            <a:avLst/>
          </a:prstGeom>
          <a:noFill/>
          <a:ln w="12700">
            <a:solidFill>
              <a:srgbClr val="234A38"/>
            </a:solidFill>
            <a:prstDash val="solid"/>
          </a:ln>
        </p:spPr>
      </p:sp>
      <p:sp>
        <p:nvSpPr>
          <p:cNvPr id="33" name="Text 25"/>
          <p:cNvSpPr/>
          <p:nvPr/>
        </p:nvSpPr>
        <p:spPr>
          <a:xfrm>
            <a:off x="10332720" y="4736592"/>
            <a:ext cx="1828800" cy="320040"/>
          </a:xfrm>
          <a:prstGeom prst="rect">
            <a:avLst/>
          </a:prstGeom>
          <a:noFill/>
        </p:spPr>
        <p:txBody>
          <a:bodyPr wrap="square" lIns="0" tIns="0" rIns="0" bIns="0" rtlCol="0" anchor="ctr"/>
          <a:lstStyle/>
          <a:p>
            <a:pPr marL="0" indent="0" algn="ctr">
              <a:buNone/>
            </a:pPr>
            <a:r>
              <a:rPr lang="en-US" sz="1150" b="1" dirty="0">
                <a:solidFill>
                  <a:srgbClr val="EAF2ED"/>
                </a:solidFill>
                <a:latin typeface="Calibri" panose="020F0502020204030204" pitchFamily="34" charset="0"/>
                <a:ea typeface="Calibri" panose="020F0502020204030204" pitchFamily="34" charset="-122"/>
                <a:cs typeface="Calibri" panose="020F0502020204030204" pitchFamily="34" charset="-120"/>
              </a:rPr>
              <a:t>Checksum Hardening</a:t>
            </a:r>
            <a:endParaRPr lang="en-US" sz="1150" dirty="0"/>
          </a:p>
        </p:txBody>
      </p:sp>
      <p:sp>
        <p:nvSpPr>
          <p:cNvPr id="34" name="Text 26"/>
          <p:cNvSpPr/>
          <p:nvPr/>
        </p:nvSpPr>
        <p:spPr>
          <a:xfrm>
            <a:off x="10287000" y="5029200"/>
            <a:ext cx="1920240" cy="457200"/>
          </a:xfrm>
          <a:prstGeom prst="rect">
            <a:avLst/>
          </a:prstGeom>
          <a:noFill/>
        </p:spPr>
        <p:txBody>
          <a:bodyPr wrap="square" lIns="0" tIns="0" rIns="0" bIns="0" rtlCol="0" anchor="ctr"/>
          <a:lstStyle/>
          <a:p>
            <a:pPr marL="0" indent="0" algn="ctr">
              <a:buNone/>
            </a:pPr>
            <a:r>
              <a:rPr lang="en-US" sz="850" dirty="0">
                <a:solidFill>
                  <a:srgbClr val="8CA69A"/>
                </a:solidFill>
                <a:latin typeface="Calibri" panose="020F0502020204030204" pitchFamily="34" charset="0"/>
                <a:ea typeface="Calibri" panose="020F0502020204030204" pitchFamily="34" charset="-122"/>
                <a:cs typeface="Calibri" panose="020F0502020204030204" pitchFamily="34" charset="-120"/>
              </a:rPr>
              <a:t>CRC on the telemetry frame</a:t>
            </a:r>
            <a:endParaRPr lang="en-US" sz="850" dirty="0"/>
          </a:p>
        </p:txBody>
      </p:sp>
      <p:sp>
        <p:nvSpPr>
          <p:cNvPr id="35" name="Text 27"/>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RESULTS</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Project Outcomes</a:t>
            </a:r>
            <a:endParaRPr lang="en-US" sz="3200" dirty="0"/>
          </a:p>
        </p:txBody>
      </p:sp>
      <p:sp>
        <p:nvSpPr>
          <p:cNvPr id="4" name="Text 2"/>
          <p:cNvSpPr/>
          <p:nvPr/>
        </p:nvSpPr>
        <p:spPr>
          <a:xfrm>
            <a:off x="640080" y="1691640"/>
            <a:ext cx="6400800" cy="4023360"/>
          </a:xfrm>
          <a:prstGeom prst="rect">
            <a:avLst/>
          </a:prstGeom>
          <a:noFill/>
        </p:spPr>
        <p:txBody>
          <a:bodyPr wrap="square" lIns="0" tIns="0" rIns="0" bIns="0" rtlCol="0" anchor="t"/>
          <a:lstStyle/>
          <a:p>
            <a:pPr marL="342900" indent="-342900">
              <a:lnSpc>
                <a:spcPct val="108000"/>
              </a:lnSpc>
              <a:spcAft>
                <a:spcPts val="1800"/>
              </a:spcAft>
              <a:buSzPct val="100000"/>
              <a:buChar char="▪"/>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Full signal path implemented: pedal sensor → dashboard pixel</a:t>
            </a:r>
            <a:endParaRPr lang="en-US" sz="1550" dirty="0"/>
          </a:p>
          <a:p>
            <a:pPr marL="342900" indent="-342900">
              <a:lnSpc>
                <a:spcPct val="108000"/>
              </a:lnSpc>
              <a:spcAft>
                <a:spcPts val="1800"/>
              </a:spcAft>
              <a:buSzPct val="100000"/>
              <a:buChar char="▪"/>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Closed-loop control, thermal safety, and SoC estimation validated on bench</a:t>
            </a:r>
            <a:endParaRPr lang="en-US" sz="1550" dirty="0"/>
          </a:p>
          <a:p>
            <a:pPr marL="342900" indent="-342900">
              <a:lnSpc>
                <a:spcPct val="108000"/>
              </a:lnSpc>
              <a:spcAft>
                <a:spcPts val="1800"/>
              </a:spcAft>
              <a:buSzPct val="100000"/>
              <a:buChar char="▪"/>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Reactive HMI with zero polling, six themes, hidden diagnostics layer</a:t>
            </a:r>
            <a:endParaRPr lang="en-US" sz="1550" dirty="0"/>
          </a:p>
          <a:p>
            <a:pPr marL="342900" indent="-342900">
              <a:lnSpc>
                <a:spcPct val="108000"/>
              </a:lnSpc>
              <a:spcAft>
                <a:spcPts val="1800"/>
              </a:spcAft>
              <a:buSzPct val="100000"/>
              <a:buChar char="▪"/>
            </a:pPr>
            <a:r>
              <a:rPr lang="en-US" sz="1550" dirty="0">
                <a:solidFill>
                  <a:srgbClr val="EAF2ED"/>
                </a:solidFill>
                <a:latin typeface="Calibri" panose="020F0502020204030204" pitchFamily="34" charset="0"/>
                <a:ea typeface="Calibri" panose="020F0502020204030204" pitchFamily="34" charset="-122"/>
                <a:cs typeface="Calibri" panose="020F0502020204030204" pitchFamily="34" charset="-120"/>
              </a:rPr>
              <a:t>Key learning: interface discipline (IDataSource, shared property contracts) made both hardware and UI independently testable</a:t>
            </a:r>
            <a:endParaRPr lang="en-US" sz="1550" dirty="0"/>
          </a:p>
        </p:txBody>
      </p:sp>
      <p:sp>
        <p:nvSpPr>
          <p:cNvPr id="5" name="Shape 3"/>
          <p:cNvSpPr/>
          <p:nvPr/>
        </p:nvSpPr>
        <p:spPr>
          <a:xfrm>
            <a:off x="7406640" y="1737360"/>
            <a:ext cx="2148840" cy="1920240"/>
          </a:xfrm>
          <a:prstGeom prst="roundRect">
            <a:avLst>
              <a:gd name="adj" fmla="val 3810"/>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6" name="Text 4"/>
          <p:cNvSpPr/>
          <p:nvPr/>
        </p:nvSpPr>
        <p:spPr>
          <a:xfrm>
            <a:off x="7406640" y="1965960"/>
            <a:ext cx="2148840" cy="914400"/>
          </a:xfrm>
          <a:prstGeom prst="rect">
            <a:avLst/>
          </a:prstGeom>
          <a:noFill/>
        </p:spPr>
        <p:txBody>
          <a:bodyPr wrap="square" lIns="0" tIns="0" rIns="0" bIns="0" rtlCol="0" anchor="ctr"/>
          <a:lstStyle/>
          <a:p>
            <a:pPr marL="0" indent="0" algn="ctr">
              <a:buNone/>
            </a:pPr>
            <a:r>
              <a:rPr lang="en-US" sz="4600" b="1" dirty="0">
                <a:solidFill>
                  <a:srgbClr val="3DDC84"/>
                </a:solidFill>
                <a:latin typeface="Calibri" panose="020F0502020204030204" pitchFamily="34" charset="0"/>
                <a:ea typeface="Calibri" panose="020F0502020204030204" pitchFamily="34" charset="-122"/>
                <a:cs typeface="Calibri" panose="020F0502020204030204" pitchFamily="34" charset="-120"/>
              </a:rPr>
              <a:t>2</a:t>
            </a:r>
            <a:endParaRPr lang="en-US" sz="4600" dirty="0"/>
          </a:p>
        </p:txBody>
      </p:sp>
      <p:sp>
        <p:nvSpPr>
          <p:cNvPr id="7" name="Text 5"/>
          <p:cNvSpPr/>
          <p:nvPr/>
        </p:nvSpPr>
        <p:spPr>
          <a:xfrm>
            <a:off x="7543800" y="2880360"/>
            <a:ext cx="1874520" cy="640080"/>
          </a:xfrm>
          <a:prstGeom prst="rect">
            <a:avLst/>
          </a:prstGeom>
          <a:noFill/>
        </p:spPr>
        <p:txBody>
          <a:bodyPr wrap="square" lIns="0" tIns="0" rIns="0" bIns="0" rtlCol="0" anchor="t"/>
          <a:lstStyle/>
          <a:p>
            <a:pPr marL="0" indent="0" algn="ctr">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subsystems</a:t>
            </a:r>
            <a:endParaRPr lang="en-US" sz="1050" dirty="0"/>
          </a:p>
          <a:p>
            <a:pPr marL="0" indent="0" algn="ctr">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validated together</a:t>
            </a:r>
            <a:endParaRPr lang="en-US" sz="1050" dirty="0"/>
          </a:p>
        </p:txBody>
      </p:sp>
      <p:sp>
        <p:nvSpPr>
          <p:cNvPr id="8" name="Shape 6"/>
          <p:cNvSpPr/>
          <p:nvPr/>
        </p:nvSpPr>
        <p:spPr>
          <a:xfrm>
            <a:off x="9738360" y="1737360"/>
            <a:ext cx="2148840" cy="1920240"/>
          </a:xfrm>
          <a:prstGeom prst="roundRect">
            <a:avLst>
              <a:gd name="adj" fmla="val 3810"/>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9" name="Text 7"/>
          <p:cNvSpPr/>
          <p:nvPr/>
        </p:nvSpPr>
        <p:spPr>
          <a:xfrm>
            <a:off x="9738360" y="1965960"/>
            <a:ext cx="2148840" cy="914400"/>
          </a:xfrm>
          <a:prstGeom prst="rect">
            <a:avLst/>
          </a:prstGeom>
          <a:noFill/>
        </p:spPr>
        <p:txBody>
          <a:bodyPr wrap="square" lIns="0" tIns="0" rIns="0" bIns="0" rtlCol="0" anchor="ctr"/>
          <a:lstStyle/>
          <a:p>
            <a:pPr marL="0" indent="0" algn="ctr">
              <a:buNone/>
            </a:pPr>
            <a:r>
              <a:rPr lang="en-US" sz="4600" b="1" dirty="0">
                <a:solidFill>
                  <a:srgbClr val="3DDC84"/>
                </a:solidFill>
                <a:latin typeface="Calibri" panose="020F0502020204030204" pitchFamily="34" charset="0"/>
                <a:ea typeface="Calibri" panose="020F0502020204030204" pitchFamily="34" charset="-122"/>
                <a:cs typeface="Calibri" panose="020F0502020204030204" pitchFamily="34" charset="-120"/>
              </a:rPr>
              <a:t>1</a:t>
            </a:r>
            <a:endParaRPr lang="en-US" sz="4600" dirty="0"/>
          </a:p>
        </p:txBody>
      </p:sp>
      <p:sp>
        <p:nvSpPr>
          <p:cNvPr id="10" name="Text 8"/>
          <p:cNvSpPr/>
          <p:nvPr/>
        </p:nvSpPr>
        <p:spPr>
          <a:xfrm>
            <a:off x="9875520" y="2880360"/>
            <a:ext cx="1874520" cy="640080"/>
          </a:xfrm>
          <a:prstGeom prst="rect">
            <a:avLst/>
          </a:prstGeom>
          <a:noFill/>
        </p:spPr>
        <p:txBody>
          <a:bodyPr wrap="square" lIns="0" tIns="0" rIns="0" bIns="0" rtlCol="0" anchor="t"/>
          <a:lstStyle/>
          <a:p>
            <a:pPr marL="0" indent="0" algn="ctr">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shared reactive</a:t>
            </a:r>
            <a:endParaRPr lang="en-US" sz="1050" dirty="0"/>
          </a:p>
          <a:p>
            <a:pPr marL="0" indent="0" algn="ctr">
              <a:buNone/>
            </a:pPr>
            <a:r>
              <a:rPr lang="en-US" sz="1050" dirty="0">
                <a:solidFill>
                  <a:srgbClr val="8CA69A"/>
                </a:solidFill>
                <a:latin typeface="Calibri" panose="020F0502020204030204" pitchFamily="34" charset="0"/>
                <a:ea typeface="Calibri" panose="020F0502020204030204" pitchFamily="34" charset="-122"/>
                <a:cs typeface="Calibri" panose="020F0502020204030204" pitchFamily="34" charset="-120"/>
              </a:rPr>
              <a:t>data contract</a:t>
            </a:r>
            <a:endParaRPr lang="en-US" sz="1050" dirty="0"/>
          </a:p>
        </p:txBody>
      </p:sp>
      <p:sp>
        <p:nvSpPr>
          <p:cNvPr id="11" name="Shape 9"/>
          <p:cNvSpPr/>
          <p:nvPr/>
        </p:nvSpPr>
        <p:spPr>
          <a:xfrm>
            <a:off x="9113520" y="3886200"/>
            <a:ext cx="1005840" cy="1005840"/>
          </a:xfrm>
          <a:prstGeom prst="ellipse">
            <a:avLst/>
          </a:prstGeom>
          <a:solidFill>
            <a:srgbClr val="1A2420"/>
          </a:solidFill>
          <a:ln w="12700">
            <a:solidFill>
              <a:srgbClr val="3DDC84"/>
            </a:solidFill>
            <a:prstDash val="solid"/>
          </a:ln>
        </p:spPr>
      </p:sp>
      <p:pic>
        <p:nvPicPr>
          <p:cNvPr id="12" name="Image 0" descr="preencoded.png"/>
          <p:cNvPicPr>
            <a:picLocks noChangeAspect="1"/>
          </p:cNvPicPr>
          <p:nvPr/>
        </p:nvPicPr>
        <p:blipFill>
          <a:blip r:embed="rId1"/>
          <a:stretch>
            <a:fillRect/>
          </a:stretch>
        </p:blipFill>
        <p:spPr>
          <a:xfrm>
            <a:off x="9244279" y="4016959"/>
            <a:ext cx="744322" cy="744322"/>
          </a:xfrm>
          <a:prstGeom prst="rect">
            <a:avLst/>
          </a:prstGeom>
        </p:spPr>
      </p:pic>
      <p:sp>
        <p:nvSpPr>
          <p:cNvPr id="13" name="Text 10"/>
          <p:cNvSpPr/>
          <p:nvPr/>
        </p:nvSpPr>
        <p:spPr>
          <a:xfrm>
            <a:off x="7406640" y="5120640"/>
            <a:ext cx="4480560" cy="640080"/>
          </a:xfrm>
          <a:prstGeom prst="rect">
            <a:avLst/>
          </a:prstGeom>
          <a:noFill/>
        </p:spPr>
        <p:txBody>
          <a:bodyPr wrap="square" lIns="0" tIns="0" rIns="0" bIns="0" rtlCol="0" anchor="t"/>
          <a:lstStyle/>
          <a:p>
            <a:pPr marL="0" indent="0" algn="ctr">
              <a:buNone/>
            </a:pPr>
            <a:r>
              <a:rPr lang="en-US" sz="1100" dirty="0">
                <a:solidFill>
                  <a:srgbClr val="8CA69A"/>
                </a:solidFill>
                <a:latin typeface="Calibri" panose="020F0502020204030204" pitchFamily="34" charset="0"/>
                <a:ea typeface="Calibri" panose="020F0502020204030204" pitchFamily="34" charset="-122"/>
                <a:cs typeface="Calibri" panose="020F0502020204030204" pitchFamily="34" charset="-120"/>
              </a:rPr>
              <a:t>Interface discipline made every layer independently testable.</a:t>
            </a:r>
            <a:endParaRPr lang="en-US" sz="1100" dirty="0"/>
          </a:p>
        </p:txBody>
      </p:sp>
      <p:sp>
        <p:nvSpPr>
          <p:cNvPr id="14" name="Text 11"/>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p:spPr>
        <p:txBody>
          <a:bodyPr wrap="square" lIns="0" tIns="0" rIns="0" bIns="0" rtlCol="0" anchor="ctr"/>
          <a:lstStyle/>
          <a:p>
            <a:pPr marL="0" indent="0">
              <a:buNone/>
            </a:pPr>
            <a:r>
              <a:rPr lang="en-US" sz="1200" b="1" kern="0" spc="200" dirty="0">
                <a:solidFill>
                  <a:srgbClr val="3DDC84"/>
                </a:solidFill>
                <a:latin typeface="Calibri" panose="020F0502020204030204" pitchFamily="34" charset="0"/>
                <a:ea typeface="Calibri" panose="020F0502020204030204" pitchFamily="34" charset="-122"/>
                <a:cs typeface="Calibri" panose="020F0502020204030204" pitchFamily="34" charset="-120"/>
              </a:rPr>
              <a:t>DEMONSTRATION</a:t>
            </a:r>
            <a:endParaRPr lang="en-US" sz="1200" dirty="0"/>
          </a:p>
        </p:txBody>
      </p:sp>
      <p:sp>
        <p:nvSpPr>
          <p:cNvPr id="3" name="Text 1"/>
          <p:cNvSpPr/>
          <p:nvPr/>
        </p:nvSpPr>
        <p:spPr>
          <a:xfrm>
            <a:off x="640080" y="658368"/>
            <a:ext cx="10881360" cy="731520"/>
          </a:xfrm>
          <a:prstGeom prst="rect">
            <a:avLst/>
          </a:prstGeom>
          <a:noFill/>
        </p:spPr>
        <p:txBody>
          <a:bodyPr wrap="square" lIns="0" tIns="0" rIns="0" bIns="0" rtlCol="0" anchor="ctr"/>
          <a:lstStyle/>
          <a:p>
            <a:pPr marL="0" indent="0">
              <a:buNone/>
            </a:pPr>
            <a:r>
              <a:rPr lang="en-US" sz="3200" b="1" dirty="0">
                <a:solidFill>
                  <a:srgbClr val="EAF2ED"/>
                </a:solidFill>
                <a:latin typeface="Calibri" panose="020F0502020204030204" pitchFamily="34" charset="0"/>
                <a:ea typeface="Calibri" panose="020F0502020204030204" pitchFamily="34" charset="-122"/>
                <a:cs typeface="Calibri" panose="020F0502020204030204" pitchFamily="34" charset="-120"/>
              </a:rPr>
              <a:t>Live Demo</a:t>
            </a:r>
            <a:endParaRPr lang="en-US" sz="3200" dirty="0"/>
          </a:p>
        </p:txBody>
      </p:sp>
      <p:sp>
        <p:nvSpPr>
          <p:cNvPr id="4" name="Shape 2"/>
          <p:cNvSpPr/>
          <p:nvPr/>
        </p:nvSpPr>
        <p:spPr>
          <a:xfrm>
            <a:off x="1828800" y="1691640"/>
            <a:ext cx="8503920" cy="3749040"/>
          </a:xfrm>
          <a:prstGeom prst="roundRect">
            <a:avLst>
              <a:gd name="adj" fmla="val 1951"/>
            </a:avLst>
          </a:prstGeom>
          <a:solidFill>
            <a:srgbClr val="1A2420"/>
          </a:solidFill>
          <a:ln w="9525">
            <a:solidFill>
              <a:srgbClr val="234A38"/>
            </a:solidFill>
            <a:prstDash val="solid"/>
          </a:ln>
          <a:effectLst>
            <a:outerShdw blurRad="101600" dist="38100" dir="5400000" algn="bl" rotWithShape="0">
              <a:srgbClr val="000000">
                <a:alpha val="35000"/>
              </a:srgbClr>
            </a:outerShdw>
          </a:effectLst>
        </p:spPr>
      </p:sp>
      <p:sp>
        <p:nvSpPr>
          <p:cNvPr id="5" name="Shape 3"/>
          <p:cNvSpPr/>
          <p:nvPr/>
        </p:nvSpPr>
        <p:spPr>
          <a:xfrm>
            <a:off x="5501488" y="2880360"/>
            <a:ext cx="1188720" cy="1188720"/>
          </a:xfrm>
          <a:prstGeom prst="ellipse">
            <a:avLst/>
          </a:prstGeom>
          <a:solidFill>
            <a:srgbClr val="141B17"/>
          </a:solidFill>
          <a:ln w="12700">
            <a:solidFill>
              <a:srgbClr val="3DDC84"/>
            </a:solidFill>
            <a:prstDash val="solid"/>
          </a:ln>
        </p:spPr>
      </p:sp>
      <p:pic>
        <p:nvPicPr>
          <p:cNvPr id="6" name="Image 0" descr="preencoded.png"/>
          <p:cNvPicPr>
            <a:picLocks noChangeAspect="1"/>
          </p:cNvPicPr>
          <p:nvPr/>
        </p:nvPicPr>
        <p:blipFill>
          <a:blip r:embed="rId1"/>
          <a:stretch>
            <a:fillRect/>
          </a:stretch>
        </p:blipFill>
        <p:spPr>
          <a:xfrm>
            <a:off x="5656021" y="3034894"/>
            <a:ext cx="879653" cy="879653"/>
          </a:xfrm>
          <a:prstGeom prst="rect">
            <a:avLst/>
          </a:prstGeom>
        </p:spPr>
      </p:pic>
      <p:sp>
        <p:nvSpPr>
          <p:cNvPr id="7" name="Text 4"/>
          <p:cNvSpPr/>
          <p:nvPr/>
        </p:nvSpPr>
        <p:spPr>
          <a:xfrm>
            <a:off x="1828800" y="4297680"/>
            <a:ext cx="8503920" cy="365760"/>
          </a:xfrm>
          <a:prstGeom prst="rect">
            <a:avLst/>
          </a:prstGeom>
          <a:noFill/>
        </p:spPr>
        <p:txBody>
          <a:bodyPr wrap="square" lIns="0" tIns="0" rIns="0" bIns="0" rtlCol="0" anchor="t"/>
          <a:lstStyle/>
          <a:p>
            <a:pPr marL="0" indent="0" algn="ctr">
              <a:buNone/>
            </a:pPr>
            <a:r>
              <a:rPr lang="en-US" sz="1300" dirty="0">
                <a:solidFill>
                  <a:srgbClr val="8CA69A"/>
                </a:solidFill>
                <a:latin typeface="Calibri" panose="020F0502020204030204" pitchFamily="34" charset="0"/>
                <a:ea typeface="Calibri" panose="020F0502020204030204" pitchFamily="34" charset="-122"/>
                <a:cs typeface="Calibri" panose="020F0502020204030204" pitchFamily="34" charset="-120"/>
              </a:rPr>
              <a:t>Demo Recording / Live Session</a:t>
            </a:r>
            <a:endParaRPr lang="en-US" sz="1300" dirty="0"/>
          </a:p>
        </p:txBody>
      </p:sp>
      <p:sp>
        <p:nvSpPr>
          <p:cNvPr id="8" name="Text 5"/>
          <p:cNvSpPr/>
          <p:nvPr/>
        </p:nvSpPr>
        <p:spPr>
          <a:xfrm>
            <a:off x="1828800" y="5669280"/>
            <a:ext cx="7955280" cy="1188720"/>
          </a:xfrm>
          <a:prstGeom prst="rect">
            <a:avLst/>
          </a:prstGeom>
          <a:noFill/>
        </p:spPr>
        <p:txBody>
          <a:bodyPr wrap="square" lIns="0" tIns="0" rIns="0" bIns="0" rtlCol="0" anchor="t"/>
          <a:lstStyle/>
          <a:p>
            <a:pPr marL="342900" indent="-342900">
              <a:lnSpc>
                <a:spcPct val="108000"/>
              </a:lnSpc>
              <a:spcAft>
                <a:spcPts val="600"/>
              </a:spcAft>
              <a:buSzPct val="100000"/>
              <a:buChar char="▪"/>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Simulated drive cycle — ECO / CITY / SPORT</a:t>
            </a:r>
            <a:endParaRPr lang="en-US" sz="1250" dirty="0"/>
          </a:p>
          <a:p>
            <a:pPr marL="342900" indent="-342900">
              <a:lnSpc>
                <a:spcPct val="108000"/>
              </a:lnSpc>
              <a:spcAft>
                <a:spcPts val="600"/>
              </a:spcAft>
              <a:buSzPct val="100000"/>
              <a:buChar char="▪"/>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Thermal warning injection via Engineer Mode</a:t>
            </a:r>
            <a:endParaRPr lang="en-US" sz="1250" dirty="0"/>
          </a:p>
          <a:p>
            <a:pPr marL="342900" indent="-342900">
              <a:lnSpc>
                <a:spcPct val="108000"/>
              </a:lnSpc>
              <a:spcAft>
                <a:spcPts val="600"/>
              </a:spcAft>
              <a:buSzPct val="100000"/>
              <a:buChar char="▪"/>
            </a:pPr>
            <a:r>
              <a:rPr lang="en-US" sz="1250" dirty="0">
                <a:solidFill>
                  <a:srgbClr val="EAF2ED"/>
                </a:solidFill>
                <a:latin typeface="Calibri" panose="020F0502020204030204" pitchFamily="34" charset="0"/>
                <a:ea typeface="Calibri" panose="020F0502020204030204" pitchFamily="34" charset="-122"/>
                <a:cs typeface="Calibri" panose="020F0502020204030204" pitchFamily="34" charset="-120"/>
              </a:rPr>
              <a:t>Theme and language switching in real time</a:t>
            </a:r>
            <a:endParaRPr lang="en-US" sz="1250" dirty="0"/>
          </a:p>
        </p:txBody>
      </p:sp>
      <p:sp>
        <p:nvSpPr>
          <p:cNvPr id="9" name="Text 6"/>
          <p:cNvSpPr/>
          <p:nvPr/>
        </p:nvSpPr>
        <p:spPr>
          <a:xfrm>
            <a:off x="11368735" y="6400800"/>
            <a:ext cx="548640" cy="274320"/>
          </a:xfrm>
          <a:prstGeom prst="rect">
            <a:avLst/>
          </a:prstGeom>
          <a:noFill/>
        </p:spPr>
        <p:txBody>
          <a:bodyPr wrap="square" lIns="0" tIns="0" rIns="0" bIns="0" rtlCol="0" anchor="ctr"/>
          <a:lstStyle/>
          <a:p>
            <a:pPr marL="0" indent="0" algn="r">
              <a:buNone/>
            </a:pPr>
            <a:r>
              <a:rPr lang="en-US" sz="1000" dirty="0">
                <a:solidFill>
                  <a:srgbClr val="8CA69A"/>
                </a:solidFill>
                <a:latin typeface="Calibri" panose="020F0502020204030204" pitchFamily="34" charset="0"/>
                <a:ea typeface="Calibri" panose="020F0502020204030204" pitchFamily="34" charset="-122"/>
                <a:cs typeface="Calibri" panose="020F0502020204030204"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0F0D"/>
        </a:solidFill>
        <a:effectLst/>
      </p:bgPr>
    </p:bg>
    <p:spTree>
      <p:nvGrpSpPr>
        <p:cNvPr id="1" name=""/>
        <p:cNvGrpSpPr/>
        <p:nvPr/>
      </p:nvGrpSpPr>
      <p:grpSpPr>
        <a:xfrm>
          <a:off x="0" y="0"/>
          <a:ext cx="0" cy="0"/>
          <a:chOff x="0" y="0"/>
          <a:chExt cx="0" cy="0"/>
        </a:xfrm>
      </p:grpSpPr>
      <p:sp>
        <p:nvSpPr>
          <p:cNvPr id="2" name="Shape 0"/>
          <p:cNvSpPr/>
          <p:nvPr/>
        </p:nvSpPr>
        <p:spPr>
          <a:xfrm>
            <a:off x="10607040" y="548640"/>
            <a:ext cx="822960" cy="0"/>
          </a:xfrm>
          <a:prstGeom prst="line">
            <a:avLst/>
          </a:prstGeom>
          <a:noFill/>
          <a:ln w="15875">
            <a:solidFill>
              <a:srgbClr val="1F7A4C">
                <a:alpha val="45000"/>
              </a:srgbClr>
            </a:solidFill>
            <a:prstDash val="solid"/>
          </a:ln>
        </p:spPr>
      </p:sp>
      <p:sp>
        <p:nvSpPr>
          <p:cNvPr id="3" name="Shape 1"/>
          <p:cNvSpPr/>
          <p:nvPr/>
        </p:nvSpPr>
        <p:spPr>
          <a:xfrm>
            <a:off x="11430000" y="548640"/>
            <a:ext cx="0" cy="411480"/>
          </a:xfrm>
          <a:prstGeom prst="line">
            <a:avLst/>
          </a:prstGeom>
          <a:noFill/>
          <a:ln w="15875">
            <a:solidFill>
              <a:srgbClr val="1F7A4C">
                <a:alpha val="45000"/>
              </a:srgbClr>
            </a:solidFill>
            <a:prstDash val="solid"/>
          </a:ln>
        </p:spPr>
      </p:sp>
      <p:sp>
        <p:nvSpPr>
          <p:cNvPr id="4" name="Shape 2"/>
          <p:cNvSpPr/>
          <p:nvPr/>
        </p:nvSpPr>
        <p:spPr>
          <a:xfrm>
            <a:off x="11430000" y="960120"/>
            <a:ext cx="457200" cy="0"/>
          </a:xfrm>
          <a:prstGeom prst="line">
            <a:avLst/>
          </a:prstGeom>
          <a:noFill/>
          <a:ln w="15875">
            <a:solidFill>
              <a:srgbClr val="1F7A4C">
                <a:alpha val="45000"/>
              </a:srgbClr>
            </a:solidFill>
            <a:prstDash val="solid"/>
          </a:ln>
        </p:spPr>
      </p:sp>
      <p:sp>
        <p:nvSpPr>
          <p:cNvPr id="5" name="Shape 3"/>
          <p:cNvSpPr/>
          <p:nvPr/>
        </p:nvSpPr>
        <p:spPr>
          <a:xfrm>
            <a:off x="10561320" y="502920"/>
            <a:ext cx="91440" cy="91440"/>
          </a:xfrm>
          <a:prstGeom prst="ellipse">
            <a:avLst/>
          </a:prstGeom>
          <a:solidFill>
            <a:srgbClr val="3DDC84">
              <a:alpha val="45000"/>
            </a:srgbClr>
          </a:solidFill>
        </p:spPr>
      </p:sp>
      <p:sp>
        <p:nvSpPr>
          <p:cNvPr id="6" name="Shape 4"/>
          <p:cNvSpPr/>
          <p:nvPr/>
        </p:nvSpPr>
        <p:spPr>
          <a:xfrm>
            <a:off x="11795760" y="914400"/>
            <a:ext cx="91440" cy="91440"/>
          </a:xfrm>
          <a:prstGeom prst="ellipse">
            <a:avLst/>
          </a:prstGeom>
          <a:solidFill>
            <a:srgbClr val="3DDC84">
              <a:alpha val="45000"/>
            </a:srgbClr>
          </a:solidFill>
        </p:spPr>
      </p:sp>
      <p:sp>
        <p:nvSpPr>
          <p:cNvPr id="7" name="Shape 5"/>
          <p:cNvSpPr/>
          <p:nvPr/>
        </p:nvSpPr>
        <p:spPr>
          <a:xfrm>
            <a:off x="640080" y="5943600"/>
            <a:ext cx="905256" cy="0"/>
          </a:xfrm>
          <a:prstGeom prst="line">
            <a:avLst/>
          </a:prstGeom>
          <a:noFill/>
          <a:ln w="15875">
            <a:solidFill>
              <a:srgbClr val="1F7A4C">
                <a:alpha val="45000"/>
              </a:srgbClr>
            </a:solidFill>
            <a:prstDash val="solid"/>
          </a:ln>
        </p:spPr>
      </p:sp>
      <p:sp>
        <p:nvSpPr>
          <p:cNvPr id="8" name="Shape 6"/>
          <p:cNvSpPr/>
          <p:nvPr/>
        </p:nvSpPr>
        <p:spPr>
          <a:xfrm>
            <a:off x="1545336" y="5943600"/>
            <a:ext cx="0" cy="452628"/>
          </a:xfrm>
          <a:prstGeom prst="line">
            <a:avLst/>
          </a:prstGeom>
          <a:noFill/>
          <a:ln w="15875">
            <a:solidFill>
              <a:srgbClr val="1F7A4C">
                <a:alpha val="45000"/>
              </a:srgbClr>
            </a:solidFill>
            <a:prstDash val="solid"/>
          </a:ln>
        </p:spPr>
      </p:sp>
      <p:sp>
        <p:nvSpPr>
          <p:cNvPr id="9" name="Shape 7"/>
          <p:cNvSpPr/>
          <p:nvPr/>
        </p:nvSpPr>
        <p:spPr>
          <a:xfrm>
            <a:off x="1545336" y="6396228"/>
            <a:ext cx="502920" cy="0"/>
          </a:xfrm>
          <a:prstGeom prst="line">
            <a:avLst/>
          </a:prstGeom>
          <a:noFill/>
          <a:ln w="15875">
            <a:solidFill>
              <a:srgbClr val="1F7A4C">
                <a:alpha val="45000"/>
              </a:srgbClr>
            </a:solidFill>
            <a:prstDash val="solid"/>
          </a:ln>
        </p:spPr>
      </p:sp>
      <p:sp>
        <p:nvSpPr>
          <p:cNvPr id="10" name="Shape 8"/>
          <p:cNvSpPr/>
          <p:nvPr/>
        </p:nvSpPr>
        <p:spPr>
          <a:xfrm>
            <a:off x="594360" y="5897880"/>
            <a:ext cx="91440" cy="91440"/>
          </a:xfrm>
          <a:prstGeom prst="ellipse">
            <a:avLst/>
          </a:prstGeom>
          <a:solidFill>
            <a:srgbClr val="3DDC84">
              <a:alpha val="45000"/>
            </a:srgbClr>
          </a:solidFill>
        </p:spPr>
      </p:sp>
      <p:sp>
        <p:nvSpPr>
          <p:cNvPr id="11" name="Shape 9"/>
          <p:cNvSpPr/>
          <p:nvPr/>
        </p:nvSpPr>
        <p:spPr>
          <a:xfrm>
            <a:off x="1952244" y="6350508"/>
            <a:ext cx="91440" cy="91440"/>
          </a:xfrm>
          <a:prstGeom prst="ellipse">
            <a:avLst/>
          </a:prstGeom>
          <a:solidFill>
            <a:srgbClr val="3DDC84">
              <a:alpha val="45000"/>
            </a:srgbClr>
          </a:solidFill>
        </p:spPr>
      </p:sp>
      <p:sp>
        <p:nvSpPr>
          <p:cNvPr id="12" name="Shape 10"/>
          <p:cNvSpPr/>
          <p:nvPr/>
        </p:nvSpPr>
        <p:spPr>
          <a:xfrm>
            <a:off x="5547208" y="1920240"/>
            <a:ext cx="1097280" cy="1097280"/>
          </a:xfrm>
          <a:prstGeom prst="ellipse">
            <a:avLst/>
          </a:prstGeom>
          <a:solidFill>
            <a:srgbClr val="1A2420"/>
          </a:solidFill>
          <a:ln w="12700">
            <a:solidFill>
              <a:srgbClr val="1F7A4C"/>
            </a:solidFill>
            <a:prstDash val="solid"/>
          </a:ln>
        </p:spPr>
      </p:sp>
      <p:pic>
        <p:nvPicPr>
          <p:cNvPr id="13" name="Image 0" descr="preencoded.png"/>
          <p:cNvPicPr>
            <a:picLocks noChangeAspect="1"/>
          </p:cNvPicPr>
          <p:nvPr/>
        </p:nvPicPr>
        <p:blipFill>
          <a:blip r:embed="rId1"/>
          <a:stretch>
            <a:fillRect/>
          </a:stretch>
        </p:blipFill>
        <p:spPr>
          <a:xfrm>
            <a:off x="5689854" y="2062886"/>
            <a:ext cx="811987" cy="811987"/>
          </a:xfrm>
          <a:prstGeom prst="rect">
            <a:avLst/>
          </a:prstGeom>
        </p:spPr>
      </p:pic>
      <p:sp>
        <p:nvSpPr>
          <p:cNvPr id="14" name="Text 11"/>
          <p:cNvSpPr/>
          <p:nvPr/>
        </p:nvSpPr>
        <p:spPr>
          <a:xfrm>
            <a:off x="822960" y="3246120"/>
            <a:ext cx="10515600" cy="914400"/>
          </a:xfrm>
          <a:prstGeom prst="rect">
            <a:avLst/>
          </a:prstGeom>
          <a:noFill/>
        </p:spPr>
        <p:txBody>
          <a:bodyPr wrap="square" lIns="0" tIns="0" rIns="0" bIns="0" rtlCol="0" anchor="ctr"/>
          <a:lstStyle/>
          <a:p>
            <a:pPr marL="0" indent="0" algn="ctr">
              <a:buNone/>
            </a:pPr>
            <a:r>
              <a:rPr lang="en-US" sz="4000" b="1" dirty="0">
                <a:solidFill>
                  <a:srgbClr val="EAF2ED"/>
                </a:solidFill>
                <a:latin typeface="Calibri" panose="020F0502020204030204" pitchFamily="34" charset="0"/>
                <a:ea typeface="Calibri" panose="020F0502020204030204" pitchFamily="34" charset="-122"/>
                <a:cs typeface="Calibri" panose="020F0502020204030204" pitchFamily="34" charset="-120"/>
              </a:rPr>
              <a:t>Thank You</a:t>
            </a:r>
            <a:endParaRPr lang="en-US" sz="4000" dirty="0"/>
          </a:p>
        </p:txBody>
      </p:sp>
      <p:sp>
        <p:nvSpPr>
          <p:cNvPr id="15" name="Text 12"/>
          <p:cNvSpPr/>
          <p:nvPr/>
        </p:nvSpPr>
        <p:spPr>
          <a:xfrm>
            <a:off x="822960" y="4114800"/>
            <a:ext cx="10515600" cy="457200"/>
          </a:xfrm>
          <a:prstGeom prst="rect">
            <a:avLst/>
          </a:prstGeom>
          <a:noFill/>
        </p:spPr>
        <p:txBody>
          <a:bodyPr wrap="square" lIns="0" tIns="0" rIns="0" bIns="0" rtlCol="0" anchor="ctr"/>
          <a:lstStyle/>
          <a:p>
            <a:pPr marL="0" indent="0" algn="ctr">
              <a:buNone/>
            </a:pPr>
            <a:endParaRPr lang="en-US" sz="1800" dirty="0"/>
          </a:p>
        </p:txBody>
      </p:sp>
      <p:sp>
        <p:nvSpPr>
          <p:cNvPr id="16" name="Text 13"/>
          <p:cNvSpPr/>
          <p:nvPr/>
        </p:nvSpPr>
        <p:spPr>
          <a:xfrm>
            <a:off x="822960" y="4892040"/>
            <a:ext cx="10515600" cy="320040"/>
          </a:xfrm>
          <a:prstGeom prst="rect">
            <a:avLst/>
          </a:prstGeom>
          <a:noFill/>
        </p:spPr>
        <p:txBody>
          <a:bodyPr wrap="square" lIns="0" tIns="0" rIns="0" bIns="0" rtlCol="0" anchor="ctr"/>
          <a:lstStyle/>
          <a:p>
            <a:pPr algn="ctr"/>
            <a:r>
              <a:rPr lang="en-US" sz="1200" dirty="0">
                <a:solidFill>
                  <a:srgbClr val="8CA69A"/>
                </a:solidFill>
                <a:latin typeface="Calibri" panose="020F0502020204030204" pitchFamily="34" charset="0"/>
                <a:ea typeface="Calibri" panose="020F0502020204030204" pitchFamily="34" charset="-122"/>
                <a:cs typeface="Calibri" panose="020F0502020204030204" pitchFamily="34" charset="-120"/>
              </a:rPr>
              <a:t>Aditya Pant, Pulkit Dhingra, Rohan Bhide   •   Group No. 11   </a:t>
            </a:r>
            <a:endParaRPr lang="en-US" sz="1200" dirty="0"/>
          </a:p>
        </p:txBody>
      </p:sp>
      <p:sp>
        <p:nvSpPr>
          <p:cNvPr id="17" name="Text 14"/>
          <p:cNvSpPr/>
          <p:nvPr/>
        </p:nvSpPr>
        <p:spPr>
          <a:xfrm>
            <a:off x="822960" y="5257800"/>
            <a:ext cx="10515600" cy="320040"/>
          </a:xfrm>
          <a:prstGeom prst="rect">
            <a:avLst/>
          </a:prstGeom>
          <a:noFill/>
        </p:spPr>
        <p:txBody>
          <a:bodyPr wrap="square" lIns="0" tIns="0" rIns="0" bIns="0" rtlCol="0" anchor="ctr"/>
          <a:lstStyle/>
          <a:p>
            <a:pPr marL="0" indent="0" algn="ctr">
              <a:buNone/>
            </a:pPr>
            <a:r>
              <a:rPr lang="en-US" sz="1100" dirty="0">
                <a:solidFill>
                  <a:srgbClr val="8CA69A"/>
                </a:solidFill>
                <a:latin typeface="Calibri" panose="020F0502020204030204" pitchFamily="34" charset="0"/>
                <a:ea typeface="Calibri" panose="020F0502020204030204" pitchFamily="34" charset="-122"/>
                <a:cs typeface="Calibri" panose="020F0502020204030204" pitchFamily="34" charset="-120"/>
              </a:rPr>
              <a:t>Full reports: “EV Vehicle Control Unit: Proof of Concept” &amp; companion HMI volume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6435</Words>
  <Application>WPS Presentation</Application>
  <PresentationFormat>Widescreen</PresentationFormat>
  <Paragraphs>421</Paragraphs>
  <Slides>19</Slides>
  <Notes>18</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19</vt:i4>
      </vt:variant>
    </vt:vector>
  </HeadingPairs>
  <TitlesOfParts>
    <vt:vector size="32" baseType="lpstr">
      <vt:lpstr>Arial</vt:lpstr>
      <vt:lpstr>SimSun</vt:lpstr>
      <vt:lpstr>Wingdings</vt:lpstr>
      <vt:lpstr>Calibri</vt:lpstr>
      <vt:lpstr>Calibri</vt:lpstr>
      <vt:lpstr>Calibri</vt:lpstr>
      <vt:lpstr>Courier New</vt:lpstr>
      <vt:lpstr>Courier New</vt:lpstr>
      <vt:lpstr>Courier New</vt:lpstr>
      <vt:lpstr>Microsoft YaHei</vt:lpstr>
      <vt:lpstr>Arial Unicode MS</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 Vehicle Control Unit &amp; Human-Machine Interface</dc:title>
  <dc:creator>EV VCU + HMI Project</dc:creator>
  <dc:subject>PptxGenJS Presentation</dc:subject>
  <cp:lastModifiedBy>Rohan Bhide</cp:lastModifiedBy>
  <cp:revision>6</cp:revision>
  <dcterms:created xsi:type="dcterms:W3CDTF">2026-07-02T21:21:00Z</dcterms:created>
  <dcterms:modified xsi:type="dcterms:W3CDTF">2026-07-03T05:22:31Z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F953DBF4EB17435C8BDA1011F2EAC5CF_13</vt:lpwstr>
  </property>
</Properties>
</file>